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built a digital gateway for Desa Marga Mulya in Mauk, Tangerang. It connects three groups to the village: residents, local businesses, and people outside the village. Our tagline: know the village, reach its services, support its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village is not short on information or potential — it is scattered. A resident does not know who to ask. A buyer outside the village does not know what it sells. A partner cannot find trustworthy data. Connectivity is not the barrier: 74 percent of rural residents are online, yet six in ten small businesses are still offline, and there is no official village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did not build a village website. We built a gateway with three audiences. Residents who need something from the village. Local businesses who want customers beyond the village. And people outside — buyers, visitors, partners — who want to know and support the village. One platform serves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rests on four pillars. Serve: service checklists, live office status, and an AI assistant — live now. Discover: the interactive map and explore-by-category — the map is live and category discovery is our next step. Buy: the Pasar Desa marketplace with a seller portal — live now. Understand: 42 data tables and CSV export — live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site. On the home page, residents see whether the office is open right now. In the Pasar Desa, one cart can hold products from several sellers and becomes one WhatsApp order per seller. Sellers manage price and stock from their phone, and new products are reviewed by the admin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Residents get answers without a trip to the office. The village office pays nothing per month on free tiers and updates everything through the CMS, backed by 109 automated checks. Businesses keep all their income and take orders in three steps. This supports SDGs 8, 9, 11, and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residents reach services without a trip, local businesses reach customers beyond the village, and anyone outside can discover and support Marga Mulya — one gateway for the whole village. Scan the code to try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1.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8872" y="137160"/>
            <a:ext cx="1234440" cy="502920"/>
          </a:xfrm>
          <a:prstGeom prst="rect">
            <a:avLst/>
          </a:prstGeom>
          <a:solidFill>
            <a:srgbClr val="0B3B38"/>
          </a:solidFill>
          <a:ln w="9525">
            <a:solidFill>
              <a:srgbClr val="FFFFFF"/>
            </a:solidFill>
            <a:prstDash val="dash"/>
          </a:ln>
        </p:spPr>
      </p:sp>
      <p:sp>
        <p:nvSpPr>
          <p:cNvPr id="3" name="Text 1"/>
          <p:cNvSpPr/>
          <p:nvPr/>
        </p:nvSpPr>
        <p:spPr>
          <a:xfrm>
            <a:off x="118872" y="137160"/>
            <a:ext cx="1234440" cy="502920"/>
          </a:xfrm>
          <a:prstGeom prst="rect">
            <a:avLst/>
          </a:prstGeom>
          <a:noFill/>
          <a:ln/>
        </p:spPr>
        <p:txBody>
          <a:bodyPr wrap="square" lIns="0" tIns="0" rIns="0" bIns="0" rtlCol="0" anchor="ctr"/>
          <a:lstStyle/>
          <a:p>
            <a:pPr algn="ctr" indent="0" marL="0">
              <a:buNone/>
            </a:pPr>
            <a:r>
              <a:rPr lang="en-US" sz="800" dirty="0">
                <a:solidFill>
                  <a:srgbClr val="FFFFFF"/>
                </a:solidFill>
                <a:latin typeface="Montserrat" pitchFamily="34" charset="0"/>
                <a:ea typeface="Montserrat" pitchFamily="34" charset="-122"/>
                <a:cs typeface="Montserrat" pitchFamily="34" charset="-120"/>
              </a:rPr>
              <a:t>IIT Challenge logo</a:t>
            </a:r>
            <a:endParaRPr lang="en-US" sz="800" dirty="0"/>
          </a:p>
        </p:txBody>
      </p:sp>
      <p:pic>
        <p:nvPicPr>
          <p:cNvPr id="4" name="Image 0" descr="/home/runner/work/Desa-Marga-Mulya/Desa-Marga-Mulya/deck/assets/build/logo.png">    </p:cNvPr>
          <p:cNvPicPr>
            <a:picLocks noChangeAspect="1"/>
          </p:cNvPicPr>
          <p:nvPr/>
        </p:nvPicPr>
        <p:blipFill>
          <a:blip r:embed="rId2"/>
          <a:stretch>
            <a:fillRect/>
          </a:stretch>
        </p:blipFill>
        <p:spPr>
          <a:xfrm>
            <a:off x="1188720" y="1371600"/>
            <a:ext cx="777240" cy="777240"/>
          </a:xfrm>
          <a:prstGeom prst="rect">
            <a:avLst/>
          </a:prstGeom>
        </p:spPr>
      </p:pic>
      <p:sp>
        <p:nvSpPr>
          <p:cNvPr id="5" name="Text 2"/>
          <p:cNvSpPr/>
          <p:nvPr/>
        </p:nvSpPr>
        <p:spPr>
          <a:xfrm>
            <a:off x="2103120" y="1325880"/>
            <a:ext cx="6035040" cy="868680"/>
          </a:xfrm>
          <a:prstGeom prst="rect">
            <a:avLst/>
          </a:prstGeom>
          <a:noFill/>
          <a:ln/>
        </p:spPr>
        <p:txBody>
          <a:bodyPr wrap="square" lIns="0" tIns="0" rIns="0" bIns="0" rtlCol="0" anchor="ctr">
            <a:normAutofit/>
          </a:bodyPr>
          <a:lstStyle/>
          <a:p>
            <a:pPr indent="0" marL="0">
              <a:buNone/>
            </a:pPr>
            <a:r>
              <a:rPr lang="en-US" sz="4000" b="1" dirty="0">
                <a:solidFill>
                  <a:srgbClr val="0B3B38"/>
                </a:solidFill>
                <a:latin typeface="Montserrat" pitchFamily="34" charset="0"/>
                <a:ea typeface="Montserrat" pitchFamily="34" charset="-122"/>
                <a:cs typeface="Montserrat" pitchFamily="34" charset="-120"/>
              </a:rPr>
              <a:t>Desa </a:t>
            </a:r>
            <a:pPr indent="0" marL="0">
              <a:buNone/>
            </a:pPr>
            <a:r>
              <a:rPr lang="en-US" sz="4000" b="1" dirty="0">
                <a:solidFill>
                  <a:srgbClr val="0E8C86"/>
                </a:solidFill>
                <a:latin typeface="Montserrat" pitchFamily="34" charset="0"/>
                <a:ea typeface="Montserrat" pitchFamily="34" charset="-122"/>
                <a:cs typeface="Montserrat" pitchFamily="34" charset="-120"/>
              </a:rPr>
              <a:t>Marga Mulya</a:t>
            </a:r>
            <a:endParaRPr lang="en-US" sz="4000" dirty="0"/>
          </a:p>
        </p:txBody>
      </p:sp>
      <p:sp>
        <p:nvSpPr>
          <p:cNvPr id="6" name="Text 3"/>
          <p:cNvSpPr/>
          <p:nvPr/>
        </p:nvSpPr>
        <p:spPr>
          <a:xfrm>
            <a:off x="914400" y="2395728"/>
            <a:ext cx="7315200" cy="365760"/>
          </a:xfrm>
          <a:prstGeom prst="rect">
            <a:avLst/>
          </a:prstGeom>
          <a:noFill/>
          <a:ln/>
        </p:spPr>
        <p:txBody>
          <a:bodyPr wrap="square" lIns="0" tIns="0" rIns="0" bIns="0" rtlCol="0" anchor="t"/>
          <a:lstStyle/>
          <a:p>
            <a:pPr algn="ctr" indent="0" marL="0">
              <a:buNone/>
            </a:pPr>
            <a:r>
              <a:rPr lang="en-US" sz="1800" b="1" dirty="0">
                <a:solidFill>
                  <a:srgbClr val="0B3B38"/>
                </a:solidFill>
                <a:latin typeface="Montserrat" pitchFamily="34" charset="0"/>
                <a:ea typeface="Montserrat" pitchFamily="34" charset="-122"/>
                <a:cs typeface="Montserrat" pitchFamily="34" charset="-120"/>
              </a:rPr>
              <a:t>The Digital Gateway for a Village</a:t>
            </a:r>
            <a:endParaRPr lang="en-US" sz="1800" dirty="0"/>
          </a:p>
        </p:txBody>
      </p:sp>
      <p:sp>
        <p:nvSpPr>
          <p:cNvPr id="7" name="Text 4"/>
          <p:cNvSpPr/>
          <p:nvPr/>
        </p:nvSpPr>
        <p:spPr>
          <a:xfrm>
            <a:off x="914400" y="2798064"/>
            <a:ext cx="7315200" cy="292608"/>
          </a:xfrm>
          <a:prstGeom prst="rect">
            <a:avLst/>
          </a:prstGeom>
          <a:noFill/>
          <a:ln/>
        </p:spPr>
        <p:txBody>
          <a:bodyPr wrap="square" lIns="0" tIns="0" rIns="0" bIns="0" rtlCol="0" anchor="t"/>
          <a:lstStyle/>
          <a:p>
            <a:pPr algn="ctr" indent="0" marL="0">
              <a:buNone/>
            </a:pPr>
            <a:r>
              <a:rPr lang="en-US" sz="1200" i="1" dirty="0">
                <a:solidFill>
                  <a:srgbClr val="0E8C86"/>
                </a:solidFill>
                <a:latin typeface="Montserrat" pitchFamily="34" charset="0"/>
                <a:ea typeface="Montserrat" pitchFamily="34" charset="-122"/>
                <a:cs typeface="Montserrat" pitchFamily="34" charset="-120"/>
              </a:rPr>
              <a:t>Kenali desanya. Akses layanannya. Dukung ekonominya.</a:t>
            </a:r>
            <a:endParaRPr lang="en-US" sz="1200" dirty="0"/>
          </a:p>
        </p:txBody>
      </p:sp>
      <p:sp>
        <p:nvSpPr>
          <p:cNvPr id="8" name="Text 5"/>
          <p:cNvSpPr/>
          <p:nvPr/>
        </p:nvSpPr>
        <p:spPr>
          <a:xfrm>
            <a:off x="914400" y="3127248"/>
            <a:ext cx="7315200" cy="274320"/>
          </a:xfrm>
          <a:prstGeom prst="rect">
            <a:avLst/>
          </a:prstGeom>
          <a:noFill/>
          <a:ln/>
        </p:spPr>
        <p:txBody>
          <a:bodyPr wrap="square" lIns="0" tIns="0" rIns="0" bIns="0" rtlCol="0" anchor="t"/>
          <a:lstStyle/>
          <a:p>
            <a:pPr algn="ctr" indent="0" marL="0">
              <a:buNone/>
            </a:pPr>
            <a:r>
              <a:rPr lang="en-US" sz="1000" dirty="0">
                <a:solidFill>
                  <a:srgbClr val="4B6360"/>
                </a:solidFill>
                <a:latin typeface="Montserrat" pitchFamily="34" charset="0"/>
                <a:ea typeface="Montserrat" pitchFamily="34" charset="-122"/>
                <a:cs typeface="Montserrat" pitchFamily="34" charset="-120"/>
              </a:rPr>
              <a:t>EcoQuest Web Application  |  IIT Challenge 2026</a:t>
            </a:r>
            <a:endParaRPr lang="en-US" sz="1000" dirty="0"/>
          </a:p>
        </p:txBody>
      </p:sp>
      <p:sp>
        <p:nvSpPr>
          <p:cNvPr id="9" name="Shape 6"/>
          <p:cNvSpPr/>
          <p:nvPr/>
        </p:nvSpPr>
        <p:spPr>
          <a:xfrm>
            <a:off x="548640" y="3794760"/>
            <a:ext cx="3566160" cy="1143000"/>
          </a:xfrm>
          <a:prstGeom prst="roundRect">
            <a:avLst>
              <a:gd name="adj" fmla="val 9600"/>
            </a:avLst>
          </a:prstGeom>
          <a:solidFill>
            <a:srgbClr val="FFFFFF">
              <a:alpha val="75000"/>
            </a:srgbClr>
          </a:solidFill>
          <a:ln w="9525">
            <a:solidFill>
              <a:srgbClr val="0E8C86"/>
            </a:solidFill>
            <a:prstDash val="solid"/>
          </a:ln>
        </p:spPr>
      </p:sp>
      <p:sp>
        <p:nvSpPr>
          <p:cNvPr id="10" name="Shape 7"/>
          <p:cNvSpPr/>
          <p:nvPr/>
        </p:nvSpPr>
        <p:spPr>
          <a:xfrm>
            <a:off x="914400" y="3913632"/>
            <a:ext cx="621792" cy="621792"/>
          </a:xfrm>
          <a:prstGeom prst="ellipse">
            <a:avLst/>
          </a:prstGeom>
          <a:solidFill>
            <a:srgbClr val="BBD8D4"/>
          </a:solidFill>
          <a:ln w="9525">
            <a:solidFill>
              <a:srgbClr val="0E8C86"/>
            </a:solidFill>
            <a:prstDash val="solid"/>
          </a:ln>
        </p:spPr>
      </p:sp>
      <p:sp>
        <p:nvSpPr>
          <p:cNvPr id="11" name="Text 8"/>
          <p:cNvSpPr/>
          <p:nvPr/>
        </p:nvSpPr>
        <p:spPr>
          <a:xfrm>
            <a:off x="777240" y="4590288"/>
            <a:ext cx="914400" cy="228600"/>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Member 1</a:t>
            </a:r>
            <a:endParaRPr lang="en-US" sz="900" dirty="0"/>
          </a:p>
        </p:txBody>
      </p:sp>
      <p:sp>
        <p:nvSpPr>
          <p:cNvPr id="12" name="Shape 9"/>
          <p:cNvSpPr/>
          <p:nvPr/>
        </p:nvSpPr>
        <p:spPr>
          <a:xfrm>
            <a:off x="2057400" y="3913632"/>
            <a:ext cx="621792" cy="621792"/>
          </a:xfrm>
          <a:prstGeom prst="ellipse">
            <a:avLst/>
          </a:prstGeom>
          <a:solidFill>
            <a:srgbClr val="BBD8D4"/>
          </a:solidFill>
          <a:ln w="9525">
            <a:solidFill>
              <a:srgbClr val="0E8C86"/>
            </a:solidFill>
            <a:prstDash val="solid"/>
          </a:ln>
        </p:spPr>
      </p:sp>
      <p:sp>
        <p:nvSpPr>
          <p:cNvPr id="13" name="Text 10"/>
          <p:cNvSpPr/>
          <p:nvPr/>
        </p:nvSpPr>
        <p:spPr>
          <a:xfrm>
            <a:off x="1920240" y="4590288"/>
            <a:ext cx="914400" cy="228600"/>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Member 2</a:t>
            </a:r>
            <a:endParaRPr lang="en-US" sz="900" dirty="0"/>
          </a:p>
        </p:txBody>
      </p:sp>
      <p:sp>
        <p:nvSpPr>
          <p:cNvPr id="14" name="Shape 11"/>
          <p:cNvSpPr/>
          <p:nvPr/>
        </p:nvSpPr>
        <p:spPr>
          <a:xfrm>
            <a:off x="3200400" y="3913632"/>
            <a:ext cx="621792" cy="621792"/>
          </a:xfrm>
          <a:prstGeom prst="ellipse">
            <a:avLst/>
          </a:prstGeom>
          <a:solidFill>
            <a:srgbClr val="BBD8D4"/>
          </a:solidFill>
          <a:ln w="9525">
            <a:solidFill>
              <a:srgbClr val="0E8C86"/>
            </a:solidFill>
            <a:prstDash val="solid"/>
          </a:ln>
        </p:spPr>
      </p:sp>
      <p:sp>
        <p:nvSpPr>
          <p:cNvPr id="15" name="Text 12"/>
          <p:cNvSpPr/>
          <p:nvPr/>
        </p:nvSpPr>
        <p:spPr>
          <a:xfrm>
            <a:off x="3063240" y="4590288"/>
            <a:ext cx="914400" cy="228600"/>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Member 3</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31520" y="91440"/>
            <a:ext cx="1097280" cy="32004"/>
          </a:xfrm>
          <a:prstGeom prst="rect">
            <a:avLst/>
          </a:prstGeom>
          <a:solidFill>
            <a:srgbClr val="0E8C86"/>
          </a:solidFill>
          <a:ln w="12700">
            <a:solidFill>
              <a:srgbClr val="0E8C86"/>
            </a:solidFill>
            <a:prstDash val="solid"/>
          </a:ln>
        </p:spPr>
      </p:sp>
      <p:sp>
        <p:nvSpPr>
          <p:cNvPr id="3" name="Text 1"/>
          <p:cNvSpPr/>
          <p:nvPr/>
        </p:nvSpPr>
        <p:spPr>
          <a:xfrm>
            <a:off x="457200" y="146304"/>
            <a:ext cx="1645920" cy="228600"/>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Problem</a:t>
            </a:r>
            <a:endParaRPr lang="en-US" sz="900" dirty="0"/>
          </a:p>
        </p:txBody>
      </p:sp>
      <p:sp>
        <p:nvSpPr>
          <p:cNvPr id="4" name="Text 2"/>
          <p:cNvSpPr/>
          <p:nvPr/>
        </p:nvSpPr>
        <p:spPr>
          <a:xfrm>
            <a:off x="210312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Gateway</a:t>
            </a:r>
            <a:endParaRPr lang="en-US" sz="900" dirty="0"/>
          </a:p>
        </p:txBody>
      </p:sp>
      <p:sp>
        <p:nvSpPr>
          <p:cNvPr id="5" name="Text 3"/>
          <p:cNvSpPr/>
          <p:nvPr/>
        </p:nvSpPr>
        <p:spPr>
          <a:xfrm>
            <a:off x="374904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Solution</a:t>
            </a:r>
            <a:endParaRPr lang="en-US" sz="900" dirty="0"/>
          </a:p>
        </p:txBody>
      </p:sp>
      <p:sp>
        <p:nvSpPr>
          <p:cNvPr id="6" name="Text 4"/>
          <p:cNvSpPr/>
          <p:nvPr/>
        </p:nvSpPr>
        <p:spPr>
          <a:xfrm>
            <a:off x="539496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Demo</a:t>
            </a:r>
            <a:endParaRPr lang="en-US" sz="900" dirty="0"/>
          </a:p>
        </p:txBody>
      </p:sp>
      <p:sp>
        <p:nvSpPr>
          <p:cNvPr id="7" name="Text 5"/>
          <p:cNvSpPr/>
          <p:nvPr/>
        </p:nvSpPr>
        <p:spPr>
          <a:xfrm>
            <a:off x="704088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Impact</a:t>
            </a:r>
            <a:endParaRPr lang="en-US" sz="900" dirty="0"/>
          </a:p>
        </p:txBody>
      </p:sp>
      <p:sp>
        <p:nvSpPr>
          <p:cNvPr id="8" name="Text 6"/>
          <p:cNvSpPr/>
          <p:nvPr/>
        </p:nvSpPr>
        <p:spPr>
          <a:xfrm>
            <a:off x="457200" y="457200"/>
            <a:ext cx="8229600" cy="502920"/>
          </a:xfrm>
          <a:prstGeom prst="rect">
            <a:avLst/>
          </a:prstGeom>
          <a:noFill/>
          <a:ln/>
        </p:spPr>
        <p:txBody>
          <a:bodyPr wrap="square" lIns="0" tIns="0" rIns="0" bIns="0" rtlCol="0" anchor="t"/>
          <a:lstStyle/>
          <a:p>
            <a:pPr algn="ctr" indent="0" marL="0">
              <a:buNone/>
            </a:pPr>
            <a:r>
              <a:rPr lang="en-US" sz="2600" b="1" dirty="0">
                <a:solidFill>
                  <a:srgbClr val="0B3B38"/>
                </a:solidFill>
                <a:latin typeface="Montserrat" pitchFamily="34" charset="0"/>
                <a:ea typeface="Montserrat" pitchFamily="34" charset="-122"/>
                <a:cs typeface="Montserrat" pitchFamily="34" charset="-120"/>
              </a:rPr>
              <a:t>Scattered, Not Missing</a:t>
            </a:r>
            <a:endParaRPr lang="en-US" sz="2600" dirty="0"/>
          </a:p>
        </p:txBody>
      </p:sp>
      <p:sp>
        <p:nvSpPr>
          <p:cNvPr id="9" name="Text 7"/>
          <p:cNvSpPr/>
          <p:nvPr/>
        </p:nvSpPr>
        <p:spPr>
          <a:xfrm>
            <a:off x="457200" y="950976"/>
            <a:ext cx="8229600" cy="274320"/>
          </a:xfrm>
          <a:prstGeom prst="rect">
            <a:avLst/>
          </a:prstGeom>
          <a:noFill/>
          <a:ln/>
        </p:spPr>
        <p:txBody>
          <a:bodyPr wrap="square" lIns="0" tIns="0" rIns="0" bIns="0" rtlCol="0" anchor="t"/>
          <a:lstStyle/>
          <a:p>
            <a:pPr algn="ctr" indent="0" marL="0">
              <a:buNone/>
            </a:pPr>
            <a:r>
              <a:rPr lang="en-US" sz="1200" b="1" dirty="0">
                <a:solidFill>
                  <a:srgbClr val="4B6360"/>
                </a:solidFill>
                <a:latin typeface="Montserrat" pitchFamily="34" charset="0"/>
                <a:ea typeface="Montserrat" pitchFamily="34" charset="-122"/>
                <a:cs typeface="Montserrat" pitchFamily="34" charset="-120"/>
              </a:rPr>
              <a:t>The village has information and potential — but it is hard to find and use</a:t>
            </a:r>
            <a:endParaRPr lang="en-US" sz="1200" dirty="0"/>
          </a:p>
        </p:txBody>
      </p:sp>
      <p:sp>
        <p:nvSpPr>
          <p:cNvPr id="10" name="Shape 8"/>
          <p:cNvSpPr/>
          <p:nvPr/>
        </p:nvSpPr>
        <p:spPr>
          <a:xfrm>
            <a:off x="502920" y="1417320"/>
            <a:ext cx="2542032" cy="2148840"/>
          </a:xfrm>
          <a:prstGeom prst="roundRect">
            <a:avLst>
              <a:gd name="adj" fmla="val 4255"/>
            </a:avLst>
          </a:prstGeom>
          <a:solidFill>
            <a:srgbClr val="FFFFFF">
              <a:alpha val="85000"/>
            </a:srgbClr>
          </a:solidFill>
          <a:ln w="15875">
            <a:solidFill>
              <a:srgbClr val="0E8C86"/>
            </a:solidFill>
            <a:prstDash val="sysDot"/>
          </a:ln>
        </p:spPr>
      </p:sp>
      <p:sp>
        <p:nvSpPr>
          <p:cNvPr id="11" name="Text 9"/>
          <p:cNvSpPr/>
          <p:nvPr/>
        </p:nvSpPr>
        <p:spPr>
          <a:xfrm>
            <a:off x="685800" y="1581912"/>
            <a:ext cx="2176272" cy="274320"/>
          </a:xfrm>
          <a:prstGeom prst="rect">
            <a:avLst/>
          </a:prstGeom>
          <a:noFill/>
          <a:ln/>
        </p:spPr>
        <p:txBody>
          <a:bodyPr wrap="square" lIns="0" tIns="0" rIns="0" bIns="0" rtlCol="0" anchor="t"/>
          <a:lstStyle/>
          <a:p>
            <a:pPr indent="0" marL="0">
              <a:buNone/>
            </a:pPr>
            <a:r>
              <a:rPr lang="en-US" sz="1300" b="1" dirty="0">
                <a:solidFill>
                  <a:srgbClr val="0E8C86"/>
                </a:solidFill>
                <a:latin typeface="Montserrat" pitchFamily="34" charset="0"/>
                <a:ea typeface="Montserrat" pitchFamily="34" charset="-122"/>
                <a:cs typeface="Montserrat" pitchFamily="34" charset="-120"/>
              </a:rPr>
              <a:t>A resident</a:t>
            </a:r>
            <a:endParaRPr lang="en-US" sz="1300" dirty="0"/>
          </a:p>
        </p:txBody>
      </p:sp>
      <p:sp>
        <p:nvSpPr>
          <p:cNvPr id="12" name="Text 10"/>
          <p:cNvSpPr/>
          <p:nvPr/>
        </p:nvSpPr>
        <p:spPr>
          <a:xfrm>
            <a:off x="685800" y="1874520"/>
            <a:ext cx="2176272" cy="502920"/>
          </a:xfrm>
          <a:prstGeom prst="rect">
            <a:avLst/>
          </a:prstGeom>
          <a:noFill/>
          <a:ln/>
        </p:spPr>
        <p:txBody>
          <a:bodyPr wrap="square" lIns="0" tIns="0" rIns="0" bIns="0" rtlCol="0" anchor="t"/>
          <a:lstStyle/>
          <a:p>
            <a:pPr indent="0" marL="0">
              <a:buNone/>
            </a:pPr>
            <a:r>
              <a:rPr lang="en-US" sz="1200" b="1" i="1" dirty="0">
                <a:solidFill>
                  <a:srgbClr val="0B3B38"/>
                </a:solidFill>
                <a:latin typeface="Montserrat" pitchFamily="34" charset="0"/>
                <a:ea typeface="Montserrat" pitchFamily="34" charset="-122"/>
                <a:cs typeface="Montserrat" pitchFamily="34" charset="-120"/>
              </a:rPr>
              <a:t>“Who do I even ask about this?”</a:t>
            </a:r>
            <a:endParaRPr lang="en-US" sz="1200" dirty="0"/>
          </a:p>
        </p:txBody>
      </p:sp>
      <p:sp>
        <p:nvSpPr>
          <p:cNvPr id="13" name="Text 11"/>
          <p:cNvSpPr/>
          <p:nvPr/>
        </p:nvSpPr>
        <p:spPr>
          <a:xfrm>
            <a:off x="685800" y="2514600"/>
            <a:ext cx="2176272" cy="9144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Services &amp; requirements</a:t>
            </a:r>
            <a:endParaRPr lang="en-US" sz="1000" dirty="0"/>
          </a:p>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Announcements &amp; events</a:t>
            </a:r>
            <a:endParaRPr lang="en-US" sz="1000" dirty="0"/>
          </a:p>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Village data</a:t>
            </a:r>
            <a:endParaRPr lang="en-US" sz="1000" dirty="0"/>
          </a:p>
        </p:txBody>
      </p:sp>
      <p:sp>
        <p:nvSpPr>
          <p:cNvPr id="14" name="Shape 12"/>
          <p:cNvSpPr/>
          <p:nvPr/>
        </p:nvSpPr>
        <p:spPr>
          <a:xfrm>
            <a:off x="3264408" y="1417320"/>
            <a:ext cx="2542032" cy="2148840"/>
          </a:xfrm>
          <a:prstGeom prst="roundRect">
            <a:avLst>
              <a:gd name="adj" fmla="val 4255"/>
            </a:avLst>
          </a:prstGeom>
          <a:solidFill>
            <a:srgbClr val="FFFFFF">
              <a:alpha val="85000"/>
            </a:srgbClr>
          </a:solidFill>
          <a:ln w="15875">
            <a:solidFill>
              <a:srgbClr val="0E8C86"/>
            </a:solidFill>
            <a:prstDash val="sysDot"/>
          </a:ln>
        </p:spPr>
      </p:sp>
      <p:sp>
        <p:nvSpPr>
          <p:cNvPr id="15" name="Text 13"/>
          <p:cNvSpPr/>
          <p:nvPr/>
        </p:nvSpPr>
        <p:spPr>
          <a:xfrm>
            <a:off x="3447288" y="1581912"/>
            <a:ext cx="2176272" cy="274320"/>
          </a:xfrm>
          <a:prstGeom prst="rect">
            <a:avLst/>
          </a:prstGeom>
          <a:noFill/>
          <a:ln/>
        </p:spPr>
        <p:txBody>
          <a:bodyPr wrap="square" lIns="0" tIns="0" rIns="0" bIns="0" rtlCol="0" anchor="t"/>
          <a:lstStyle/>
          <a:p>
            <a:pPr indent="0" marL="0">
              <a:buNone/>
            </a:pPr>
            <a:r>
              <a:rPr lang="en-US" sz="1300" b="1" dirty="0">
                <a:solidFill>
                  <a:srgbClr val="0E8C86"/>
                </a:solidFill>
                <a:latin typeface="Montserrat" pitchFamily="34" charset="0"/>
                <a:ea typeface="Montserrat" pitchFamily="34" charset="-122"/>
                <a:cs typeface="Montserrat" pitchFamily="34" charset="-120"/>
              </a:rPr>
              <a:t>A buyer outside</a:t>
            </a:r>
            <a:endParaRPr lang="en-US" sz="1300" dirty="0"/>
          </a:p>
        </p:txBody>
      </p:sp>
      <p:sp>
        <p:nvSpPr>
          <p:cNvPr id="16" name="Text 14"/>
          <p:cNvSpPr/>
          <p:nvPr/>
        </p:nvSpPr>
        <p:spPr>
          <a:xfrm>
            <a:off x="3447288" y="1874520"/>
            <a:ext cx="2176272" cy="502920"/>
          </a:xfrm>
          <a:prstGeom prst="rect">
            <a:avLst/>
          </a:prstGeom>
          <a:noFill/>
          <a:ln/>
        </p:spPr>
        <p:txBody>
          <a:bodyPr wrap="square" lIns="0" tIns="0" rIns="0" bIns="0" rtlCol="0" anchor="t"/>
          <a:lstStyle/>
          <a:p>
            <a:pPr indent="0" marL="0">
              <a:buNone/>
            </a:pPr>
            <a:r>
              <a:rPr lang="en-US" sz="1200" b="1" i="1" dirty="0">
                <a:solidFill>
                  <a:srgbClr val="0B3B38"/>
                </a:solidFill>
                <a:latin typeface="Montserrat" pitchFamily="34" charset="0"/>
                <a:ea typeface="Montserrat" pitchFamily="34" charset="-122"/>
                <a:cs typeface="Montserrat" pitchFamily="34" charset="-120"/>
              </a:rPr>
              <a:t>“What can I buy from this village?”</a:t>
            </a:r>
            <a:endParaRPr lang="en-US" sz="1200" dirty="0"/>
          </a:p>
        </p:txBody>
      </p:sp>
      <p:sp>
        <p:nvSpPr>
          <p:cNvPr id="17" name="Text 15"/>
          <p:cNvSpPr/>
          <p:nvPr/>
        </p:nvSpPr>
        <p:spPr>
          <a:xfrm>
            <a:off x="3447288" y="2514600"/>
            <a:ext cx="2176272" cy="9144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Local products</a:t>
            </a:r>
            <a:endParaRPr lang="en-US" sz="1000" dirty="0"/>
          </a:p>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Who sells them</a:t>
            </a:r>
            <a:endParaRPr lang="en-US" sz="1000" dirty="0"/>
          </a:p>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How to order</a:t>
            </a:r>
            <a:endParaRPr lang="en-US" sz="1000" dirty="0"/>
          </a:p>
        </p:txBody>
      </p:sp>
      <p:sp>
        <p:nvSpPr>
          <p:cNvPr id="18" name="Shape 16"/>
          <p:cNvSpPr/>
          <p:nvPr/>
        </p:nvSpPr>
        <p:spPr>
          <a:xfrm>
            <a:off x="6025896" y="1417320"/>
            <a:ext cx="2542032" cy="2148840"/>
          </a:xfrm>
          <a:prstGeom prst="roundRect">
            <a:avLst>
              <a:gd name="adj" fmla="val 4255"/>
            </a:avLst>
          </a:prstGeom>
          <a:solidFill>
            <a:srgbClr val="FFFFFF">
              <a:alpha val="85000"/>
            </a:srgbClr>
          </a:solidFill>
          <a:ln w="15875">
            <a:solidFill>
              <a:srgbClr val="0E8C86"/>
            </a:solidFill>
            <a:prstDash val="sysDot"/>
          </a:ln>
        </p:spPr>
      </p:sp>
      <p:sp>
        <p:nvSpPr>
          <p:cNvPr id="19" name="Text 17"/>
          <p:cNvSpPr/>
          <p:nvPr/>
        </p:nvSpPr>
        <p:spPr>
          <a:xfrm>
            <a:off x="6208776" y="1581912"/>
            <a:ext cx="2176272" cy="274320"/>
          </a:xfrm>
          <a:prstGeom prst="rect">
            <a:avLst/>
          </a:prstGeom>
          <a:noFill/>
          <a:ln/>
        </p:spPr>
        <p:txBody>
          <a:bodyPr wrap="square" lIns="0" tIns="0" rIns="0" bIns="0" rtlCol="0" anchor="t"/>
          <a:lstStyle/>
          <a:p>
            <a:pPr indent="0" marL="0">
              <a:buNone/>
            </a:pPr>
            <a:r>
              <a:rPr lang="en-US" sz="1300" b="1" dirty="0">
                <a:solidFill>
                  <a:srgbClr val="0E8C86"/>
                </a:solidFill>
                <a:latin typeface="Montserrat" pitchFamily="34" charset="0"/>
                <a:ea typeface="Montserrat" pitchFamily="34" charset="-122"/>
                <a:cs typeface="Montserrat" pitchFamily="34" charset="-120"/>
              </a:rPr>
              <a:t>A partner or researcher</a:t>
            </a:r>
            <a:endParaRPr lang="en-US" sz="1300" dirty="0"/>
          </a:p>
        </p:txBody>
      </p:sp>
      <p:sp>
        <p:nvSpPr>
          <p:cNvPr id="20" name="Text 18"/>
          <p:cNvSpPr/>
          <p:nvPr/>
        </p:nvSpPr>
        <p:spPr>
          <a:xfrm>
            <a:off x="6208776" y="1874520"/>
            <a:ext cx="2176272" cy="502920"/>
          </a:xfrm>
          <a:prstGeom prst="rect">
            <a:avLst/>
          </a:prstGeom>
          <a:noFill/>
          <a:ln/>
        </p:spPr>
        <p:txBody>
          <a:bodyPr wrap="square" lIns="0" tIns="0" rIns="0" bIns="0" rtlCol="0" anchor="t"/>
          <a:lstStyle/>
          <a:p>
            <a:pPr indent="0" marL="0">
              <a:buNone/>
            </a:pPr>
            <a:r>
              <a:rPr lang="en-US" sz="1200" b="1" i="1" dirty="0">
                <a:solidFill>
                  <a:srgbClr val="0B3B38"/>
                </a:solidFill>
                <a:latin typeface="Montserrat" pitchFamily="34" charset="0"/>
                <a:ea typeface="Montserrat" pitchFamily="34" charset="-122"/>
                <a:cs typeface="Montserrat" pitchFamily="34" charset="-120"/>
              </a:rPr>
              <a:t>“Where is the data, and can I trust it?”</a:t>
            </a:r>
            <a:endParaRPr lang="en-US" sz="1200" dirty="0"/>
          </a:p>
        </p:txBody>
      </p:sp>
      <p:sp>
        <p:nvSpPr>
          <p:cNvPr id="21" name="Text 19"/>
          <p:cNvSpPr/>
          <p:nvPr/>
        </p:nvSpPr>
        <p:spPr>
          <a:xfrm>
            <a:off x="6208776" y="2514600"/>
            <a:ext cx="2176272" cy="9144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Demographics</a:t>
            </a:r>
            <a:endParaRPr lang="en-US" sz="1000" dirty="0"/>
          </a:p>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Farming &amp; fishery potential</a:t>
            </a:r>
            <a:endParaRPr lang="en-US" sz="1000" dirty="0"/>
          </a:p>
          <a:p>
            <a:pPr marL="152400" indent="-152400">
              <a:spcAft>
                <a:spcPts val="400"/>
              </a:spcAft>
              <a:buSzPct val="100000"/>
              <a:buChar char="•"/>
            </a:pPr>
            <a:r>
              <a:rPr lang="en-US" sz="1000" dirty="0">
                <a:solidFill>
                  <a:srgbClr val="4B6360"/>
                </a:solidFill>
                <a:latin typeface="Montserrat" pitchFamily="34" charset="0"/>
                <a:ea typeface="Montserrat" pitchFamily="34" charset="-122"/>
                <a:cs typeface="Montserrat" pitchFamily="34" charset="-120"/>
              </a:rPr>
              <a:t>Facilities &amp; location</a:t>
            </a:r>
            <a:endParaRPr lang="en-US" sz="1000" dirty="0"/>
          </a:p>
        </p:txBody>
      </p:sp>
      <p:sp>
        <p:nvSpPr>
          <p:cNvPr id="22" name="Shape 20"/>
          <p:cNvSpPr/>
          <p:nvPr/>
        </p:nvSpPr>
        <p:spPr>
          <a:xfrm>
            <a:off x="502920" y="3749040"/>
            <a:ext cx="8138160" cy="1005840"/>
          </a:xfrm>
          <a:prstGeom prst="roundRect">
            <a:avLst>
              <a:gd name="adj" fmla="val 12727"/>
            </a:avLst>
          </a:prstGeom>
          <a:solidFill>
            <a:srgbClr val="0B3B38"/>
          </a:solidFill>
          <a:ln w="12700">
            <a:solidFill>
              <a:srgbClr val="0B3B38"/>
            </a:solidFill>
            <a:prstDash val="solid"/>
          </a:ln>
          <a:effectLst>
            <a:outerShdw sx="100000" sy="100000" kx="0" ky="0" algn="bl" rotWithShape="0" blurRad="127000" dist="38100" dir="5400000">
              <a:srgbClr val="0B3B38">
                <a:alpha val="18000"/>
              </a:srgbClr>
            </a:outerShdw>
          </a:effectLst>
        </p:spPr>
      </p:sp>
      <p:sp>
        <p:nvSpPr>
          <p:cNvPr id="23" name="Text 21"/>
          <p:cNvSpPr/>
          <p:nvPr/>
        </p:nvSpPr>
        <p:spPr>
          <a:xfrm>
            <a:off x="777240" y="3877056"/>
            <a:ext cx="4572000" cy="365760"/>
          </a:xfrm>
          <a:prstGeom prst="rect">
            <a:avLst/>
          </a:prstGeom>
          <a:noFill/>
          <a:ln/>
        </p:spPr>
        <p:txBody>
          <a:bodyPr wrap="square" lIns="0" tIns="0" rIns="0" bIns="0" rtlCol="0" anchor="t"/>
          <a:lstStyle/>
          <a:p>
            <a:pPr indent="0" marL="0">
              <a:buNone/>
            </a:pPr>
            <a:r>
              <a:rPr lang="en-US" sz="1500" b="1" dirty="0">
                <a:solidFill>
                  <a:srgbClr val="FFFFFF"/>
                </a:solidFill>
                <a:latin typeface="Montserrat" pitchFamily="34" charset="0"/>
                <a:ea typeface="Montserrat" pitchFamily="34" charset="-122"/>
                <a:cs typeface="Montserrat" pitchFamily="34" charset="-120"/>
              </a:rPr>
              <a:t>The problem is fragmentation, not absence.</a:t>
            </a:r>
            <a:endParaRPr lang="en-US" sz="1500" dirty="0"/>
          </a:p>
        </p:txBody>
      </p:sp>
      <p:sp>
        <p:nvSpPr>
          <p:cNvPr id="24" name="Text 22"/>
          <p:cNvSpPr/>
          <p:nvPr/>
        </p:nvSpPr>
        <p:spPr>
          <a:xfrm>
            <a:off x="777240" y="4224528"/>
            <a:ext cx="4572000" cy="457200"/>
          </a:xfrm>
          <a:prstGeom prst="rect">
            <a:avLst/>
          </a:prstGeom>
          <a:noFill/>
          <a:ln/>
        </p:spPr>
        <p:txBody>
          <a:bodyPr wrap="square" lIns="0" tIns="0" rIns="0" bIns="0" rtlCol="0" anchor="t"/>
          <a:lstStyle/>
          <a:p>
            <a:pPr indent="0" marL="0">
              <a:buNone/>
            </a:pPr>
            <a:r>
              <a:rPr lang="en-US" sz="1000" dirty="0">
                <a:solidFill>
                  <a:srgbClr val="E6F2F0"/>
                </a:solidFill>
                <a:latin typeface="Montserrat" pitchFamily="34" charset="0"/>
                <a:ea typeface="Montserrat" pitchFamily="34" charset="-122"/>
                <a:cs typeface="Montserrat" pitchFamily="34" charset="-120"/>
              </a:rPr>
              <a:t>Services, data, and products exist — but they are scattered across offices, chats, and word of mouth.</a:t>
            </a:r>
            <a:endParaRPr lang="en-US" sz="1000" dirty="0"/>
          </a:p>
        </p:txBody>
      </p:sp>
      <p:sp>
        <p:nvSpPr>
          <p:cNvPr id="25" name="Text 23"/>
          <p:cNvSpPr/>
          <p:nvPr/>
        </p:nvSpPr>
        <p:spPr>
          <a:xfrm>
            <a:off x="5486400" y="3913632"/>
            <a:ext cx="1005840" cy="384048"/>
          </a:xfrm>
          <a:prstGeom prst="rect">
            <a:avLst/>
          </a:prstGeom>
          <a:noFill/>
          <a:ln/>
        </p:spPr>
        <p:txBody>
          <a:bodyPr wrap="square" lIns="0" tIns="0" rIns="0" bIns="0" rtlCol="0" anchor="t"/>
          <a:lstStyle/>
          <a:p>
            <a:pPr algn="ctr" indent="0" marL="0">
              <a:buNone/>
            </a:pPr>
            <a:r>
              <a:rPr lang="en-US" sz="1800" b="1" dirty="0">
                <a:solidFill>
                  <a:srgbClr val="7FE3D8"/>
                </a:solidFill>
                <a:latin typeface="Montserrat" pitchFamily="34" charset="0"/>
                <a:ea typeface="Montserrat" pitchFamily="34" charset="-122"/>
                <a:cs typeface="Montserrat" pitchFamily="34" charset="-120"/>
              </a:rPr>
              <a:t>74%</a:t>
            </a:r>
            <a:endParaRPr lang="en-US" sz="1800" dirty="0"/>
          </a:p>
        </p:txBody>
      </p:sp>
      <p:sp>
        <p:nvSpPr>
          <p:cNvPr id="26" name="Text 24"/>
          <p:cNvSpPr/>
          <p:nvPr/>
        </p:nvSpPr>
        <p:spPr>
          <a:xfrm>
            <a:off x="5486400" y="4315968"/>
            <a:ext cx="1005840" cy="365760"/>
          </a:xfrm>
          <a:prstGeom prst="rect">
            <a:avLst/>
          </a:prstGeom>
          <a:noFill/>
          <a:ln/>
        </p:spPr>
        <p:txBody>
          <a:bodyPr wrap="square" lIns="0" tIns="0" rIns="0" bIns="0" rtlCol="0" anchor="t"/>
          <a:lstStyle/>
          <a:p>
            <a:pPr algn="ctr" indent="0" marL="0">
              <a:buNone/>
            </a:pPr>
            <a:r>
              <a:rPr lang="en-US" sz="750" dirty="0">
                <a:solidFill>
                  <a:srgbClr val="E6F2F0"/>
                </a:solidFill>
                <a:latin typeface="Montserrat" pitchFamily="34" charset="0"/>
                <a:ea typeface="Montserrat" pitchFamily="34" charset="-122"/>
                <a:cs typeface="Montserrat" pitchFamily="34" charset="-120"/>
              </a:rPr>
              <a:t>rural residents online</a:t>
            </a:r>
            <a:endParaRPr lang="en-US" sz="750" dirty="0"/>
          </a:p>
        </p:txBody>
      </p:sp>
      <p:sp>
        <p:nvSpPr>
          <p:cNvPr id="27" name="Text 25"/>
          <p:cNvSpPr/>
          <p:nvPr/>
        </p:nvSpPr>
        <p:spPr>
          <a:xfrm>
            <a:off x="6556248" y="3913632"/>
            <a:ext cx="1005840" cy="384048"/>
          </a:xfrm>
          <a:prstGeom prst="rect">
            <a:avLst/>
          </a:prstGeom>
          <a:noFill/>
          <a:ln/>
        </p:spPr>
        <p:txBody>
          <a:bodyPr wrap="square" lIns="0" tIns="0" rIns="0" bIns="0" rtlCol="0" anchor="t"/>
          <a:lstStyle/>
          <a:p>
            <a:pPr algn="ctr" indent="0" marL="0">
              <a:buNone/>
            </a:pPr>
            <a:r>
              <a:rPr lang="en-US" sz="1800" b="1" dirty="0">
                <a:solidFill>
                  <a:srgbClr val="7FE3D8"/>
                </a:solidFill>
                <a:latin typeface="Montserrat" pitchFamily="34" charset="0"/>
                <a:ea typeface="Montserrat" pitchFamily="34" charset="-122"/>
                <a:cs typeface="Montserrat" pitchFamily="34" charset="-120"/>
              </a:rPr>
              <a:t>6 / 10</a:t>
            </a:r>
            <a:endParaRPr lang="en-US" sz="1800" dirty="0"/>
          </a:p>
        </p:txBody>
      </p:sp>
      <p:sp>
        <p:nvSpPr>
          <p:cNvPr id="28" name="Text 26"/>
          <p:cNvSpPr/>
          <p:nvPr/>
        </p:nvSpPr>
        <p:spPr>
          <a:xfrm>
            <a:off x="6556248" y="4315968"/>
            <a:ext cx="1005840" cy="365760"/>
          </a:xfrm>
          <a:prstGeom prst="rect">
            <a:avLst/>
          </a:prstGeom>
          <a:noFill/>
          <a:ln/>
        </p:spPr>
        <p:txBody>
          <a:bodyPr wrap="square" lIns="0" tIns="0" rIns="0" bIns="0" rtlCol="0" anchor="t"/>
          <a:lstStyle/>
          <a:p>
            <a:pPr algn="ctr" indent="0" marL="0">
              <a:buNone/>
            </a:pPr>
            <a:r>
              <a:rPr lang="en-US" sz="750" dirty="0">
                <a:solidFill>
                  <a:srgbClr val="E6F2F0"/>
                </a:solidFill>
                <a:latin typeface="Montserrat" pitchFamily="34" charset="0"/>
                <a:ea typeface="Montserrat" pitchFamily="34" charset="-122"/>
                <a:cs typeface="Montserrat" pitchFamily="34" charset="-120"/>
              </a:rPr>
              <a:t>MSMEs still offline</a:t>
            </a:r>
            <a:endParaRPr lang="en-US" sz="750" dirty="0"/>
          </a:p>
        </p:txBody>
      </p:sp>
      <p:sp>
        <p:nvSpPr>
          <p:cNvPr id="29" name="Text 27"/>
          <p:cNvSpPr/>
          <p:nvPr/>
        </p:nvSpPr>
        <p:spPr>
          <a:xfrm>
            <a:off x="7626096" y="3913632"/>
            <a:ext cx="1005840" cy="384048"/>
          </a:xfrm>
          <a:prstGeom prst="rect">
            <a:avLst/>
          </a:prstGeom>
          <a:noFill/>
          <a:ln/>
        </p:spPr>
        <p:txBody>
          <a:bodyPr wrap="square" lIns="0" tIns="0" rIns="0" bIns="0" rtlCol="0" anchor="t"/>
          <a:lstStyle/>
          <a:p>
            <a:pPr algn="ctr" indent="0" marL="0">
              <a:buNone/>
            </a:pPr>
            <a:r>
              <a:rPr lang="en-US" sz="1800" b="1" dirty="0">
                <a:solidFill>
                  <a:srgbClr val="7FE3D8"/>
                </a:solidFill>
                <a:latin typeface="Montserrat" pitchFamily="34" charset="0"/>
                <a:ea typeface="Montserrat" pitchFamily="34" charset="-122"/>
                <a:cs typeface="Montserrat" pitchFamily="34" charset="-120"/>
              </a:rPr>
              <a:t>0</a:t>
            </a:r>
            <a:endParaRPr lang="en-US" sz="1800" dirty="0"/>
          </a:p>
        </p:txBody>
      </p:sp>
      <p:sp>
        <p:nvSpPr>
          <p:cNvPr id="30" name="Text 28"/>
          <p:cNvSpPr/>
          <p:nvPr/>
        </p:nvSpPr>
        <p:spPr>
          <a:xfrm>
            <a:off x="7626096" y="4315968"/>
            <a:ext cx="1005840" cy="365760"/>
          </a:xfrm>
          <a:prstGeom prst="rect">
            <a:avLst/>
          </a:prstGeom>
          <a:noFill/>
          <a:ln/>
        </p:spPr>
        <p:txBody>
          <a:bodyPr wrap="square" lIns="0" tIns="0" rIns="0" bIns="0" rtlCol="0" anchor="t"/>
          <a:lstStyle/>
          <a:p>
            <a:pPr algn="ctr" indent="0" marL="0">
              <a:buNone/>
            </a:pPr>
            <a:r>
              <a:rPr lang="en-US" sz="750" dirty="0">
                <a:solidFill>
                  <a:srgbClr val="E6F2F0"/>
                </a:solidFill>
                <a:latin typeface="Montserrat" pitchFamily="34" charset="0"/>
                <a:ea typeface="Montserrat" pitchFamily="34" charset="-122"/>
                <a:cs typeface="Montserrat" pitchFamily="34" charset="-120"/>
              </a:rPr>
              <a:t>official village site found</a:t>
            </a:r>
            <a:endParaRPr lang="en-US" sz="750" dirty="0"/>
          </a:p>
        </p:txBody>
      </p:sp>
      <p:sp>
        <p:nvSpPr>
          <p:cNvPr id="31" name="Text 29"/>
          <p:cNvSpPr/>
          <p:nvPr/>
        </p:nvSpPr>
        <p:spPr>
          <a:xfrm>
            <a:off x="502920" y="4809744"/>
            <a:ext cx="8229600" cy="182880"/>
          </a:xfrm>
          <a:prstGeom prst="rect">
            <a:avLst/>
          </a:prstGeom>
          <a:noFill/>
          <a:ln/>
        </p:spPr>
        <p:txBody>
          <a:bodyPr wrap="square" lIns="0" tIns="0" rIns="0" bIns="0" rtlCol="0" anchor="t"/>
          <a:lstStyle/>
          <a:p>
            <a:pPr indent="0" marL="0">
              <a:buNone/>
            </a:pPr>
            <a:r>
              <a:rPr lang="en-US" sz="700" i="1" dirty="0">
                <a:solidFill>
                  <a:srgbClr val="4B6360"/>
                </a:solidFill>
                <a:latin typeface="Montserrat" pitchFamily="34" charset="0"/>
                <a:ea typeface="Montserrat" pitchFamily="34" charset="-122"/>
                <a:cs typeface="Montserrat" pitchFamily="34" charset="-120"/>
              </a:rPr>
              <a:t>source: APJII Internet Survey, 2024; team web search, Sep 2026</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Problem</a:t>
            </a:r>
            <a:endParaRPr lang="en-US" sz="900" dirty="0"/>
          </a:p>
        </p:txBody>
      </p:sp>
      <p:sp>
        <p:nvSpPr>
          <p:cNvPr id="3" name="Shape 1"/>
          <p:cNvSpPr/>
          <p:nvPr/>
        </p:nvSpPr>
        <p:spPr>
          <a:xfrm>
            <a:off x="2377440" y="91440"/>
            <a:ext cx="1097280" cy="32004"/>
          </a:xfrm>
          <a:prstGeom prst="rect">
            <a:avLst/>
          </a:prstGeom>
          <a:solidFill>
            <a:srgbClr val="0E8C86"/>
          </a:solidFill>
          <a:ln w="12700">
            <a:solidFill>
              <a:srgbClr val="0E8C86"/>
            </a:solidFill>
            <a:prstDash val="solid"/>
          </a:ln>
        </p:spPr>
      </p:sp>
      <p:sp>
        <p:nvSpPr>
          <p:cNvPr id="4" name="Text 2"/>
          <p:cNvSpPr/>
          <p:nvPr/>
        </p:nvSpPr>
        <p:spPr>
          <a:xfrm>
            <a:off x="2103120" y="146304"/>
            <a:ext cx="1645920" cy="228600"/>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Gateway</a:t>
            </a:r>
            <a:endParaRPr lang="en-US" sz="900" dirty="0"/>
          </a:p>
        </p:txBody>
      </p:sp>
      <p:sp>
        <p:nvSpPr>
          <p:cNvPr id="5" name="Text 3"/>
          <p:cNvSpPr/>
          <p:nvPr/>
        </p:nvSpPr>
        <p:spPr>
          <a:xfrm>
            <a:off x="374904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Solution</a:t>
            </a:r>
            <a:endParaRPr lang="en-US" sz="900" dirty="0"/>
          </a:p>
        </p:txBody>
      </p:sp>
      <p:sp>
        <p:nvSpPr>
          <p:cNvPr id="6" name="Text 4"/>
          <p:cNvSpPr/>
          <p:nvPr/>
        </p:nvSpPr>
        <p:spPr>
          <a:xfrm>
            <a:off x="539496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Demo</a:t>
            </a:r>
            <a:endParaRPr lang="en-US" sz="900" dirty="0"/>
          </a:p>
        </p:txBody>
      </p:sp>
      <p:sp>
        <p:nvSpPr>
          <p:cNvPr id="7" name="Text 5"/>
          <p:cNvSpPr/>
          <p:nvPr/>
        </p:nvSpPr>
        <p:spPr>
          <a:xfrm>
            <a:off x="704088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Impact</a:t>
            </a:r>
            <a:endParaRPr lang="en-US" sz="900" dirty="0"/>
          </a:p>
        </p:txBody>
      </p:sp>
      <p:sp>
        <p:nvSpPr>
          <p:cNvPr id="8" name="Text 6"/>
          <p:cNvSpPr/>
          <p:nvPr/>
        </p:nvSpPr>
        <p:spPr>
          <a:xfrm>
            <a:off x="457200" y="457200"/>
            <a:ext cx="8229600" cy="502920"/>
          </a:xfrm>
          <a:prstGeom prst="rect">
            <a:avLst/>
          </a:prstGeom>
          <a:noFill/>
          <a:ln/>
        </p:spPr>
        <p:txBody>
          <a:bodyPr wrap="square" lIns="0" tIns="0" rIns="0" bIns="0" rtlCol="0" anchor="t"/>
          <a:lstStyle/>
          <a:p>
            <a:pPr algn="ctr" indent="0" marL="0">
              <a:buNone/>
            </a:pPr>
            <a:r>
              <a:rPr lang="en-US" sz="2600" b="1" dirty="0">
                <a:solidFill>
                  <a:srgbClr val="0B3B38"/>
                </a:solidFill>
                <a:latin typeface="Montserrat" pitchFamily="34" charset="0"/>
                <a:ea typeface="Montserrat" pitchFamily="34" charset="-122"/>
                <a:cs typeface="Montserrat" pitchFamily="34" charset="-120"/>
              </a:rPr>
              <a:t>One Gateway, Three Audiences</a:t>
            </a:r>
            <a:endParaRPr lang="en-US" sz="2600" dirty="0"/>
          </a:p>
        </p:txBody>
      </p:sp>
      <p:sp>
        <p:nvSpPr>
          <p:cNvPr id="9" name="Text 7"/>
          <p:cNvSpPr/>
          <p:nvPr/>
        </p:nvSpPr>
        <p:spPr>
          <a:xfrm>
            <a:off x="457200" y="950976"/>
            <a:ext cx="8229600" cy="274320"/>
          </a:xfrm>
          <a:prstGeom prst="rect">
            <a:avLst/>
          </a:prstGeom>
          <a:noFill/>
          <a:ln/>
        </p:spPr>
        <p:txBody>
          <a:bodyPr wrap="square" lIns="0" tIns="0" rIns="0" bIns="0" rtlCol="0" anchor="t"/>
          <a:lstStyle/>
          <a:p>
            <a:pPr algn="ctr" indent="0" marL="0">
              <a:buNone/>
            </a:pPr>
            <a:r>
              <a:rPr lang="en-US" sz="1200" b="1" dirty="0">
                <a:solidFill>
                  <a:srgbClr val="4B6360"/>
                </a:solidFill>
                <a:latin typeface="Montserrat" pitchFamily="34" charset="0"/>
                <a:ea typeface="Montserrat" pitchFamily="34" charset="-122"/>
                <a:cs typeface="Montserrat" pitchFamily="34" charset="-120"/>
              </a:rPr>
              <a:t>Not a village website — a digital gateway</a:t>
            </a:r>
            <a:endParaRPr lang="en-US" sz="1200" dirty="0"/>
          </a:p>
        </p:txBody>
      </p:sp>
      <p:pic>
        <p:nvPicPr>
          <p:cNvPr id="10" name="Image 0" descr="/home/runner/work/Desa-Marga-Mulya/Desa-Marga-Mulya/deck/assets/build/teal/map.png">    </p:cNvPr>
          <p:cNvPicPr>
            <a:picLocks noChangeAspect="1"/>
          </p:cNvPicPr>
          <p:nvPr/>
        </p:nvPicPr>
        <p:blipFill>
          <a:blip r:embed="rId2"/>
          <a:stretch>
            <a:fillRect/>
          </a:stretch>
        </p:blipFill>
        <p:spPr>
          <a:xfrm>
            <a:off x="1920240" y="1325880"/>
            <a:ext cx="5303520" cy="2075688"/>
          </a:xfrm>
          <a:prstGeom prst="rect">
            <a:avLst/>
          </a:prstGeom>
        </p:spPr>
      </p:pic>
      <p:sp>
        <p:nvSpPr>
          <p:cNvPr id="11" name="Text 8"/>
          <p:cNvSpPr/>
          <p:nvPr/>
        </p:nvSpPr>
        <p:spPr>
          <a:xfrm>
            <a:off x="1920240" y="3429000"/>
            <a:ext cx="5303520" cy="228600"/>
          </a:xfrm>
          <a:prstGeom prst="rect">
            <a:avLst/>
          </a:prstGeom>
          <a:noFill/>
          <a:ln/>
        </p:spPr>
        <p:txBody>
          <a:bodyPr wrap="square" lIns="0" tIns="0" rIns="0" bIns="0" rtlCol="0" anchor="t"/>
          <a:lstStyle/>
          <a:p>
            <a:pPr algn="ctr" indent="0" marL="0">
              <a:buNone/>
            </a:pPr>
            <a:r>
              <a:rPr lang="en-US" sz="1000" b="1" dirty="0">
                <a:solidFill>
                  <a:srgbClr val="4B6360"/>
                </a:solidFill>
                <a:latin typeface="Montserrat" pitchFamily="34" charset="0"/>
                <a:ea typeface="Montserrat" pitchFamily="34" charset="-122"/>
                <a:cs typeface="Montserrat" pitchFamily="34" charset="-120"/>
              </a:rPr>
              <a:t>Desa Marga Mulya</a:t>
            </a:r>
            <a:endParaRPr lang="en-US" sz="1000" dirty="0"/>
          </a:p>
        </p:txBody>
      </p:sp>
      <p:sp>
        <p:nvSpPr>
          <p:cNvPr id="12" name="Shape 9"/>
          <p:cNvSpPr/>
          <p:nvPr/>
        </p:nvSpPr>
        <p:spPr>
          <a:xfrm>
            <a:off x="548640" y="3749040"/>
            <a:ext cx="2560320" cy="1143000"/>
          </a:xfrm>
          <a:prstGeom prst="roundRect">
            <a:avLst>
              <a:gd name="adj" fmla="val 11200"/>
            </a:avLst>
          </a:prstGeom>
          <a:solidFill>
            <a:srgbClr val="FFFFFF"/>
          </a:solidFill>
          <a:ln w="12700">
            <a:solidFill>
              <a:srgbClr val="0E8C86"/>
            </a:solidFill>
            <a:prstDash val="solid"/>
          </a:ln>
          <a:effectLst>
            <a:outerShdw sx="100000" sy="100000" kx="0" ky="0" algn="bl" rotWithShape="0" blurRad="127000" dist="38100" dir="5400000">
              <a:srgbClr val="0B3B38">
                <a:alpha val="18000"/>
              </a:srgbClr>
            </a:outerShdw>
          </a:effectLst>
        </p:spPr>
      </p:sp>
      <p:sp>
        <p:nvSpPr>
          <p:cNvPr id="13" name="Text 10"/>
          <p:cNvSpPr/>
          <p:nvPr/>
        </p:nvSpPr>
        <p:spPr>
          <a:xfrm>
            <a:off x="731520" y="3877056"/>
            <a:ext cx="2194560" cy="274320"/>
          </a:xfrm>
          <a:prstGeom prst="rect">
            <a:avLst/>
          </a:prstGeom>
          <a:noFill/>
          <a:ln/>
        </p:spPr>
        <p:txBody>
          <a:bodyPr wrap="square" lIns="0" tIns="0" rIns="0" bIns="0" rtlCol="0" anchor="t"/>
          <a:lstStyle/>
          <a:p>
            <a:pPr indent="0" marL="0">
              <a:buNone/>
            </a:pPr>
            <a:r>
              <a:rPr lang="en-US" sz="1300" b="1" dirty="0">
                <a:solidFill>
                  <a:srgbClr val="0E8C86"/>
                </a:solidFill>
                <a:latin typeface="Montserrat" pitchFamily="34" charset="0"/>
                <a:ea typeface="Montserrat" pitchFamily="34" charset="-122"/>
                <a:cs typeface="Montserrat" pitchFamily="34" charset="-120"/>
              </a:rPr>
              <a:t>Residents</a:t>
            </a:r>
            <a:endParaRPr lang="en-US" sz="1300" dirty="0"/>
          </a:p>
        </p:txBody>
      </p:sp>
      <p:sp>
        <p:nvSpPr>
          <p:cNvPr id="14" name="Text 11"/>
          <p:cNvSpPr/>
          <p:nvPr/>
        </p:nvSpPr>
        <p:spPr>
          <a:xfrm>
            <a:off x="731520" y="4169664"/>
            <a:ext cx="2194560" cy="320040"/>
          </a:xfrm>
          <a:prstGeom prst="rect">
            <a:avLst/>
          </a:prstGeom>
          <a:noFill/>
          <a:ln/>
        </p:spPr>
        <p:txBody>
          <a:bodyPr wrap="square" lIns="0" tIns="0" rIns="0" bIns="0" rtlCol="0" anchor="t"/>
          <a:lstStyle/>
          <a:p>
            <a:pPr indent="0" marL="0">
              <a:buNone/>
            </a:pPr>
            <a:r>
              <a:rPr lang="en-US" sz="950" i="1" dirty="0">
                <a:solidFill>
                  <a:srgbClr val="0B3B38"/>
                </a:solidFill>
                <a:latin typeface="Montserrat" pitchFamily="34" charset="0"/>
                <a:ea typeface="Montserrat" pitchFamily="34" charset="-122"/>
                <a:cs typeface="Montserrat" pitchFamily="34" charset="-120"/>
              </a:rPr>
              <a:t>I need something from the village.</a:t>
            </a:r>
            <a:endParaRPr lang="en-US" sz="950" dirty="0"/>
          </a:p>
        </p:txBody>
      </p:sp>
      <p:sp>
        <p:nvSpPr>
          <p:cNvPr id="15" name="Text 12"/>
          <p:cNvSpPr/>
          <p:nvPr/>
        </p:nvSpPr>
        <p:spPr>
          <a:xfrm>
            <a:off x="731520" y="4517136"/>
            <a:ext cx="2194560" cy="320040"/>
          </a:xfrm>
          <a:prstGeom prst="rect">
            <a:avLst/>
          </a:prstGeom>
          <a:noFill/>
          <a:ln/>
        </p:spPr>
        <p:txBody>
          <a:bodyPr wrap="square" lIns="0" tIns="0" rIns="0" bIns="0" rtlCol="0" anchor="t"/>
          <a:lstStyle/>
          <a:p>
            <a:pPr indent="0" marL="0">
              <a:buNone/>
            </a:pPr>
            <a:r>
              <a:rPr lang="en-US" sz="900" b="1" dirty="0">
                <a:solidFill>
                  <a:srgbClr val="4B6360"/>
                </a:solidFill>
                <a:latin typeface="Montserrat" pitchFamily="34" charset="0"/>
                <a:ea typeface="Montserrat" pitchFamily="34" charset="-122"/>
                <a:cs typeface="Montserrat" pitchFamily="34" charset="-120"/>
              </a:rPr>
              <a:t>Services, status, announcements, AI help</a:t>
            </a:r>
            <a:endParaRPr lang="en-US" sz="900" dirty="0"/>
          </a:p>
        </p:txBody>
      </p:sp>
      <p:sp>
        <p:nvSpPr>
          <p:cNvPr id="16" name="Shape 13"/>
          <p:cNvSpPr/>
          <p:nvPr/>
        </p:nvSpPr>
        <p:spPr>
          <a:xfrm>
            <a:off x="3291840" y="3749040"/>
            <a:ext cx="2560320" cy="1143000"/>
          </a:xfrm>
          <a:prstGeom prst="roundRect">
            <a:avLst>
              <a:gd name="adj" fmla="val 11200"/>
            </a:avLst>
          </a:prstGeom>
          <a:solidFill>
            <a:srgbClr val="0B3B38"/>
          </a:solidFill>
          <a:ln w="12700">
            <a:solidFill>
              <a:srgbClr val="0B3B38"/>
            </a:solidFill>
            <a:prstDash val="solid"/>
          </a:ln>
          <a:effectLst>
            <a:outerShdw sx="100000" sy="100000" kx="0" ky="0" algn="bl" rotWithShape="0" blurRad="127000" dist="38100" dir="5400000">
              <a:srgbClr val="0B3B38">
                <a:alpha val="18000"/>
              </a:srgbClr>
            </a:outerShdw>
          </a:effectLst>
        </p:spPr>
      </p:sp>
      <p:sp>
        <p:nvSpPr>
          <p:cNvPr id="17" name="Text 14"/>
          <p:cNvSpPr/>
          <p:nvPr/>
        </p:nvSpPr>
        <p:spPr>
          <a:xfrm>
            <a:off x="3474720" y="3877056"/>
            <a:ext cx="2194560" cy="274320"/>
          </a:xfrm>
          <a:prstGeom prst="rect">
            <a:avLst/>
          </a:prstGeom>
          <a:noFill/>
          <a:ln/>
        </p:spPr>
        <p:txBody>
          <a:bodyPr wrap="square" lIns="0" tIns="0" rIns="0" bIns="0" rtlCol="0" anchor="t"/>
          <a:lstStyle/>
          <a:p>
            <a:pPr indent="0" marL="0">
              <a:buNone/>
            </a:pPr>
            <a:r>
              <a:rPr lang="en-US" sz="1300" b="1" dirty="0">
                <a:solidFill>
                  <a:srgbClr val="FFFFFF"/>
                </a:solidFill>
                <a:latin typeface="Montserrat" pitchFamily="34" charset="0"/>
                <a:ea typeface="Montserrat" pitchFamily="34" charset="-122"/>
                <a:cs typeface="Montserrat" pitchFamily="34" charset="-120"/>
              </a:rPr>
              <a:t>Local businesses</a:t>
            </a:r>
            <a:endParaRPr lang="en-US" sz="1300" dirty="0"/>
          </a:p>
        </p:txBody>
      </p:sp>
      <p:sp>
        <p:nvSpPr>
          <p:cNvPr id="18" name="Text 15"/>
          <p:cNvSpPr/>
          <p:nvPr/>
        </p:nvSpPr>
        <p:spPr>
          <a:xfrm>
            <a:off x="3474720" y="4169664"/>
            <a:ext cx="2194560" cy="320040"/>
          </a:xfrm>
          <a:prstGeom prst="rect">
            <a:avLst/>
          </a:prstGeom>
          <a:noFill/>
          <a:ln/>
        </p:spPr>
        <p:txBody>
          <a:bodyPr wrap="square" lIns="0" tIns="0" rIns="0" bIns="0" rtlCol="0" anchor="t"/>
          <a:lstStyle/>
          <a:p>
            <a:pPr indent="0" marL="0">
              <a:buNone/>
            </a:pPr>
            <a:r>
              <a:rPr lang="en-US" sz="950" i="1" dirty="0">
                <a:solidFill>
                  <a:srgbClr val="E6F2F0"/>
                </a:solidFill>
                <a:latin typeface="Montserrat" pitchFamily="34" charset="0"/>
                <a:ea typeface="Montserrat" pitchFamily="34" charset="-122"/>
                <a:cs typeface="Montserrat" pitchFamily="34" charset="-120"/>
              </a:rPr>
              <a:t>I want more customers.</a:t>
            </a:r>
            <a:endParaRPr lang="en-US" sz="950" dirty="0"/>
          </a:p>
        </p:txBody>
      </p:sp>
      <p:sp>
        <p:nvSpPr>
          <p:cNvPr id="19" name="Text 16"/>
          <p:cNvSpPr/>
          <p:nvPr/>
        </p:nvSpPr>
        <p:spPr>
          <a:xfrm>
            <a:off x="3474720" y="4517136"/>
            <a:ext cx="2194560" cy="320040"/>
          </a:xfrm>
          <a:prstGeom prst="rect">
            <a:avLst/>
          </a:prstGeom>
          <a:noFill/>
          <a:ln/>
        </p:spPr>
        <p:txBody>
          <a:bodyPr wrap="square" lIns="0" tIns="0" rIns="0" bIns="0" rtlCol="0" anchor="t"/>
          <a:lstStyle/>
          <a:p>
            <a:pPr indent="0" marL="0">
              <a:buNone/>
            </a:pPr>
            <a:r>
              <a:rPr lang="en-US" sz="900" b="1" dirty="0">
                <a:solidFill>
                  <a:srgbClr val="7FE3D8"/>
                </a:solidFill>
                <a:latin typeface="Montserrat" pitchFamily="34" charset="0"/>
                <a:ea typeface="Montserrat" pitchFamily="34" charset="-122"/>
                <a:cs typeface="Montserrat" pitchFamily="34" charset="-120"/>
              </a:rPr>
              <a:t>Pasar Desa, seller portal, WhatsApp orders</a:t>
            </a:r>
            <a:endParaRPr lang="en-US" sz="900" dirty="0"/>
          </a:p>
        </p:txBody>
      </p:sp>
      <p:sp>
        <p:nvSpPr>
          <p:cNvPr id="20" name="Shape 17"/>
          <p:cNvSpPr/>
          <p:nvPr/>
        </p:nvSpPr>
        <p:spPr>
          <a:xfrm>
            <a:off x="6035040" y="3749040"/>
            <a:ext cx="2560320" cy="1143000"/>
          </a:xfrm>
          <a:prstGeom prst="roundRect">
            <a:avLst>
              <a:gd name="adj" fmla="val 11200"/>
            </a:avLst>
          </a:prstGeom>
          <a:solidFill>
            <a:srgbClr val="FFFFFF"/>
          </a:solidFill>
          <a:ln w="12700">
            <a:solidFill>
              <a:srgbClr val="0E8C86"/>
            </a:solidFill>
            <a:prstDash val="solid"/>
          </a:ln>
          <a:effectLst>
            <a:outerShdw sx="100000" sy="100000" kx="0" ky="0" algn="bl" rotWithShape="0" blurRad="127000" dist="38100" dir="5400000">
              <a:srgbClr val="0B3B38">
                <a:alpha val="18000"/>
              </a:srgbClr>
            </a:outerShdw>
          </a:effectLst>
        </p:spPr>
      </p:sp>
      <p:sp>
        <p:nvSpPr>
          <p:cNvPr id="21" name="Text 18"/>
          <p:cNvSpPr/>
          <p:nvPr/>
        </p:nvSpPr>
        <p:spPr>
          <a:xfrm>
            <a:off x="6217920" y="3877056"/>
            <a:ext cx="2194560" cy="274320"/>
          </a:xfrm>
          <a:prstGeom prst="rect">
            <a:avLst/>
          </a:prstGeom>
          <a:noFill/>
          <a:ln/>
        </p:spPr>
        <p:txBody>
          <a:bodyPr wrap="square" lIns="0" tIns="0" rIns="0" bIns="0" rtlCol="0" anchor="t"/>
          <a:lstStyle/>
          <a:p>
            <a:pPr indent="0" marL="0">
              <a:buNone/>
            </a:pPr>
            <a:r>
              <a:rPr lang="en-US" sz="1300" b="1" dirty="0">
                <a:solidFill>
                  <a:srgbClr val="0E8C86"/>
                </a:solidFill>
                <a:latin typeface="Montserrat" pitchFamily="34" charset="0"/>
                <a:ea typeface="Montserrat" pitchFamily="34" charset="-122"/>
                <a:cs typeface="Montserrat" pitchFamily="34" charset="-120"/>
              </a:rPr>
              <a:t>People outside</a:t>
            </a:r>
            <a:endParaRPr lang="en-US" sz="1300" dirty="0"/>
          </a:p>
        </p:txBody>
      </p:sp>
      <p:sp>
        <p:nvSpPr>
          <p:cNvPr id="22" name="Text 19"/>
          <p:cNvSpPr/>
          <p:nvPr/>
        </p:nvSpPr>
        <p:spPr>
          <a:xfrm>
            <a:off x="6217920" y="4169664"/>
            <a:ext cx="2194560" cy="320040"/>
          </a:xfrm>
          <a:prstGeom prst="rect">
            <a:avLst/>
          </a:prstGeom>
          <a:noFill/>
          <a:ln/>
        </p:spPr>
        <p:txBody>
          <a:bodyPr wrap="square" lIns="0" tIns="0" rIns="0" bIns="0" rtlCol="0" anchor="t"/>
          <a:lstStyle/>
          <a:p>
            <a:pPr indent="0" marL="0">
              <a:buNone/>
            </a:pPr>
            <a:r>
              <a:rPr lang="en-US" sz="950" i="1" dirty="0">
                <a:solidFill>
                  <a:srgbClr val="0B3B38"/>
                </a:solidFill>
                <a:latin typeface="Montserrat" pitchFamily="34" charset="0"/>
                <a:ea typeface="Montserrat" pitchFamily="34" charset="-122"/>
                <a:cs typeface="Montserrat" pitchFamily="34" charset="-120"/>
              </a:rPr>
              <a:t>I want to know and support the village.</a:t>
            </a:r>
            <a:endParaRPr lang="en-US" sz="950" dirty="0"/>
          </a:p>
        </p:txBody>
      </p:sp>
      <p:sp>
        <p:nvSpPr>
          <p:cNvPr id="23" name="Text 20"/>
          <p:cNvSpPr/>
          <p:nvPr/>
        </p:nvSpPr>
        <p:spPr>
          <a:xfrm>
            <a:off x="6217920" y="4517136"/>
            <a:ext cx="2194560" cy="320040"/>
          </a:xfrm>
          <a:prstGeom prst="rect">
            <a:avLst/>
          </a:prstGeom>
          <a:noFill/>
          <a:ln/>
        </p:spPr>
        <p:txBody>
          <a:bodyPr wrap="square" lIns="0" tIns="0" rIns="0" bIns="0" rtlCol="0" anchor="t"/>
          <a:lstStyle/>
          <a:p>
            <a:pPr indent="0" marL="0">
              <a:buNone/>
            </a:pPr>
            <a:r>
              <a:rPr lang="en-US" sz="900" b="1" dirty="0">
                <a:solidFill>
                  <a:srgbClr val="4B6360"/>
                </a:solidFill>
                <a:latin typeface="Montserrat" pitchFamily="34" charset="0"/>
                <a:ea typeface="Montserrat" pitchFamily="34" charset="-122"/>
                <a:cs typeface="Montserrat" pitchFamily="34" charset="-120"/>
              </a:rPr>
              <a:t>Explore, village data, local products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Problem</a:t>
            </a:r>
            <a:endParaRPr lang="en-US" sz="900" dirty="0"/>
          </a:p>
        </p:txBody>
      </p:sp>
      <p:sp>
        <p:nvSpPr>
          <p:cNvPr id="3" name="Text 1"/>
          <p:cNvSpPr/>
          <p:nvPr/>
        </p:nvSpPr>
        <p:spPr>
          <a:xfrm>
            <a:off x="210312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Gateway</a:t>
            </a:r>
            <a:endParaRPr lang="en-US" sz="900" dirty="0"/>
          </a:p>
        </p:txBody>
      </p:sp>
      <p:sp>
        <p:nvSpPr>
          <p:cNvPr id="4" name="Shape 2"/>
          <p:cNvSpPr/>
          <p:nvPr/>
        </p:nvSpPr>
        <p:spPr>
          <a:xfrm>
            <a:off x="4023360" y="91440"/>
            <a:ext cx="1097280" cy="32004"/>
          </a:xfrm>
          <a:prstGeom prst="rect">
            <a:avLst/>
          </a:prstGeom>
          <a:solidFill>
            <a:srgbClr val="0E8C86"/>
          </a:solidFill>
          <a:ln w="12700">
            <a:solidFill>
              <a:srgbClr val="0E8C86"/>
            </a:solidFill>
            <a:prstDash val="solid"/>
          </a:ln>
        </p:spPr>
      </p:sp>
      <p:sp>
        <p:nvSpPr>
          <p:cNvPr id="5" name="Text 3"/>
          <p:cNvSpPr/>
          <p:nvPr/>
        </p:nvSpPr>
        <p:spPr>
          <a:xfrm>
            <a:off x="3749040" y="146304"/>
            <a:ext cx="1645920" cy="228600"/>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Solution</a:t>
            </a:r>
            <a:endParaRPr lang="en-US" sz="900" dirty="0"/>
          </a:p>
        </p:txBody>
      </p:sp>
      <p:sp>
        <p:nvSpPr>
          <p:cNvPr id="6" name="Text 4"/>
          <p:cNvSpPr/>
          <p:nvPr/>
        </p:nvSpPr>
        <p:spPr>
          <a:xfrm>
            <a:off x="539496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Demo</a:t>
            </a:r>
            <a:endParaRPr lang="en-US" sz="900" dirty="0"/>
          </a:p>
        </p:txBody>
      </p:sp>
      <p:sp>
        <p:nvSpPr>
          <p:cNvPr id="7" name="Text 5"/>
          <p:cNvSpPr/>
          <p:nvPr/>
        </p:nvSpPr>
        <p:spPr>
          <a:xfrm>
            <a:off x="704088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Impact</a:t>
            </a:r>
            <a:endParaRPr lang="en-US" sz="900" dirty="0"/>
          </a:p>
        </p:txBody>
      </p:sp>
      <p:sp>
        <p:nvSpPr>
          <p:cNvPr id="8" name="Text 6"/>
          <p:cNvSpPr/>
          <p:nvPr/>
        </p:nvSpPr>
        <p:spPr>
          <a:xfrm>
            <a:off x="457200" y="457200"/>
            <a:ext cx="8229600" cy="502920"/>
          </a:xfrm>
          <a:prstGeom prst="rect">
            <a:avLst/>
          </a:prstGeom>
          <a:noFill/>
          <a:ln/>
        </p:spPr>
        <p:txBody>
          <a:bodyPr wrap="square" lIns="0" tIns="0" rIns="0" bIns="0" rtlCol="0" anchor="t"/>
          <a:lstStyle/>
          <a:p>
            <a:pPr algn="ctr" indent="0" marL="0">
              <a:buNone/>
            </a:pPr>
            <a:r>
              <a:rPr lang="en-US" sz="2600" b="1" dirty="0">
                <a:solidFill>
                  <a:srgbClr val="0B3B38"/>
                </a:solidFill>
                <a:latin typeface="Montserrat" pitchFamily="34" charset="0"/>
                <a:ea typeface="Montserrat" pitchFamily="34" charset="-122"/>
                <a:cs typeface="Montserrat" pitchFamily="34" charset="-120"/>
              </a:rPr>
              <a:t>Four Pillars</a:t>
            </a:r>
            <a:endParaRPr lang="en-US" sz="2600" dirty="0"/>
          </a:p>
        </p:txBody>
      </p:sp>
      <p:sp>
        <p:nvSpPr>
          <p:cNvPr id="9" name="Text 7"/>
          <p:cNvSpPr/>
          <p:nvPr/>
        </p:nvSpPr>
        <p:spPr>
          <a:xfrm>
            <a:off x="457200" y="950976"/>
            <a:ext cx="8229600" cy="274320"/>
          </a:xfrm>
          <a:prstGeom prst="rect">
            <a:avLst/>
          </a:prstGeom>
          <a:noFill/>
          <a:ln/>
        </p:spPr>
        <p:txBody>
          <a:bodyPr wrap="square" lIns="0" tIns="0" rIns="0" bIns="0" rtlCol="0" anchor="t"/>
          <a:lstStyle/>
          <a:p>
            <a:pPr algn="ctr" indent="0" marL="0">
              <a:buNone/>
            </a:pPr>
            <a:r>
              <a:rPr lang="en-US" sz="1200" b="1" dirty="0">
                <a:solidFill>
                  <a:srgbClr val="4B6360"/>
                </a:solidFill>
                <a:latin typeface="Montserrat" pitchFamily="34" charset="0"/>
                <a:ea typeface="Montserrat" pitchFamily="34" charset="-122"/>
                <a:cs typeface="Montserrat" pitchFamily="34" charset="-120"/>
              </a:rPr>
              <a:t>Kenali · Akses · Dukung</a:t>
            </a:r>
            <a:endParaRPr lang="en-US" sz="1200" dirty="0"/>
          </a:p>
        </p:txBody>
      </p:sp>
      <p:sp>
        <p:nvSpPr>
          <p:cNvPr id="10" name="Shape 8"/>
          <p:cNvSpPr/>
          <p:nvPr/>
        </p:nvSpPr>
        <p:spPr>
          <a:xfrm>
            <a:off x="502920" y="1371600"/>
            <a:ext cx="1956816" cy="3337560"/>
          </a:xfrm>
          <a:prstGeom prst="roundRect">
            <a:avLst>
              <a:gd name="adj" fmla="val 5607"/>
            </a:avLst>
          </a:prstGeom>
          <a:solidFill>
            <a:srgbClr val="FFFFFF"/>
          </a:solidFill>
          <a:ln w="12700">
            <a:solidFill>
              <a:srgbClr val="0E8C86"/>
            </a:solidFill>
            <a:prstDash val="solid"/>
          </a:ln>
          <a:effectLst>
            <a:outerShdw sx="100000" sy="100000" kx="0" ky="0" algn="bl" rotWithShape="0" blurRad="127000" dist="38100" dir="5400000">
              <a:srgbClr val="0B3B38">
                <a:alpha val="18000"/>
              </a:srgbClr>
            </a:outerShdw>
          </a:effectLst>
        </p:spPr>
      </p:sp>
      <p:sp>
        <p:nvSpPr>
          <p:cNvPr id="11" name="Shape 9"/>
          <p:cNvSpPr/>
          <p:nvPr/>
        </p:nvSpPr>
        <p:spPr>
          <a:xfrm>
            <a:off x="731520" y="1600200"/>
            <a:ext cx="658368" cy="658368"/>
          </a:xfrm>
          <a:prstGeom prst="ellipse">
            <a:avLst/>
          </a:prstGeom>
          <a:solidFill>
            <a:srgbClr val="0E8C86"/>
          </a:solidFill>
          <a:ln w="12700">
            <a:solidFill>
              <a:srgbClr val="0E8C86"/>
            </a:solidFill>
            <a:prstDash val="solid"/>
          </a:ln>
        </p:spPr>
      </p:sp>
      <p:pic>
        <p:nvPicPr>
          <p:cNvPr id="12" name="Image 0" descr="/home/runner/work/Desa-Marga-Mulya/Desa-Marga-Mulya/deck/assets/build/teal/icon-services-w.png">    </p:cNvPr>
          <p:cNvPicPr>
            <a:picLocks noChangeAspect="1"/>
          </p:cNvPicPr>
          <p:nvPr/>
        </p:nvPicPr>
        <p:blipFill>
          <a:blip r:embed="rId2"/>
          <a:stretch>
            <a:fillRect/>
          </a:stretch>
        </p:blipFill>
        <p:spPr>
          <a:xfrm>
            <a:off x="886968" y="1755648"/>
            <a:ext cx="347472" cy="347472"/>
          </a:xfrm>
          <a:prstGeom prst="rect">
            <a:avLst/>
          </a:prstGeom>
        </p:spPr>
      </p:pic>
      <p:sp>
        <p:nvSpPr>
          <p:cNvPr id="13" name="Text 10"/>
          <p:cNvSpPr/>
          <p:nvPr/>
        </p:nvSpPr>
        <p:spPr>
          <a:xfrm>
            <a:off x="667512" y="2395728"/>
            <a:ext cx="1682496" cy="292608"/>
          </a:xfrm>
          <a:prstGeom prst="rect">
            <a:avLst/>
          </a:prstGeom>
          <a:noFill/>
          <a:ln/>
        </p:spPr>
        <p:txBody>
          <a:bodyPr wrap="square" lIns="0" tIns="0" rIns="0" bIns="0" rtlCol="0" anchor="t">
            <a:normAutofit/>
          </a:bodyPr>
          <a:lstStyle/>
          <a:p>
            <a:pPr indent="0" marL="0">
              <a:buNone/>
            </a:pPr>
            <a:r>
              <a:rPr lang="en-US" sz="1400" b="1" dirty="0">
                <a:solidFill>
                  <a:srgbClr val="0B3B38"/>
                </a:solidFill>
                <a:latin typeface="Montserrat" pitchFamily="34" charset="0"/>
                <a:ea typeface="Montserrat" pitchFamily="34" charset="-122"/>
                <a:cs typeface="Montserrat" pitchFamily="34" charset="-120"/>
              </a:rPr>
              <a:t>SERVE</a:t>
            </a:r>
            <a:endParaRPr lang="en-US" sz="1400" dirty="0"/>
          </a:p>
        </p:txBody>
      </p:sp>
      <p:sp>
        <p:nvSpPr>
          <p:cNvPr id="14" name="Text 11"/>
          <p:cNvSpPr/>
          <p:nvPr/>
        </p:nvSpPr>
        <p:spPr>
          <a:xfrm>
            <a:off x="685800" y="2706624"/>
            <a:ext cx="1591056" cy="274320"/>
          </a:xfrm>
          <a:prstGeom prst="rect">
            <a:avLst/>
          </a:prstGeom>
          <a:noFill/>
          <a:ln/>
        </p:spPr>
        <p:txBody>
          <a:bodyPr wrap="square" lIns="0" tIns="0" rIns="0" bIns="0" rtlCol="0" anchor="t"/>
          <a:lstStyle/>
          <a:p>
            <a:pPr indent="0" marL="0">
              <a:buNone/>
            </a:pPr>
            <a:r>
              <a:rPr lang="en-US" sz="950" i="1" dirty="0">
                <a:solidFill>
                  <a:srgbClr val="4B6360"/>
                </a:solidFill>
                <a:latin typeface="Montserrat" pitchFamily="34" charset="0"/>
                <a:ea typeface="Montserrat" pitchFamily="34" charset="-122"/>
                <a:cs typeface="Montserrat" pitchFamily="34" charset="-120"/>
              </a:rPr>
              <a:t>“I need something.”</a:t>
            </a:r>
            <a:endParaRPr lang="en-US" sz="950" dirty="0"/>
          </a:p>
        </p:txBody>
      </p:sp>
      <p:sp>
        <p:nvSpPr>
          <p:cNvPr id="15" name="Text 12"/>
          <p:cNvSpPr/>
          <p:nvPr/>
        </p:nvSpPr>
        <p:spPr>
          <a:xfrm>
            <a:off x="685800" y="3108960"/>
            <a:ext cx="1591056" cy="1005840"/>
          </a:xfrm>
          <a:prstGeom prst="rect">
            <a:avLst/>
          </a:prstGeom>
          <a:noFill/>
          <a:ln/>
        </p:spPr>
        <p:txBody>
          <a:bodyPr wrap="square" lIns="0" tIns="0" rIns="0" bIns="0" rtlCol="0" anchor="t"/>
          <a:lstStyle/>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Service checklists</a:t>
            </a:r>
            <a:endParaRPr lang="en-US" sz="950" dirty="0"/>
          </a:p>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Live office status</a:t>
            </a:r>
            <a:endParaRPr lang="en-US" sz="950" dirty="0"/>
          </a:p>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AI assistant</a:t>
            </a:r>
            <a:endParaRPr lang="en-US" sz="950" dirty="0"/>
          </a:p>
        </p:txBody>
      </p:sp>
      <p:sp>
        <p:nvSpPr>
          <p:cNvPr id="16" name="Shape 13"/>
          <p:cNvSpPr/>
          <p:nvPr/>
        </p:nvSpPr>
        <p:spPr>
          <a:xfrm>
            <a:off x="685800" y="4206240"/>
            <a:ext cx="1591056" cy="292608"/>
          </a:xfrm>
          <a:prstGeom prst="roundRect">
            <a:avLst>
              <a:gd name="adj" fmla="val 50000"/>
            </a:avLst>
          </a:prstGeom>
          <a:solidFill>
            <a:srgbClr val="0E8C86"/>
          </a:solidFill>
          <a:ln w="9525">
            <a:solidFill>
              <a:srgbClr val="0E8C86"/>
            </a:solidFill>
            <a:prstDash val="solid"/>
          </a:ln>
        </p:spPr>
      </p:sp>
      <p:sp>
        <p:nvSpPr>
          <p:cNvPr id="17" name="Text 14"/>
          <p:cNvSpPr/>
          <p:nvPr/>
        </p:nvSpPr>
        <p:spPr>
          <a:xfrm>
            <a:off x="685800" y="4206240"/>
            <a:ext cx="159105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Montserrat" pitchFamily="34" charset="0"/>
                <a:ea typeface="Montserrat" pitchFamily="34" charset="-122"/>
                <a:cs typeface="Montserrat" pitchFamily="34" charset="-120"/>
              </a:rPr>
              <a:t>Live now</a:t>
            </a:r>
            <a:endParaRPr lang="en-US" sz="850" dirty="0"/>
          </a:p>
        </p:txBody>
      </p:sp>
      <p:sp>
        <p:nvSpPr>
          <p:cNvPr id="18" name="Shape 15"/>
          <p:cNvSpPr/>
          <p:nvPr/>
        </p:nvSpPr>
        <p:spPr>
          <a:xfrm>
            <a:off x="2633472" y="1371600"/>
            <a:ext cx="1956816" cy="3337560"/>
          </a:xfrm>
          <a:prstGeom prst="roundRect">
            <a:avLst>
              <a:gd name="adj" fmla="val 5607"/>
            </a:avLst>
          </a:prstGeom>
          <a:solidFill>
            <a:srgbClr val="FFFFFF"/>
          </a:solidFill>
          <a:ln w="12700">
            <a:solidFill>
              <a:srgbClr val="0E8C86"/>
            </a:solidFill>
            <a:prstDash val="solid"/>
          </a:ln>
          <a:effectLst>
            <a:outerShdw sx="100000" sy="100000" kx="0" ky="0" algn="bl" rotWithShape="0" blurRad="127000" dist="38100" dir="5400000">
              <a:srgbClr val="0B3B38">
                <a:alpha val="18000"/>
              </a:srgbClr>
            </a:outerShdw>
          </a:effectLst>
        </p:spPr>
      </p:sp>
      <p:sp>
        <p:nvSpPr>
          <p:cNvPr id="19" name="Shape 16"/>
          <p:cNvSpPr/>
          <p:nvPr/>
        </p:nvSpPr>
        <p:spPr>
          <a:xfrm>
            <a:off x="2862072" y="1600200"/>
            <a:ext cx="658368" cy="658368"/>
          </a:xfrm>
          <a:prstGeom prst="ellipse">
            <a:avLst/>
          </a:prstGeom>
          <a:solidFill>
            <a:srgbClr val="0E8C86"/>
          </a:solidFill>
          <a:ln w="12700">
            <a:solidFill>
              <a:srgbClr val="0E8C86"/>
            </a:solidFill>
            <a:prstDash val="solid"/>
          </a:ln>
        </p:spPr>
      </p:sp>
      <p:pic>
        <p:nvPicPr>
          <p:cNvPr id="20" name="Image 1" descr="/home/runner/work/Desa-Marga-Mulya/Desa-Marga-Mulya/deck/assets/build/teal/icon-search-w.png">    </p:cNvPr>
          <p:cNvPicPr>
            <a:picLocks noChangeAspect="1"/>
          </p:cNvPicPr>
          <p:nvPr/>
        </p:nvPicPr>
        <p:blipFill>
          <a:blip r:embed="rId3"/>
          <a:stretch>
            <a:fillRect/>
          </a:stretch>
        </p:blipFill>
        <p:spPr>
          <a:xfrm>
            <a:off x="3017520" y="1755648"/>
            <a:ext cx="347472" cy="347472"/>
          </a:xfrm>
          <a:prstGeom prst="rect">
            <a:avLst/>
          </a:prstGeom>
        </p:spPr>
      </p:pic>
      <p:sp>
        <p:nvSpPr>
          <p:cNvPr id="21" name="Text 17"/>
          <p:cNvSpPr/>
          <p:nvPr/>
        </p:nvSpPr>
        <p:spPr>
          <a:xfrm>
            <a:off x="2798064" y="2395728"/>
            <a:ext cx="1682496" cy="292608"/>
          </a:xfrm>
          <a:prstGeom prst="rect">
            <a:avLst/>
          </a:prstGeom>
          <a:noFill/>
          <a:ln/>
        </p:spPr>
        <p:txBody>
          <a:bodyPr wrap="square" lIns="0" tIns="0" rIns="0" bIns="0" rtlCol="0" anchor="t">
            <a:normAutofit/>
          </a:bodyPr>
          <a:lstStyle/>
          <a:p>
            <a:pPr indent="0" marL="0">
              <a:buNone/>
            </a:pPr>
            <a:r>
              <a:rPr lang="en-US" sz="1400" b="1" dirty="0">
                <a:solidFill>
                  <a:srgbClr val="0B3B38"/>
                </a:solidFill>
                <a:latin typeface="Montserrat" pitchFamily="34" charset="0"/>
                <a:ea typeface="Montserrat" pitchFamily="34" charset="-122"/>
                <a:cs typeface="Montserrat" pitchFamily="34" charset="-120"/>
              </a:rPr>
              <a:t>DISCOVER</a:t>
            </a:r>
            <a:endParaRPr lang="en-US" sz="1400" dirty="0"/>
          </a:p>
        </p:txBody>
      </p:sp>
      <p:sp>
        <p:nvSpPr>
          <p:cNvPr id="22" name="Text 18"/>
          <p:cNvSpPr/>
          <p:nvPr/>
        </p:nvSpPr>
        <p:spPr>
          <a:xfrm>
            <a:off x="2816352" y="2706624"/>
            <a:ext cx="1591056" cy="274320"/>
          </a:xfrm>
          <a:prstGeom prst="rect">
            <a:avLst/>
          </a:prstGeom>
          <a:noFill/>
          <a:ln/>
        </p:spPr>
        <p:txBody>
          <a:bodyPr wrap="square" lIns="0" tIns="0" rIns="0" bIns="0" rtlCol="0" anchor="t"/>
          <a:lstStyle/>
          <a:p>
            <a:pPr indent="0" marL="0">
              <a:buNone/>
            </a:pPr>
            <a:r>
              <a:rPr lang="en-US" sz="950" i="1" dirty="0">
                <a:solidFill>
                  <a:srgbClr val="4B6360"/>
                </a:solidFill>
                <a:latin typeface="Montserrat" pitchFamily="34" charset="0"/>
                <a:ea typeface="Montserrat" pitchFamily="34" charset="-122"/>
                <a:cs typeface="Montserrat" pitchFamily="34" charset="-120"/>
              </a:rPr>
              <a:t>“I want to know it.”</a:t>
            </a:r>
            <a:endParaRPr lang="en-US" sz="950" dirty="0"/>
          </a:p>
        </p:txBody>
      </p:sp>
      <p:sp>
        <p:nvSpPr>
          <p:cNvPr id="23" name="Text 19"/>
          <p:cNvSpPr/>
          <p:nvPr/>
        </p:nvSpPr>
        <p:spPr>
          <a:xfrm>
            <a:off x="2816352" y="3108960"/>
            <a:ext cx="1591056" cy="1005840"/>
          </a:xfrm>
          <a:prstGeom prst="rect">
            <a:avLst/>
          </a:prstGeom>
          <a:noFill/>
          <a:ln/>
        </p:spPr>
        <p:txBody>
          <a:bodyPr wrap="square" lIns="0" tIns="0" rIns="0" bIns="0" rtlCol="0" anchor="t"/>
          <a:lstStyle/>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Interactive map</a:t>
            </a:r>
            <a:endParaRPr lang="en-US" sz="950" dirty="0"/>
          </a:p>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Explore by category</a:t>
            </a:r>
            <a:endParaRPr lang="en-US" sz="950" dirty="0"/>
          </a:p>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Village potential</a:t>
            </a:r>
            <a:endParaRPr lang="en-US" sz="950" dirty="0"/>
          </a:p>
        </p:txBody>
      </p:sp>
      <p:sp>
        <p:nvSpPr>
          <p:cNvPr id="24" name="Shape 20"/>
          <p:cNvSpPr/>
          <p:nvPr/>
        </p:nvSpPr>
        <p:spPr>
          <a:xfrm>
            <a:off x="2816352" y="4206240"/>
            <a:ext cx="1591056" cy="292608"/>
          </a:xfrm>
          <a:prstGeom prst="roundRect">
            <a:avLst>
              <a:gd name="adj" fmla="val 50000"/>
            </a:avLst>
          </a:prstGeom>
          <a:solidFill>
            <a:srgbClr val="FFFFFF"/>
          </a:solidFill>
          <a:ln w="9525">
            <a:solidFill>
              <a:srgbClr val="0E8C86"/>
            </a:solidFill>
            <a:prstDash val="solid"/>
          </a:ln>
        </p:spPr>
      </p:sp>
      <p:sp>
        <p:nvSpPr>
          <p:cNvPr id="25" name="Text 21"/>
          <p:cNvSpPr/>
          <p:nvPr/>
        </p:nvSpPr>
        <p:spPr>
          <a:xfrm>
            <a:off x="2816352" y="4206240"/>
            <a:ext cx="1591056" cy="292608"/>
          </a:xfrm>
          <a:prstGeom prst="rect">
            <a:avLst/>
          </a:prstGeom>
          <a:noFill/>
          <a:ln/>
        </p:spPr>
        <p:txBody>
          <a:bodyPr wrap="square" lIns="0" tIns="0" rIns="0" bIns="0" rtlCol="0" anchor="ctr"/>
          <a:lstStyle/>
          <a:p>
            <a:pPr algn="ctr" indent="0" marL="0">
              <a:buNone/>
            </a:pPr>
            <a:r>
              <a:rPr lang="en-US" sz="850" b="1" dirty="0">
                <a:solidFill>
                  <a:srgbClr val="0E8C86"/>
                </a:solidFill>
                <a:latin typeface="Montserrat" pitchFamily="34" charset="0"/>
                <a:ea typeface="Montserrat" pitchFamily="34" charset="-122"/>
                <a:cs typeface="Montserrat" pitchFamily="34" charset="-120"/>
              </a:rPr>
              <a:t>Live + Next</a:t>
            </a:r>
            <a:endParaRPr lang="en-US" sz="850" dirty="0"/>
          </a:p>
        </p:txBody>
      </p:sp>
      <p:sp>
        <p:nvSpPr>
          <p:cNvPr id="26" name="Shape 22"/>
          <p:cNvSpPr/>
          <p:nvPr/>
        </p:nvSpPr>
        <p:spPr>
          <a:xfrm>
            <a:off x="4764024" y="1371600"/>
            <a:ext cx="1956816" cy="3337560"/>
          </a:xfrm>
          <a:prstGeom prst="roundRect">
            <a:avLst>
              <a:gd name="adj" fmla="val 5607"/>
            </a:avLst>
          </a:prstGeom>
          <a:solidFill>
            <a:srgbClr val="FFFFFF"/>
          </a:solidFill>
          <a:ln w="12700">
            <a:solidFill>
              <a:srgbClr val="0E8C86"/>
            </a:solidFill>
            <a:prstDash val="solid"/>
          </a:ln>
          <a:effectLst>
            <a:outerShdw sx="100000" sy="100000" kx="0" ky="0" algn="bl" rotWithShape="0" blurRad="127000" dist="38100" dir="5400000">
              <a:srgbClr val="0B3B38">
                <a:alpha val="18000"/>
              </a:srgbClr>
            </a:outerShdw>
          </a:effectLst>
        </p:spPr>
      </p:sp>
      <p:sp>
        <p:nvSpPr>
          <p:cNvPr id="27" name="Shape 23"/>
          <p:cNvSpPr/>
          <p:nvPr/>
        </p:nvSpPr>
        <p:spPr>
          <a:xfrm>
            <a:off x="4992624" y="1600200"/>
            <a:ext cx="658368" cy="658368"/>
          </a:xfrm>
          <a:prstGeom prst="ellipse">
            <a:avLst/>
          </a:prstGeom>
          <a:solidFill>
            <a:srgbClr val="0E8C86"/>
          </a:solidFill>
          <a:ln w="12700">
            <a:solidFill>
              <a:srgbClr val="0E8C86"/>
            </a:solidFill>
            <a:prstDash val="solid"/>
          </a:ln>
        </p:spPr>
      </p:sp>
      <p:pic>
        <p:nvPicPr>
          <p:cNvPr id="28" name="Image 2" descr="/home/runner/work/Desa-Marga-Mulya/Desa-Marga-Mulya/deck/assets/build/teal/icon-market-w.png">    </p:cNvPr>
          <p:cNvPicPr>
            <a:picLocks noChangeAspect="1"/>
          </p:cNvPicPr>
          <p:nvPr/>
        </p:nvPicPr>
        <p:blipFill>
          <a:blip r:embed="rId4"/>
          <a:stretch>
            <a:fillRect/>
          </a:stretch>
        </p:blipFill>
        <p:spPr>
          <a:xfrm>
            <a:off x="5148072" y="1755648"/>
            <a:ext cx="347472" cy="347472"/>
          </a:xfrm>
          <a:prstGeom prst="rect">
            <a:avLst/>
          </a:prstGeom>
        </p:spPr>
      </p:pic>
      <p:sp>
        <p:nvSpPr>
          <p:cNvPr id="29" name="Text 24"/>
          <p:cNvSpPr/>
          <p:nvPr/>
        </p:nvSpPr>
        <p:spPr>
          <a:xfrm>
            <a:off x="4928616" y="2395728"/>
            <a:ext cx="1682496" cy="292608"/>
          </a:xfrm>
          <a:prstGeom prst="rect">
            <a:avLst/>
          </a:prstGeom>
          <a:noFill/>
          <a:ln/>
        </p:spPr>
        <p:txBody>
          <a:bodyPr wrap="square" lIns="0" tIns="0" rIns="0" bIns="0" rtlCol="0" anchor="t">
            <a:normAutofit/>
          </a:bodyPr>
          <a:lstStyle/>
          <a:p>
            <a:pPr indent="0" marL="0">
              <a:buNone/>
            </a:pPr>
            <a:r>
              <a:rPr lang="en-US" sz="1400" b="1" dirty="0">
                <a:solidFill>
                  <a:srgbClr val="0B3B38"/>
                </a:solidFill>
                <a:latin typeface="Montserrat" pitchFamily="34" charset="0"/>
                <a:ea typeface="Montserrat" pitchFamily="34" charset="-122"/>
                <a:cs typeface="Montserrat" pitchFamily="34" charset="-120"/>
              </a:rPr>
              <a:t>BUY</a:t>
            </a:r>
            <a:endParaRPr lang="en-US" sz="1400" dirty="0"/>
          </a:p>
        </p:txBody>
      </p:sp>
      <p:sp>
        <p:nvSpPr>
          <p:cNvPr id="30" name="Text 25"/>
          <p:cNvSpPr/>
          <p:nvPr/>
        </p:nvSpPr>
        <p:spPr>
          <a:xfrm>
            <a:off x="4946904" y="2706624"/>
            <a:ext cx="1591056" cy="274320"/>
          </a:xfrm>
          <a:prstGeom prst="rect">
            <a:avLst/>
          </a:prstGeom>
          <a:noFill/>
          <a:ln/>
        </p:spPr>
        <p:txBody>
          <a:bodyPr wrap="square" lIns="0" tIns="0" rIns="0" bIns="0" rtlCol="0" anchor="t"/>
          <a:lstStyle/>
          <a:p>
            <a:pPr indent="0" marL="0">
              <a:buNone/>
            </a:pPr>
            <a:r>
              <a:rPr lang="en-US" sz="950" i="1" dirty="0">
                <a:solidFill>
                  <a:srgbClr val="4B6360"/>
                </a:solidFill>
                <a:latin typeface="Montserrat" pitchFamily="34" charset="0"/>
                <a:ea typeface="Montserrat" pitchFamily="34" charset="-122"/>
                <a:cs typeface="Montserrat" pitchFamily="34" charset="-120"/>
              </a:rPr>
              <a:t>“I want to support it.”</a:t>
            </a:r>
            <a:endParaRPr lang="en-US" sz="950" dirty="0"/>
          </a:p>
        </p:txBody>
      </p:sp>
      <p:sp>
        <p:nvSpPr>
          <p:cNvPr id="31" name="Text 26"/>
          <p:cNvSpPr/>
          <p:nvPr/>
        </p:nvSpPr>
        <p:spPr>
          <a:xfrm>
            <a:off x="4946904" y="3108960"/>
            <a:ext cx="1591056" cy="1005840"/>
          </a:xfrm>
          <a:prstGeom prst="rect">
            <a:avLst/>
          </a:prstGeom>
          <a:noFill/>
          <a:ln/>
        </p:spPr>
        <p:txBody>
          <a:bodyPr wrap="square" lIns="0" tIns="0" rIns="0" bIns="0" rtlCol="0" anchor="t"/>
          <a:lstStyle/>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Pasar Desa</a:t>
            </a:r>
            <a:endParaRPr lang="en-US" sz="950" dirty="0"/>
          </a:p>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Seller portal</a:t>
            </a:r>
            <a:endParaRPr lang="en-US" sz="950" dirty="0"/>
          </a:p>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WhatsApp orders</a:t>
            </a:r>
            <a:endParaRPr lang="en-US" sz="950" dirty="0"/>
          </a:p>
        </p:txBody>
      </p:sp>
      <p:sp>
        <p:nvSpPr>
          <p:cNvPr id="32" name="Shape 27"/>
          <p:cNvSpPr/>
          <p:nvPr/>
        </p:nvSpPr>
        <p:spPr>
          <a:xfrm>
            <a:off x="4946904" y="4206240"/>
            <a:ext cx="1591056" cy="292608"/>
          </a:xfrm>
          <a:prstGeom prst="roundRect">
            <a:avLst>
              <a:gd name="adj" fmla="val 50000"/>
            </a:avLst>
          </a:prstGeom>
          <a:solidFill>
            <a:srgbClr val="0E8C86"/>
          </a:solidFill>
          <a:ln w="9525">
            <a:solidFill>
              <a:srgbClr val="0E8C86"/>
            </a:solidFill>
            <a:prstDash val="solid"/>
          </a:ln>
        </p:spPr>
      </p:sp>
      <p:sp>
        <p:nvSpPr>
          <p:cNvPr id="33" name="Text 28"/>
          <p:cNvSpPr/>
          <p:nvPr/>
        </p:nvSpPr>
        <p:spPr>
          <a:xfrm>
            <a:off x="4946904" y="4206240"/>
            <a:ext cx="159105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Montserrat" pitchFamily="34" charset="0"/>
                <a:ea typeface="Montserrat" pitchFamily="34" charset="-122"/>
                <a:cs typeface="Montserrat" pitchFamily="34" charset="-120"/>
              </a:rPr>
              <a:t>Live now</a:t>
            </a:r>
            <a:endParaRPr lang="en-US" sz="850" dirty="0"/>
          </a:p>
        </p:txBody>
      </p:sp>
      <p:sp>
        <p:nvSpPr>
          <p:cNvPr id="34" name="Shape 29"/>
          <p:cNvSpPr/>
          <p:nvPr/>
        </p:nvSpPr>
        <p:spPr>
          <a:xfrm>
            <a:off x="6894576" y="1371600"/>
            <a:ext cx="1956816" cy="3337560"/>
          </a:xfrm>
          <a:prstGeom prst="roundRect">
            <a:avLst>
              <a:gd name="adj" fmla="val 5607"/>
            </a:avLst>
          </a:prstGeom>
          <a:solidFill>
            <a:srgbClr val="FFFFFF"/>
          </a:solidFill>
          <a:ln w="12700">
            <a:solidFill>
              <a:srgbClr val="0E8C86"/>
            </a:solidFill>
            <a:prstDash val="solid"/>
          </a:ln>
          <a:effectLst>
            <a:outerShdw sx="100000" sy="100000" kx="0" ky="0" algn="bl" rotWithShape="0" blurRad="127000" dist="38100" dir="5400000">
              <a:srgbClr val="0B3B38">
                <a:alpha val="18000"/>
              </a:srgbClr>
            </a:outerShdw>
          </a:effectLst>
        </p:spPr>
      </p:sp>
      <p:sp>
        <p:nvSpPr>
          <p:cNvPr id="35" name="Shape 30"/>
          <p:cNvSpPr/>
          <p:nvPr/>
        </p:nvSpPr>
        <p:spPr>
          <a:xfrm>
            <a:off x="7123176" y="1600200"/>
            <a:ext cx="658368" cy="658368"/>
          </a:xfrm>
          <a:prstGeom prst="ellipse">
            <a:avLst/>
          </a:prstGeom>
          <a:solidFill>
            <a:srgbClr val="0E8C86"/>
          </a:solidFill>
          <a:ln w="12700">
            <a:solidFill>
              <a:srgbClr val="0E8C86"/>
            </a:solidFill>
            <a:prstDash val="solid"/>
          </a:ln>
        </p:spPr>
      </p:sp>
      <p:pic>
        <p:nvPicPr>
          <p:cNvPr id="36" name="Image 3" descr="/home/runner/work/Desa-Marga-Mulya/Desa-Marga-Mulya/deck/assets/build/teal/icon-data-w.png">    </p:cNvPr>
          <p:cNvPicPr>
            <a:picLocks noChangeAspect="1"/>
          </p:cNvPicPr>
          <p:nvPr/>
        </p:nvPicPr>
        <p:blipFill>
          <a:blip r:embed="rId5"/>
          <a:stretch>
            <a:fillRect/>
          </a:stretch>
        </p:blipFill>
        <p:spPr>
          <a:xfrm>
            <a:off x="7278624" y="1755648"/>
            <a:ext cx="347472" cy="347472"/>
          </a:xfrm>
          <a:prstGeom prst="rect">
            <a:avLst/>
          </a:prstGeom>
        </p:spPr>
      </p:pic>
      <p:sp>
        <p:nvSpPr>
          <p:cNvPr id="37" name="Text 31"/>
          <p:cNvSpPr/>
          <p:nvPr/>
        </p:nvSpPr>
        <p:spPr>
          <a:xfrm>
            <a:off x="7059168" y="2395728"/>
            <a:ext cx="1682496" cy="292608"/>
          </a:xfrm>
          <a:prstGeom prst="rect">
            <a:avLst/>
          </a:prstGeom>
          <a:noFill/>
          <a:ln/>
        </p:spPr>
        <p:txBody>
          <a:bodyPr wrap="square" lIns="0" tIns="0" rIns="0" bIns="0" rtlCol="0" anchor="t">
            <a:normAutofit/>
          </a:bodyPr>
          <a:lstStyle/>
          <a:p>
            <a:pPr indent="0" marL="0">
              <a:buNone/>
            </a:pPr>
            <a:r>
              <a:rPr lang="en-US" sz="1400" b="1" dirty="0">
                <a:solidFill>
                  <a:srgbClr val="0B3B38"/>
                </a:solidFill>
                <a:latin typeface="Montserrat" pitchFamily="34" charset="0"/>
                <a:ea typeface="Montserrat" pitchFamily="34" charset="-122"/>
                <a:cs typeface="Montserrat" pitchFamily="34" charset="-120"/>
              </a:rPr>
              <a:t>UNDERSTAND</a:t>
            </a:r>
            <a:endParaRPr lang="en-US" sz="1400" dirty="0"/>
          </a:p>
        </p:txBody>
      </p:sp>
      <p:sp>
        <p:nvSpPr>
          <p:cNvPr id="38" name="Text 32"/>
          <p:cNvSpPr/>
          <p:nvPr/>
        </p:nvSpPr>
        <p:spPr>
          <a:xfrm>
            <a:off x="7077456" y="2706624"/>
            <a:ext cx="1591056" cy="274320"/>
          </a:xfrm>
          <a:prstGeom prst="rect">
            <a:avLst/>
          </a:prstGeom>
          <a:noFill/>
          <a:ln/>
        </p:spPr>
        <p:txBody>
          <a:bodyPr wrap="square" lIns="0" tIns="0" rIns="0" bIns="0" rtlCol="0" anchor="t"/>
          <a:lstStyle/>
          <a:p>
            <a:pPr indent="0" marL="0">
              <a:buNone/>
            </a:pPr>
            <a:r>
              <a:rPr lang="en-US" sz="950" i="1" dirty="0">
                <a:solidFill>
                  <a:srgbClr val="4B6360"/>
                </a:solidFill>
                <a:latin typeface="Montserrat" pitchFamily="34" charset="0"/>
                <a:ea typeface="Montserrat" pitchFamily="34" charset="-122"/>
                <a:cs typeface="Montserrat" pitchFamily="34" charset="-120"/>
              </a:rPr>
              <a:t>“I want the data.”</a:t>
            </a:r>
            <a:endParaRPr lang="en-US" sz="950" dirty="0"/>
          </a:p>
        </p:txBody>
      </p:sp>
      <p:sp>
        <p:nvSpPr>
          <p:cNvPr id="39" name="Text 33"/>
          <p:cNvSpPr/>
          <p:nvPr/>
        </p:nvSpPr>
        <p:spPr>
          <a:xfrm>
            <a:off x="7077456" y="3108960"/>
            <a:ext cx="1591056" cy="1005840"/>
          </a:xfrm>
          <a:prstGeom prst="rect">
            <a:avLst/>
          </a:prstGeom>
          <a:noFill/>
          <a:ln/>
        </p:spPr>
        <p:txBody>
          <a:bodyPr wrap="square" lIns="0" tIns="0" rIns="0" bIns="0" rtlCol="0" anchor="t"/>
          <a:lstStyle/>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42 data tables</a:t>
            </a:r>
            <a:endParaRPr lang="en-US" sz="950" dirty="0"/>
          </a:p>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Village dashboard</a:t>
            </a:r>
            <a:endParaRPr lang="en-US" sz="950" dirty="0"/>
          </a:p>
          <a:p>
            <a:pPr marL="152400" indent="-152400">
              <a:spcAft>
                <a:spcPts val="500"/>
              </a:spcAft>
              <a:buSzPct val="100000"/>
              <a:buChar char="•"/>
            </a:pPr>
            <a:r>
              <a:rPr lang="en-US" sz="950" dirty="0">
                <a:solidFill>
                  <a:srgbClr val="0B3B38"/>
                </a:solidFill>
                <a:latin typeface="Montserrat" pitchFamily="34" charset="0"/>
                <a:ea typeface="Montserrat" pitchFamily="34" charset="-122"/>
                <a:cs typeface="Montserrat" pitchFamily="34" charset="-120"/>
              </a:rPr>
              <a:t>CSV export</a:t>
            </a:r>
            <a:endParaRPr lang="en-US" sz="950" dirty="0"/>
          </a:p>
        </p:txBody>
      </p:sp>
      <p:sp>
        <p:nvSpPr>
          <p:cNvPr id="40" name="Shape 34"/>
          <p:cNvSpPr/>
          <p:nvPr/>
        </p:nvSpPr>
        <p:spPr>
          <a:xfrm>
            <a:off x="7077456" y="4206240"/>
            <a:ext cx="1591056" cy="292608"/>
          </a:xfrm>
          <a:prstGeom prst="roundRect">
            <a:avLst>
              <a:gd name="adj" fmla="val 50000"/>
            </a:avLst>
          </a:prstGeom>
          <a:solidFill>
            <a:srgbClr val="0E8C86"/>
          </a:solidFill>
          <a:ln w="9525">
            <a:solidFill>
              <a:srgbClr val="0E8C86"/>
            </a:solidFill>
            <a:prstDash val="solid"/>
          </a:ln>
        </p:spPr>
      </p:sp>
      <p:sp>
        <p:nvSpPr>
          <p:cNvPr id="41" name="Text 35"/>
          <p:cNvSpPr/>
          <p:nvPr/>
        </p:nvSpPr>
        <p:spPr>
          <a:xfrm>
            <a:off x="7077456" y="4206240"/>
            <a:ext cx="159105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Montserrat" pitchFamily="34" charset="0"/>
                <a:ea typeface="Montserrat" pitchFamily="34" charset="-122"/>
                <a:cs typeface="Montserrat" pitchFamily="34" charset="-120"/>
              </a:rPr>
              <a:t>Live now</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Problem</a:t>
            </a:r>
            <a:endParaRPr lang="en-US" sz="900" dirty="0"/>
          </a:p>
        </p:txBody>
      </p:sp>
      <p:sp>
        <p:nvSpPr>
          <p:cNvPr id="3" name="Text 1"/>
          <p:cNvSpPr/>
          <p:nvPr/>
        </p:nvSpPr>
        <p:spPr>
          <a:xfrm>
            <a:off x="210312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Gateway</a:t>
            </a:r>
            <a:endParaRPr lang="en-US" sz="900" dirty="0"/>
          </a:p>
        </p:txBody>
      </p:sp>
      <p:sp>
        <p:nvSpPr>
          <p:cNvPr id="4" name="Text 2"/>
          <p:cNvSpPr/>
          <p:nvPr/>
        </p:nvSpPr>
        <p:spPr>
          <a:xfrm>
            <a:off x="374904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Solution</a:t>
            </a:r>
            <a:endParaRPr lang="en-US" sz="900" dirty="0"/>
          </a:p>
        </p:txBody>
      </p:sp>
      <p:sp>
        <p:nvSpPr>
          <p:cNvPr id="5" name="Shape 3"/>
          <p:cNvSpPr/>
          <p:nvPr/>
        </p:nvSpPr>
        <p:spPr>
          <a:xfrm>
            <a:off x="5669280" y="91440"/>
            <a:ext cx="1097280" cy="32004"/>
          </a:xfrm>
          <a:prstGeom prst="rect">
            <a:avLst/>
          </a:prstGeom>
          <a:solidFill>
            <a:srgbClr val="0E8C86"/>
          </a:solidFill>
          <a:ln w="12700">
            <a:solidFill>
              <a:srgbClr val="0E8C86"/>
            </a:solidFill>
            <a:prstDash val="solid"/>
          </a:ln>
        </p:spPr>
      </p:sp>
      <p:sp>
        <p:nvSpPr>
          <p:cNvPr id="6" name="Text 4"/>
          <p:cNvSpPr/>
          <p:nvPr/>
        </p:nvSpPr>
        <p:spPr>
          <a:xfrm>
            <a:off x="5394960" y="146304"/>
            <a:ext cx="1645920" cy="228600"/>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Demo</a:t>
            </a:r>
            <a:endParaRPr lang="en-US" sz="900" dirty="0"/>
          </a:p>
        </p:txBody>
      </p:sp>
      <p:sp>
        <p:nvSpPr>
          <p:cNvPr id="7" name="Text 5"/>
          <p:cNvSpPr/>
          <p:nvPr/>
        </p:nvSpPr>
        <p:spPr>
          <a:xfrm>
            <a:off x="704088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Impact</a:t>
            </a:r>
            <a:endParaRPr lang="en-US" sz="900" dirty="0"/>
          </a:p>
        </p:txBody>
      </p:sp>
      <p:sp>
        <p:nvSpPr>
          <p:cNvPr id="8" name="Text 6"/>
          <p:cNvSpPr/>
          <p:nvPr/>
        </p:nvSpPr>
        <p:spPr>
          <a:xfrm>
            <a:off x="457200" y="457200"/>
            <a:ext cx="8229600" cy="502920"/>
          </a:xfrm>
          <a:prstGeom prst="rect">
            <a:avLst/>
          </a:prstGeom>
          <a:noFill/>
          <a:ln/>
        </p:spPr>
        <p:txBody>
          <a:bodyPr wrap="square" lIns="0" tIns="0" rIns="0" bIns="0" rtlCol="0" anchor="t"/>
          <a:lstStyle/>
          <a:p>
            <a:pPr algn="ctr" indent="0" marL="0">
              <a:buNone/>
            </a:pPr>
            <a:r>
              <a:rPr lang="en-US" sz="2600" b="1" dirty="0">
                <a:solidFill>
                  <a:srgbClr val="0B3B38"/>
                </a:solidFill>
                <a:latin typeface="Montserrat" pitchFamily="34" charset="0"/>
                <a:ea typeface="Montserrat" pitchFamily="34" charset="-122"/>
                <a:cs typeface="Montserrat" pitchFamily="34" charset="-120"/>
              </a:rPr>
              <a:t>Built and Live</a:t>
            </a:r>
            <a:endParaRPr lang="en-US" sz="2600" dirty="0"/>
          </a:p>
        </p:txBody>
      </p:sp>
      <p:sp>
        <p:nvSpPr>
          <p:cNvPr id="9" name="Text 7"/>
          <p:cNvSpPr/>
          <p:nvPr/>
        </p:nvSpPr>
        <p:spPr>
          <a:xfrm>
            <a:off x="457200" y="950976"/>
            <a:ext cx="8229600" cy="274320"/>
          </a:xfrm>
          <a:prstGeom prst="rect">
            <a:avLst/>
          </a:prstGeom>
          <a:noFill/>
          <a:ln/>
        </p:spPr>
        <p:txBody>
          <a:bodyPr wrap="square" lIns="0" tIns="0" rIns="0" bIns="0" rtlCol="0" anchor="t"/>
          <a:lstStyle/>
          <a:p>
            <a:pPr algn="ctr" indent="0" marL="0">
              <a:buNone/>
            </a:pPr>
            <a:r>
              <a:rPr lang="en-US" sz="1200" b="1" dirty="0">
                <a:solidFill>
                  <a:srgbClr val="4B6360"/>
                </a:solidFill>
                <a:latin typeface="Montserrat" pitchFamily="34" charset="0"/>
                <a:ea typeface="Montserrat" pitchFamily="34" charset="-122"/>
                <a:cs typeface="Montserrat" pitchFamily="34" charset="-120"/>
              </a:rPr>
              <a:t>Live demo: desa-marga-mulya.vercel.app</a:t>
            </a:r>
            <a:endParaRPr lang="en-US" sz="1200" dirty="0"/>
          </a:p>
        </p:txBody>
      </p:sp>
      <p:pic>
        <p:nvPicPr>
          <p:cNvPr id="10" name="Image 0" descr="/home/runner/work/Desa-Marga-Mulya/Desa-Marga-Mulya/deck/assets/build/teal/blob.png">    </p:cNvPr>
          <p:cNvPicPr>
            <a:picLocks noChangeAspect="1"/>
          </p:cNvPicPr>
          <p:nvPr/>
        </p:nvPicPr>
        <p:blipFill>
          <a:blip r:embed="rId2"/>
          <a:stretch>
            <a:fillRect/>
          </a:stretch>
        </p:blipFill>
        <p:spPr>
          <a:xfrm>
            <a:off x="-320040" y="2331720"/>
            <a:ext cx="2103120" cy="1600200"/>
          </a:xfrm>
          <a:prstGeom prst="rect">
            <a:avLst/>
          </a:prstGeom>
        </p:spPr>
      </p:pic>
      <p:pic>
        <p:nvPicPr>
          <p:cNvPr id="11" name="Image 1" descr="/home/runner/work/Desa-Marga-Mulya/Desa-Marga-Mulya/deck/assets/build/teal/blob.png">    </p:cNvPr>
          <p:cNvPicPr>
            <a:picLocks noChangeAspect="1"/>
          </p:cNvPicPr>
          <p:nvPr/>
        </p:nvPicPr>
        <p:blipFill>
          <a:blip r:embed="rId3"/>
          <a:stretch>
            <a:fillRect/>
          </a:stretch>
        </p:blipFill>
        <p:spPr>
          <a:xfrm flipH="1">
            <a:off x="7040880" y="1920240"/>
            <a:ext cx="2468880" cy="1920240"/>
          </a:xfrm>
          <a:prstGeom prst="rect">
            <a:avLst/>
          </a:prstGeom>
        </p:spPr>
      </p:pic>
      <p:sp>
        <p:nvSpPr>
          <p:cNvPr id="12" name="Shape 8"/>
          <p:cNvSpPr/>
          <p:nvPr/>
        </p:nvSpPr>
        <p:spPr>
          <a:xfrm>
            <a:off x="822960" y="1371600"/>
            <a:ext cx="4206240" cy="2487168"/>
          </a:xfrm>
          <a:prstGeom prst="roundRect">
            <a:avLst>
              <a:gd name="adj" fmla="val 3676"/>
            </a:avLst>
          </a:prstGeom>
          <a:solidFill>
            <a:srgbClr val="0B3B38"/>
          </a:solidFill>
          <a:ln w="12700">
            <a:solidFill>
              <a:srgbClr val="0B3B38"/>
            </a:solidFill>
            <a:prstDash val="solid"/>
          </a:ln>
          <a:effectLst>
            <a:outerShdw sx="100000" sy="100000" kx="0" ky="0" algn="bl" rotWithShape="0" blurRad="127000" dist="38100" dir="5400000">
              <a:srgbClr val="0B3B38">
                <a:alpha val="18000"/>
              </a:srgbClr>
            </a:outerShdw>
          </a:effectLst>
        </p:spPr>
      </p:sp>
      <p:pic>
        <p:nvPicPr>
          <p:cNvPr id="13" name="Image 2" descr="/home/runner/work/Desa-Marga-Mulya/Desa-Marga-Mulya/deck/assets/build/shot-home.png">    </p:cNvPr>
          <p:cNvPicPr>
            <a:picLocks noChangeAspect="1"/>
          </p:cNvPicPr>
          <p:nvPr/>
        </p:nvPicPr>
        <p:blipFill>
          <a:blip r:embed="rId4"/>
          <a:srcRect l="0" r="0" t="0" b="0"/>
          <a:stretch/>
        </p:blipFill>
        <p:spPr>
          <a:xfrm>
            <a:off x="914400" y="1463040"/>
            <a:ext cx="4023360" cy="2304288"/>
          </a:xfrm>
          <a:prstGeom prst="rect">
            <a:avLst/>
          </a:prstGeom>
        </p:spPr>
      </p:pic>
      <p:sp>
        <p:nvSpPr>
          <p:cNvPr id="14" name="Shape 9"/>
          <p:cNvSpPr/>
          <p:nvPr/>
        </p:nvSpPr>
        <p:spPr>
          <a:xfrm>
            <a:off x="594360" y="3858768"/>
            <a:ext cx="4663440" cy="109728"/>
          </a:xfrm>
          <a:prstGeom prst="roundRect">
            <a:avLst>
              <a:gd name="adj" fmla="val 41667"/>
            </a:avLst>
          </a:prstGeom>
          <a:solidFill>
            <a:srgbClr val="BFCFCD"/>
          </a:solidFill>
          <a:ln w="12700">
            <a:solidFill>
              <a:srgbClr val="BFCFCD"/>
            </a:solidFill>
            <a:prstDash val="solid"/>
          </a:ln>
        </p:spPr>
      </p:sp>
      <p:sp>
        <p:nvSpPr>
          <p:cNvPr id="15" name="Text 10"/>
          <p:cNvSpPr/>
          <p:nvPr/>
        </p:nvSpPr>
        <p:spPr>
          <a:xfrm>
            <a:off x="822960" y="4023360"/>
            <a:ext cx="4206240" cy="201168"/>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Home: live office status</a:t>
            </a:r>
            <a:endParaRPr lang="en-US" sz="900" dirty="0"/>
          </a:p>
        </p:txBody>
      </p:sp>
      <p:sp>
        <p:nvSpPr>
          <p:cNvPr id="16" name="Shape 11"/>
          <p:cNvSpPr/>
          <p:nvPr/>
        </p:nvSpPr>
        <p:spPr>
          <a:xfrm>
            <a:off x="5440680" y="1325880"/>
            <a:ext cx="1325880" cy="2697480"/>
          </a:xfrm>
          <a:prstGeom prst="roundRect">
            <a:avLst>
              <a:gd name="adj" fmla="val 12414"/>
            </a:avLst>
          </a:prstGeom>
          <a:solidFill>
            <a:srgbClr val="0B3B38"/>
          </a:solidFill>
          <a:ln w="12700">
            <a:solidFill>
              <a:srgbClr val="0B3B38"/>
            </a:solidFill>
            <a:prstDash val="solid"/>
          </a:ln>
          <a:effectLst>
            <a:outerShdw sx="100000" sy="100000" kx="0" ky="0" algn="bl" rotWithShape="0" blurRad="127000" dist="38100" dir="5400000">
              <a:srgbClr val="0B3B38">
                <a:alpha val="18000"/>
              </a:srgbClr>
            </a:outerShdw>
          </a:effectLst>
        </p:spPr>
      </p:sp>
      <p:pic>
        <p:nvPicPr>
          <p:cNvPr id="17" name="Image 3" descr="/home/runner/work/Desa-Marga-Mulya/Desa-Marga-Mulya/deck/assets/build/shot-cart.png">    </p:cNvPr>
          <p:cNvPicPr>
            <a:picLocks noChangeAspect="1"/>
          </p:cNvPicPr>
          <p:nvPr/>
        </p:nvPicPr>
        <p:blipFill>
          <a:blip r:embed="rId5"/>
          <a:srcRect l="0" r="0" t="0" b="0"/>
          <a:stretch/>
        </p:blipFill>
        <p:spPr>
          <a:xfrm>
            <a:off x="5504688" y="1389888"/>
            <a:ext cx="1197864" cy="2569464"/>
          </a:xfrm>
          <a:prstGeom prst="rect">
            <a:avLst/>
          </a:prstGeom>
        </p:spPr>
      </p:pic>
      <p:sp>
        <p:nvSpPr>
          <p:cNvPr id="18" name="Text 12"/>
          <p:cNvSpPr/>
          <p:nvPr/>
        </p:nvSpPr>
        <p:spPr>
          <a:xfrm>
            <a:off x="5303520" y="4096512"/>
            <a:ext cx="1600200" cy="201168"/>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Cart split per seller</a:t>
            </a:r>
            <a:endParaRPr lang="en-US" sz="900" dirty="0"/>
          </a:p>
        </p:txBody>
      </p:sp>
      <p:sp>
        <p:nvSpPr>
          <p:cNvPr id="19" name="Shape 13"/>
          <p:cNvSpPr/>
          <p:nvPr/>
        </p:nvSpPr>
        <p:spPr>
          <a:xfrm>
            <a:off x="7040880" y="1325880"/>
            <a:ext cx="1325880" cy="2697480"/>
          </a:xfrm>
          <a:prstGeom prst="roundRect">
            <a:avLst>
              <a:gd name="adj" fmla="val 12414"/>
            </a:avLst>
          </a:prstGeom>
          <a:solidFill>
            <a:srgbClr val="0B3B38"/>
          </a:solidFill>
          <a:ln w="12700">
            <a:solidFill>
              <a:srgbClr val="0B3B38"/>
            </a:solidFill>
            <a:prstDash val="solid"/>
          </a:ln>
          <a:effectLst>
            <a:outerShdw sx="100000" sy="100000" kx="0" ky="0" algn="bl" rotWithShape="0" blurRad="127000" dist="38100" dir="5400000">
              <a:srgbClr val="0B3B38">
                <a:alpha val="18000"/>
              </a:srgbClr>
            </a:outerShdw>
          </a:effectLst>
        </p:spPr>
      </p:sp>
      <p:pic>
        <p:nvPicPr>
          <p:cNvPr id="20" name="Image 4" descr="/home/runner/work/Desa-Marga-Mulya/Desa-Marga-Mulya/deck/assets/build/shot-seller.png">    </p:cNvPr>
          <p:cNvPicPr>
            <a:picLocks noChangeAspect="1"/>
          </p:cNvPicPr>
          <p:nvPr/>
        </p:nvPicPr>
        <p:blipFill>
          <a:blip r:embed="rId6"/>
          <a:srcRect l="0" r="0" t="0" b="0"/>
          <a:stretch/>
        </p:blipFill>
        <p:spPr>
          <a:xfrm>
            <a:off x="7104888" y="1389888"/>
            <a:ext cx="1197864" cy="2569464"/>
          </a:xfrm>
          <a:prstGeom prst="rect">
            <a:avLst/>
          </a:prstGeom>
        </p:spPr>
      </p:pic>
      <p:sp>
        <p:nvSpPr>
          <p:cNvPr id="21" name="Text 14"/>
          <p:cNvSpPr/>
          <p:nvPr/>
        </p:nvSpPr>
        <p:spPr>
          <a:xfrm>
            <a:off x="6903720" y="4096512"/>
            <a:ext cx="1600200" cy="201168"/>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Seller portal</a:t>
            </a:r>
            <a:endParaRPr lang="en-US" sz="900" dirty="0"/>
          </a:p>
        </p:txBody>
      </p:sp>
      <p:sp>
        <p:nvSpPr>
          <p:cNvPr id="22" name="Shape 15"/>
          <p:cNvSpPr/>
          <p:nvPr/>
        </p:nvSpPr>
        <p:spPr>
          <a:xfrm>
            <a:off x="502920" y="4343400"/>
            <a:ext cx="8138160" cy="658368"/>
          </a:xfrm>
          <a:prstGeom prst="roundRect">
            <a:avLst>
              <a:gd name="adj" fmla="val 19444"/>
            </a:avLst>
          </a:prstGeom>
          <a:solidFill>
            <a:srgbClr val="FFFFFF"/>
          </a:solidFill>
          <a:ln w="12700">
            <a:solidFill>
              <a:srgbClr val="0E8C86"/>
            </a:solidFill>
            <a:prstDash val="solid"/>
          </a:ln>
        </p:spPr>
      </p:sp>
      <p:sp>
        <p:nvSpPr>
          <p:cNvPr id="23" name="Text 16"/>
          <p:cNvSpPr/>
          <p:nvPr/>
        </p:nvSpPr>
        <p:spPr>
          <a:xfrm>
            <a:off x="685800" y="4343400"/>
            <a:ext cx="1097280" cy="658368"/>
          </a:xfrm>
          <a:prstGeom prst="rect">
            <a:avLst/>
          </a:prstGeom>
          <a:noFill/>
          <a:ln/>
        </p:spPr>
        <p:txBody>
          <a:bodyPr wrap="square" lIns="0" tIns="0" rIns="0" bIns="0" rtlCol="0" anchor="ctr"/>
          <a:lstStyle/>
          <a:p>
            <a:pPr indent="0" marL="0">
              <a:buNone/>
            </a:pPr>
            <a:r>
              <a:rPr lang="en-US" sz="1100" b="1" dirty="0">
                <a:solidFill>
                  <a:srgbClr val="0E8C86"/>
                </a:solidFill>
                <a:latin typeface="Montserrat" pitchFamily="34" charset="0"/>
                <a:ea typeface="Montserrat" pitchFamily="34" charset="-122"/>
                <a:cs typeface="Montserrat" pitchFamily="34" charset="-120"/>
              </a:rPr>
              <a:t>Tech Stack</a:t>
            </a:r>
            <a:endParaRPr lang="en-US" sz="1100" dirty="0"/>
          </a:p>
        </p:txBody>
      </p:sp>
      <p:pic>
        <p:nvPicPr>
          <p:cNvPr id="24" name="Image 5" descr="/home/runner/work/Desa-Marga-Mulya/Desa-Marga-Mulya/deck/assets/build/teal/tech-SiNextdotjs.png">    </p:cNvPr>
          <p:cNvPicPr>
            <a:picLocks noChangeAspect="1"/>
          </p:cNvPicPr>
          <p:nvPr/>
        </p:nvPicPr>
        <p:blipFill>
          <a:blip r:embed="rId7"/>
          <a:stretch>
            <a:fillRect/>
          </a:stretch>
        </p:blipFill>
        <p:spPr>
          <a:xfrm>
            <a:off x="2103120" y="4416552"/>
            <a:ext cx="274320" cy="274320"/>
          </a:xfrm>
          <a:prstGeom prst="rect">
            <a:avLst/>
          </a:prstGeom>
        </p:spPr>
      </p:pic>
      <p:sp>
        <p:nvSpPr>
          <p:cNvPr id="25" name="Text 17"/>
          <p:cNvSpPr/>
          <p:nvPr/>
        </p:nvSpPr>
        <p:spPr>
          <a:xfrm>
            <a:off x="187452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Next.js</a:t>
            </a:r>
            <a:endParaRPr lang="en-US" sz="700" dirty="0"/>
          </a:p>
        </p:txBody>
      </p:sp>
      <p:pic>
        <p:nvPicPr>
          <p:cNvPr id="26" name="Image 6" descr="/home/runner/work/Desa-Marga-Mulya/Desa-Marga-Mulya/deck/assets/build/teal/tech-SiReact.png">    </p:cNvPr>
          <p:cNvPicPr>
            <a:picLocks noChangeAspect="1"/>
          </p:cNvPicPr>
          <p:nvPr/>
        </p:nvPicPr>
        <p:blipFill>
          <a:blip r:embed="rId8"/>
          <a:stretch>
            <a:fillRect/>
          </a:stretch>
        </p:blipFill>
        <p:spPr>
          <a:xfrm>
            <a:off x="2834640" y="4416552"/>
            <a:ext cx="274320" cy="274320"/>
          </a:xfrm>
          <a:prstGeom prst="rect">
            <a:avLst/>
          </a:prstGeom>
        </p:spPr>
      </p:pic>
      <p:sp>
        <p:nvSpPr>
          <p:cNvPr id="27" name="Text 18"/>
          <p:cNvSpPr/>
          <p:nvPr/>
        </p:nvSpPr>
        <p:spPr>
          <a:xfrm>
            <a:off x="260604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React</a:t>
            </a:r>
            <a:endParaRPr lang="en-US" sz="700" dirty="0"/>
          </a:p>
        </p:txBody>
      </p:sp>
      <p:pic>
        <p:nvPicPr>
          <p:cNvPr id="28" name="Image 7" descr="/home/runner/work/Desa-Marga-Mulya/Desa-Marga-Mulya/deck/assets/build/teal/tech-SiTypescript.png">    </p:cNvPr>
          <p:cNvPicPr>
            <a:picLocks noChangeAspect="1"/>
          </p:cNvPicPr>
          <p:nvPr/>
        </p:nvPicPr>
        <p:blipFill>
          <a:blip r:embed="rId9"/>
          <a:stretch>
            <a:fillRect/>
          </a:stretch>
        </p:blipFill>
        <p:spPr>
          <a:xfrm>
            <a:off x="3566160" y="4416552"/>
            <a:ext cx="274320" cy="274320"/>
          </a:xfrm>
          <a:prstGeom prst="rect">
            <a:avLst/>
          </a:prstGeom>
        </p:spPr>
      </p:pic>
      <p:sp>
        <p:nvSpPr>
          <p:cNvPr id="29" name="Text 19"/>
          <p:cNvSpPr/>
          <p:nvPr/>
        </p:nvSpPr>
        <p:spPr>
          <a:xfrm>
            <a:off x="333756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TypeScript</a:t>
            </a:r>
            <a:endParaRPr lang="en-US" sz="700" dirty="0"/>
          </a:p>
        </p:txBody>
      </p:sp>
      <p:pic>
        <p:nvPicPr>
          <p:cNvPr id="30" name="Image 8" descr="/home/runner/work/Desa-Marga-Mulya/Desa-Marga-Mulya/deck/assets/build/teal/tech-SiTailwindcss.png">    </p:cNvPr>
          <p:cNvPicPr>
            <a:picLocks noChangeAspect="1"/>
          </p:cNvPicPr>
          <p:nvPr/>
        </p:nvPicPr>
        <p:blipFill>
          <a:blip r:embed="rId10"/>
          <a:stretch>
            <a:fillRect/>
          </a:stretch>
        </p:blipFill>
        <p:spPr>
          <a:xfrm>
            <a:off x="4297680" y="4416552"/>
            <a:ext cx="274320" cy="274320"/>
          </a:xfrm>
          <a:prstGeom prst="rect">
            <a:avLst/>
          </a:prstGeom>
        </p:spPr>
      </p:pic>
      <p:sp>
        <p:nvSpPr>
          <p:cNvPr id="31" name="Text 20"/>
          <p:cNvSpPr/>
          <p:nvPr/>
        </p:nvSpPr>
        <p:spPr>
          <a:xfrm>
            <a:off x="406908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Tailwind</a:t>
            </a:r>
            <a:endParaRPr lang="en-US" sz="700" dirty="0"/>
          </a:p>
        </p:txBody>
      </p:sp>
      <p:pic>
        <p:nvPicPr>
          <p:cNvPr id="32" name="Image 9" descr="/home/runner/work/Desa-Marga-Mulya/Desa-Marga-Mulya/deck/assets/build/teal/tech-SiPostgresql.png">    </p:cNvPr>
          <p:cNvPicPr>
            <a:picLocks noChangeAspect="1"/>
          </p:cNvPicPr>
          <p:nvPr/>
        </p:nvPicPr>
        <p:blipFill>
          <a:blip r:embed="rId11"/>
          <a:stretch>
            <a:fillRect/>
          </a:stretch>
        </p:blipFill>
        <p:spPr>
          <a:xfrm>
            <a:off x="5029200" y="4416552"/>
            <a:ext cx="274320" cy="274320"/>
          </a:xfrm>
          <a:prstGeom prst="rect">
            <a:avLst/>
          </a:prstGeom>
        </p:spPr>
      </p:pic>
      <p:sp>
        <p:nvSpPr>
          <p:cNvPr id="33" name="Text 21"/>
          <p:cNvSpPr/>
          <p:nvPr/>
        </p:nvSpPr>
        <p:spPr>
          <a:xfrm>
            <a:off x="480060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PostgreSQL</a:t>
            </a:r>
            <a:endParaRPr lang="en-US" sz="700" dirty="0"/>
          </a:p>
        </p:txBody>
      </p:sp>
      <p:pic>
        <p:nvPicPr>
          <p:cNvPr id="34" name="Image 10" descr="/home/runner/work/Desa-Marga-Mulya/Desa-Marga-Mulya/deck/assets/build/teal/tech-SiVercel.png">    </p:cNvPr>
          <p:cNvPicPr>
            <a:picLocks noChangeAspect="1"/>
          </p:cNvPicPr>
          <p:nvPr/>
        </p:nvPicPr>
        <p:blipFill>
          <a:blip r:embed="rId12"/>
          <a:stretch>
            <a:fillRect/>
          </a:stretch>
        </p:blipFill>
        <p:spPr>
          <a:xfrm>
            <a:off x="5760720" y="4416552"/>
            <a:ext cx="274320" cy="274320"/>
          </a:xfrm>
          <a:prstGeom prst="rect">
            <a:avLst/>
          </a:prstGeom>
        </p:spPr>
      </p:pic>
      <p:sp>
        <p:nvSpPr>
          <p:cNvPr id="35" name="Text 22"/>
          <p:cNvSpPr/>
          <p:nvPr/>
        </p:nvSpPr>
        <p:spPr>
          <a:xfrm>
            <a:off x="553212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Vercel</a:t>
            </a:r>
            <a:endParaRPr lang="en-US" sz="700" dirty="0"/>
          </a:p>
        </p:txBody>
      </p:sp>
      <p:pic>
        <p:nvPicPr>
          <p:cNvPr id="36" name="Image 11" descr="/home/runner/work/Desa-Marga-Mulya/Desa-Marga-Mulya/deck/assets/build/teal/tech-SiGooglegemini.png">    </p:cNvPr>
          <p:cNvPicPr>
            <a:picLocks noChangeAspect="1"/>
          </p:cNvPicPr>
          <p:nvPr/>
        </p:nvPicPr>
        <p:blipFill>
          <a:blip r:embed="rId13"/>
          <a:stretch>
            <a:fillRect/>
          </a:stretch>
        </p:blipFill>
        <p:spPr>
          <a:xfrm>
            <a:off x="6492240" y="4416552"/>
            <a:ext cx="274320" cy="274320"/>
          </a:xfrm>
          <a:prstGeom prst="rect">
            <a:avLst/>
          </a:prstGeom>
        </p:spPr>
      </p:pic>
      <p:sp>
        <p:nvSpPr>
          <p:cNvPr id="37" name="Text 23"/>
          <p:cNvSpPr/>
          <p:nvPr/>
        </p:nvSpPr>
        <p:spPr>
          <a:xfrm>
            <a:off x="626364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Gemini AI</a:t>
            </a:r>
            <a:endParaRPr lang="en-US" sz="700" dirty="0"/>
          </a:p>
        </p:txBody>
      </p:sp>
      <p:pic>
        <p:nvPicPr>
          <p:cNvPr id="38" name="Image 12" descr="/home/runner/work/Desa-Marga-Mulya/Desa-Marga-Mulya/deck/assets/build/teal/tech-SiLeaflet.png">    </p:cNvPr>
          <p:cNvPicPr>
            <a:picLocks noChangeAspect="1"/>
          </p:cNvPicPr>
          <p:nvPr/>
        </p:nvPicPr>
        <p:blipFill>
          <a:blip r:embed="rId14"/>
          <a:stretch>
            <a:fillRect/>
          </a:stretch>
        </p:blipFill>
        <p:spPr>
          <a:xfrm>
            <a:off x="7223760" y="4416552"/>
            <a:ext cx="274320" cy="274320"/>
          </a:xfrm>
          <a:prstGeom prst="rect">
            <a:avLst/>
          </a:prstGeom>
        </p:spPr>
      </p:pic>
      <p:sp>
        <p:nvSpPr>
          <p:cNvPr id="39" name="Text 24"/>
          <p:cNvSpPr/>
          <p:nvPr/>
        </p:nvSpPr>
        <p:spPr>
          <a:xfrm>
            <a:off x="699516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Leaflet</a:t>
            </a:r>
            <a:endParaRPr lang="en-US" sz="700" dirty="0"/>
          </a:p>
        </p:txBody>
      </p:sp>
      <p:pic>
        <p:nvPicPr>
          <p:cNvPr id="40" name="Image 13" descr="/home/runner/work/Desa-Marga-Mulya/Desa-Marga-Mulya/deck/assets/build/teal/tech-SiGithubactions.png">    </p:cNvPr>
          <p:cNvPicPr>
            <a:picLocks noChangeAspect="1"/>
          </p:cNvPicPr>
          <p:nvPr/>
        </p:nvPicPr>
        <p:blipFill>
          <a:blip r:embed="rId15"/>
          <a:stretch>
            <a:fillRect/>
          </a:stretch>
        </p:blipFill>
        <p:spPr>
          <a:xfrm>
            <a:off x="7955280" y="4416552"/>
            <a:ext cx="274320" cy="274320"/>
          </a:xfrm>
          <a:prstGeom prst="rect">
            <a:avLst/>
          </a:prstGeom>
        </p:spPr>
      </p:pic>
      <p:sp>
        <p:nvSpPr>
          <p:cNvPr id="41" name="Text 25"/>
          <p:cNvSpPr/>
          <p:nvPr/>
        </p:nvSpPr>
        <p:spPr>
          <a:xfrm>
            <a:off x="7726680" y="4709160"/>
            <a:ext cx="731520" cy="182880"/>
          </a:xfrm>
          <a:prstGeom prst="rect">
            <a:avLst/>
          </a:prstGeom>
          <a:noFill/>
          <a:ln/>
        </p:spPr>
        <p:txBody>
          <a:bodyPr wrap="square" lIns="0" tIns="0" rIns="0" bIns="0" rtlCol="0" anchor="t"/>
          <a:lstStyle/>
          <a:p>
            <a:pPr algn="ctr" indent="0" marL="0">
              <a:buNone/>
            </a:pPr>
            <a:r>
              <a:rPr lang="en-US" sz="700" dirty="0">
                <a:solidFill>
                  <a:srgbClr val="4B6360"/>
                </a:solidFill>
                <a:latin typeface="Montserrat" pitchFamily="34" charset="0"/>
                <a:ea typeface="Montserrat" pitchFamily="34" charset="-122"/>
                <a:cs typeface="Montserrat" pitchFamily="34" charset="-120"/>
              </a:rPr>
              <a:t>CI tests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Problem</a:t>
            </a:r>
            <a:endParaRPr lang="en-US" sz="900" dirty="0"/>
          </a:p>
        </p:txBody>
      </p:sp>
      <p:sp>
        <p:nvSpPr>
          <p:cNvPr id="3" name="Text 1"/>
          <p:cNvSpPr/>
          <p:nvPr/>
        </p:nvSpPr>
        <p:spPr>
          <a:xfrm>
            <a:off x="210312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Gateway</a:t>
            </a:r>
            <a:endParaRPr lang="en-US" sz="900" dirty="0"/>
          </a:p>
        </p:txBody>
      </p:sp>
      <p:sp>
        <p:nvSpPr>
          <p:cNvPr id="4" name="Text 2"/>
          <p:cNvSpPr/>
          <p:nvPr/>
        </p:nvSpPr>
        <p:spPr>
          <a:xfrm>
            <a:off x="374904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Solution</a:t>
            </a:r>
            <a:endParaRPr lang="en-US" sz="900" dirty="0"/>
          </a:p>
        </p:txBody>
      </p:sp>
      <p:sp>
        <p:nvSpPr>
          <p:cNvPr id="5" name="Text 3"/>
          <p:cNvSpPr/>
          <p:nvPr/>
        </p:nvSpPr>
        <p:spPr>
          <a:xfrm>
            <a:off x="5394960" y="146304"/>
            <a:ext cx="1645920" cy="228600"/>
          </a:xfrm>
          <a:prstGeom prst="rect">
            <a:avLst/>
          </a:prstGeom>
          <a:noFill/>
          <a:ln/>
        </p:spPr>
        <p:txBody>
          <a:bodyPr wrap="square" lIns="0" tIns="0" rIns="0" bIns="0" rtlCol="0" anchor="t"/>
          <a:lstStyle/>
          <a:p>
            <a:pPr algn="ctr" indent="0" marL="0">
              <a:buNone/>
            </a:pPr>
            <a:r>
              <a:rPr lang="en-US" sz="900" dirty="0">
                <a:solidFill>
                  <a:srgbClr val="9AA7A4"/>
                </a:solidFill>
                <a:latin typeface="Montserrat" pitchFamily="34" charset="0"/>
                <a:ea typeface="Montserrat" pitchFamily="34" charset="-122"/>
                <a:cs typeface="Montserrat" pitchFamily="34" charset="-120"/>
              </a:rPr>
              <a:t>Demo</a:t>
            </a:r>
            <a:endParaRPr lang="en-US" sz="900" dirty="0"/>
          </a:p>
        </p:txBody>
      </p:sp>
      <p:sp>
        <p:nvSpPr>
          <p:cNvPr id="6" name="Shape 4"/>
          <p:cNvSpPr/>
          <p:nvPr/>
        </p:nvSpPr>
        <p:spPr>
          <a:xfrm>
            <a:off x="7315200" y="91440"/>
            <a:ext cx="1097280" cy="32004"/>
          </a:xfrm>
          <a:prstGeom prst="rect">
            <a:avLst/>
          </a:prstGeom>
          <a:solidFill>
            <a:srgbClr val="0E8C86"/>
          </a:solidFill>
          <a:ln w="12700">
            <a:solidFill>
              <a:srgbClr val="0E8C86"/>
            </a:solidFill>
            <a:prstDash val="solid"/>
          </a:ln>
        </p:spPr>
      </p:sp>
      <p:sp>
        <p:nvSpPr>
          <p:cNvPr id="7" name="Text 5"/>
          <p:cNvSpPr/>
          <p:nvPr/>
        </p:nvSpPr>
        <p:spPr>
          <a:xfrm>
            <a:off x="7040880" y="146304"/>
            <a:ext cx="1645920" cy="228600"/>
          </a:xfrm>
          <a:prstGeom prst="rect">
            <a:avLst/>
          </a:prstGeom>
          <a:noFill/>
          <a:ln/>
        </p:spPr>
        <p:txBody>
          <a:bodyPr wrap="square" lIns="0" tIns="0" rIns="0" bIns="0" rtlCol="0" anchor="t"/>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Impact</a:t>
            </a:r>
            <a:endParaRPr lang="en-US" sz="900" dirty="0"/>
          </a:p>
        </p:txBody>
      </p:sp>
      <p:sp>
        <p:nvSpPr>
          <p:cNvPr id="8" name="Text 6"/>
          <p:cNvSpPr/>
          <p:nvPr/>
        </p:nvSpPr>
        <p:spPr>
          <a:xfrm>
            <a:off x="457200" y="457200"/>
            <a:ext cx="8229600" cy="502920"/>
          </a:xfrm>
          <a:prstGeom prst="rect">
            <a:avLst/>
          </a:prstGeom>
          <a:noFill/>
          <a:ln/>
        </p:spPr>
        <p:txBody>
          <a:bodyPr wrap="square" lIns="0" tIns="0" rIns="0" bIns="0" rtlCol="0" anchor="t"/>
          <a:lstStyle/>
          <a:p>
            <a:pPr algn="ctr" indent="0" marL="0">
              <a:buNone/>
            </a:pPr>
            <a:r>
              <a:rPr lang="en-US" sz="2600" b="1" dirty="0">
                <a:solidFill>
                  <a:srgbClr val="0B3B38"/>
                </a:solidFill>
                <a:latin typeface="Montserrat" pitchFamily="34" charset="0"/>
                <a:ea typeface="Montserrat" pitchFamily="34" charset="-122"/>
                <a:cs typeface="Montserrat" pitchFamily="34" charset="-120"/>
              </a:rPr>
              <a:t>A True Win-Win-Win</a:t>
            </a:r>
            <a:endParaRPr lang="en-US" sz="2600" dirty="0"/>
          </a:p>
        </p:txBody>
      </p:sp>
      <p:sp>
        <p:nvSpPr>
          <p:cNvPr id="9" name="Text 7"/>
          <p:cNvSpPr/>
          <p:nvPr/>
        </p:nvSpPr>
        <p:spPr>
          <a:xfrm>
            <a:off x="457200" y="950976"/>
            <a:ext cx="8229600" cy="274320"/>
          </a:xfrm>
          <a:prstGeom prst="rect">
            <a:avLst/>
          </a:prstGeom>
          <a:noFill/>
          <a:ln/>
        </p:spPr>
        <p:txBody>
          <a:bodyPr wrap="square" lIns="0" tIns="0" rIns="0" bIns="0" rtlCol="0" anchor="t"/>
          <a:lstStyle/>
          <a:p>
            <a:pPr algn="ctr" indent="0" marL="0">
              <a:buNone/>
            </a:pPr>
            <a:r>
              <a:rPr lang="en-US" sz="1200" b="1" dirty="0">
                <a:solidFill>
                  <a:srgbClr val="4B6360"/>
                </a:solidFill>
                <a:latin typeface="Montserrat" pitchFamily="34" charset="0"/>
                <a:ea typeface="Montserrat" pitchFamily="34" charset="-122"/>
                <a:cs typeface="Montserrat" pitchFamily="34" charset="-120"/>
              </a:rPr>
              <a:t>Impact &amp; feasibility</a:t>
            </a:r>
            <a:endParaRPr lang="en-US" sz="1200" dirty="0"/>
          </a:p>
        </p:txBody>
      </p:sp>
      <p:sp>
        <p:nvSpPr>
          <p:cNvPr id="10" name="Shape 8"/>
          <p:cNvSpPr/>
          <p:nvPr/>
        </p:nvSpPr>
        <p:spPr>
          <a:xfrm>
            <a:off x="685800" y="1371600"/>
            <a:ext cx="2331720" cy="2880360"/>
          </a:xfrm>
          <a:prstGeom prst="roundRect">
            <a:avLst>
              <a:gd name="adj" fmla="val 7843"/>
            </a:avLst>
          </a:prstGeom>
          <a:solidFill>
            <a:srgbClr val="0B3B38"/>
          </a:solidFill>
          <a:ln w="12700">
            <a:solidFill>
              <a:srgbClr val="0B3B38"/>
            </a:solidFill>
            <a:prstDash val="solid"/>
          </a:ln>
          <a:effectLst>
            <a:outerShdw sx="100000" sy="100000" kx="0" ky="0" algn="bl" rotWithShape="0" blurRad="127000" dist="38100" dir="5400000">
              <a:srgbClr val="0B3B38">
                <a:alpha val="18000"/>
              </a:srgbClr>
            </a:outerShdw>
          </a:effectLst>
        </p:spPr>
      </p:sp>
      <p:sp>
        <p:nvSpPr>
          <p:cNvPr id="11" name="Text 9"/>
          <p:cNvSpPr/>
          <p:nvPr/>
        </p:nvSpPr>
        <p:spPr>
          <a:xfrm>
            <a:off x="685800" y="1572768"/>
            <a:ext cx="2331720" cy="365760"/>
          </a:xfrm>
          <a:prstGeom prst="rect">
            <a:avLst/>
          </a:prstGeom>
          <a:noFill/>
          <a:ln/>
        </p:spPr>
        <p:txBody>
          <a:bodyPr wrap="square" lIns="0" tIns="0" rIns="0" bIns="0" rtlCol="0" anchor="t"/>
          <a:lstStyle/>
          <a:p>
            <a:pPr algn="ctr" indent="0" marL="0">
              <a:buNone/>
            </a:pPr>
            <a:r>
              <a:rPr lang="en-US" sz="1700" b="1" dirty="0">
                <a:solidFill>
                  <a:srgbClr val="FFFFFF"/>
                </a:solidFill>
                <a:latin typeface="Montserrat" pitchFamily="34" charset="0"/>
                <a:ea typeface="Montserrat" pitchFamily="34" charset="-122"/>
                <a:cs typeface="Montserrat" pitchFamily="34" charset="-120"/>
              </a:rPr>
              <a:t>Residents</a:t>
            </a:r>
            <a:endParaRPr lang="en-US" sz="1700" dirty="0"/>
          </a:p>
        </p:txBody>
      </p:sp>
      <p:sp>
        <p:nvSpPr>
          <p:cNvPr id="12" name="Text 10"/>
          <p:cNvSpPr/>
          <p:nvPr/>
        </p:nvSpPr>
        <p:spPr>
          <a:xfrm>
            <a:off x="914400" y="2148840"/>
            <a:ext cx="960120" cy="457200"/>
          </a:xfrm>
          <a:prstGeom prst="rect">
            <a:avLst/>
          </a:prstGeom>
          <a:noFill/>
          <a:ln/>
        </p:spPr>
        <p:txBody>
          <a:bodyPr wrap="square" lIns="0" tIns="0" rIns="0" bIns="0" rtlCol="0" anchor="ctr"/>
          <a:lstStyle/>
          <a:p>
            <a:pPr indent="0" marL="0">
              <a:buNone/>
            </a:pPr>
            <a:r>
              <a:rPr lang="en-US" sz="2200" b="1" dirty="0">
                <a:solidFill>
                  <a:srgbClr val="7FE3D8"/>
                </a:solidFill>
                <a:latin typeface="Montserrat" pitchFamily="34" charset="0"/>
                <a:ea typeface="Montserrat" pitchFamily="34" charset="-122"/>
                <a:cs typeface="Montserrat" pitchFamily="34" charset="-120"/>
              </a:rPr>
              <a:t>7</a:t>
            </a:r>
            <a:endParaRPr lang="en-US" sz="2200" dirty="0"/>
          </a:p>
        </p:txBody>
      </p:sp>
      <p:sp>
        <p:nvSpPr>
          <p:cNvPr id="13" name="Text 11"/>
          <p:cNvSpPr/>
          <p:nvPr/>
        </p:nvSpPr>
        <p:spPr>
          <a:xfrm>
            <a:off x="1874520" y="2148840"/>
            <a:ext cx="1005840" cy="457200"/>
          </a:xfrm>
          <a:prstGeom prst="rect">
            <a:avLst/>
          </a:prstGeom>
          <a:noFill/>
          <a:ln/>
        </p:spPr>
        <p:txBody>
          <a:bodyPr wrap="square" lIns="0" tIns="0" rIns="0" bIns="0" rtlCol="0" anchor="ctr"/>
          <a:lstStyle/>
          <a:p>
            <a:pPr indent="0" marL="0">
              <a:buNone/>
            </a:pPr>
            <a:r>
              <a:rPr lang="en-US" sz="900" b="1" dirty="0">
                <a:solidFill>
                  <a:srgbClr val="FFFFFF"/>
                </a:solidFill>
                <a:latin typeface="Montserrat" pitchFamily="34" charset="0"/>
                <a:ea typeface="Montserrat" pitchFamily="34" charset="-122"/>
                <a:cs typeface="Montserrat" pitchFamily="34" charset="-120"/>
              </a:rPr>
              <a:t>services with checklists</a:t>
            </a:r>
            <a:endParaRPr lang="en-US" sz="900" dirty="0"/>
          </a:p>
        </p:txBody>
      </p:sp>
      <p:sp>
        <p:nvSpPr>
          <p:cNvPr id="14" name="Text 12"/>
          <p:cNvSpPr/>
          <p:nvPr/>
        </p:nvSpPr>
        <p:spPr>
          <a:xfrm>
            <a:off x="914400" y="2816352"/>
            <a:ext cx="960120" cy="457200"/>
          </a:xfrm>
          <a:prstGeom prst="rect">
            <a:avLst/>
          </a:prstGeom>
          <a:noFill/>
          <a:ln/>
        </p:spPr>
        <p:txBody>
          <a:bodyPr wrap="square" lIns="0" tIns="0" rIns="0" bIns="0" rtlCol="0" anchor="ctr"/>
          <a:lstStyle/>
          <a:p>
            <a:pPr indent="0" marL="0">
              <a:buNone/>
            </a:pPr>
            <a:r>
              <a:rPr lang="en-US" sz="2200" b="1" dirty="0">
                <a:solidFill>
                  <a:srgbClr val="7FE3D8"/>
                </a:solidFill>
                <a:latin typeface="Montserrat" pitchFamily="34" charset="0"/>
                <a:ea typeface="Montserrat" pitchFamily="34" charset="-122"/>
                <a:cs typeface="Montserrat" pitchFamily="34" charset="-120"/>
              </a:rPr>
              <a:t>24/7</a:t>
            </a:r>
            <a:endParaRPr lang="en-US" sz="2200" dirty="0"/>
          </a:p>
        </p:txBody>
      </p:sp>
      <p:sp>
        <p:nvSpPr>
          <p:cNvPr id="15" name="Text 13"/>
          <p:cNvSpPr/>
          <p:nvPr/>
        </p:nvSpPr>
        <p:spPr>
          <a:xfrm>
            <a:off x="1874520" y="2816352"/>
            <a:ext cx="1005840" cy="457200"/>
          </a:xfrm>
          <a:prstGeom prst="rect">
            <a:avLst/>
          </a:prstGeom>
          <a:noFill/>
          <a:ln/>
        </p:spPr>
        <p:txBody>
          <a:bodyPr wrap="square" lIns="0" tIns="0" rIns="0" bIns="0" rtlCol="0" anchor="ctr"/>
          <a:lstStyle/>
          <a:p>
            <a:pPr indent="0" marL="0">
              <a:buNone/>
            </a:pPr>
            <a:r>
              <a:rPr lang="en-US" sz="900" b="1" dirty="0">
                <a:solidFill>
                  <a:srgbClr val="FFFFFF"/>
                </a:solidFill>
                <a:latin typeface="Montserrat" pitchFamily="34" charset="0"/>
                <a:ea typeface="Montserrat" pitchFamily="34" charset="-122"/>
                <a:cs typeface="Montserrat" pitchFamily="34" charset="-120"/>
              </a:rPr>
              <a:t>AI answers</a:t>
            </a:r>
            <a:endParaRPr lang="en-US" sz="900" dirty="0"/>
          </a:p>
        </p:txBody>
      </p:sp>
      <p:sp>
        <p:nvSpPr>
          <p:cNvPr id="16" name="Text 14"/>
          <p:cNvSpPr/>
          <p:nvPr/>
        </p:nvSpPr>
        <p:spPr>
          <a:xfrm>
            <a:off x="914400" y="3483864"/>
            <a:ext cx="960120" cy="457200"/>
          </a:xfrm>
          <a:prstGeom prst="rect">
            <a:avLst/>
          </a:prstGeom>
          <a:noFill/>
          <a:ln/>
        </p:spPr>
        <p:txBody>
          <a:bodyPr wrap="square" lIns="0" tIns="0" rIns="0" bIns="0" rtlCol="0" anchor="ctr"/>
          <a:lstStyle/>
          <a:p>
            <a:pPr indent="0" marL="0">
              <a:buNone/>
            </a:pPr>
            <a:r>
              <a:rPr lang="en-US" sz="2200" b="1" dirty="0">
                <a:solidFill>
                  <a:srgbClr val="7FE3D8"/>
                </a:solidFill>
                <a:latin typeface="Montserrat" pitchFamily="34" charset="0"/>
                <a:ea typeface="Montserrat" pitchFamily="34" charset="-122"/>
                <a:cs typeface="Montserrat" pitchFamily="34" charset="-120"/>
              </a:rPr>
              <a:t>0</a:t>
            </a:r>
            <a:endParaRPr lang="en-US" sz="2200" dirty="0"/>
          </a:p>
        </p:txBody>
      </p:sp>
      <p:sp>
        <p:nvSpPr>
          <p:cNvPr id="17" name="Text 15"/>
          <p:cNvSpPr/>
          <p:nvPr/>
        </p:nvSpPr>
        <p:spPr>
          <a:xfrm>
            <a:off x="1874520" y="3483864"/>
            <a:ext cx="1005840" cy="457200"/>
          </a:xfrm>
          <a:prstGeom prst="rect">
            <a:avLst/>
          </a:prstGeom>
          <a:noFill/>
          <a:ln/>
        </p:spPr>
        <p:txBody>
          <a:bodyPr wrap="square" lIns="0" tIns="0" rIns="0" bIns="0" rtlCol="0" anchor="ctr"/>
          <a:lstStyle/>
          <a:p>
            <a:pPr indent="0" marL="0">
              <a:buNone/>
            </a:pPr>
            <a:r>
              <a:rPr lang="en-US" sz="900" b="1" dirty="0">
                <a:solidFill>
                  <a:srgbClr val="FFFFFF"/>
                </a:solidFill>
                <a:latin typeface="Montserrat" pitchFamily="34" charset="0"/>
                <a:ea typeface="Montserrat" pitchFamily="34" charset="-122"/>
                <a:cs typeface="Montserrat" pitchFamily="34" charset="-120"/>
              </a:rPr>
              <a:t>trips just to ask</a:t>
            </a:r>
            <a:endParaRPr lang="en-US" sz="900" dirty="0"/>
          </a:p>
        </p:txBody>
      </p:sp>
      <p:sp>
        <p:nvSpPr>
          <p:cNvPr id="18" name="Shape 16"/>
          <p:cNvSpPr/>
          <p:nvPr/>
        </p:nvSpPr>
        <p:spPr>
          <a:xfrm>
            <a:off x="3383280" y="1371600"/>
            <a:ext cx="2331720" cy="2880360"/>
          </a:xfrm>
          <a:prstGeom prst="roundRect">
            <a:avLst>
              <a:gd name="adj" fmla="val 7843"/>
            </a:avLst>
          </a:prstGeom>
          <a:solidFill>
            <a:srgbClr val="FFFFFF"/>
          </a:solidFill>
          <a:ln w="12700">
            <a:solidFill>
              <a:srgbClr val="0E8C86"/>
            </a:solidFill>
            <a:prstDash val="solid"/>
          </a:ln>
          <a:effectLst>
            <a:outerShdw sx="100000" sy="100000" kx="0" ky="0" algn="bl" rotWithShape="0" blurRad="127000" dist="38100" dir="5400000">
              <a:srgbClr val="0B3B38">
                <a:alpha val="18000"/>
              </a:srgbClr>
            </a:outerShdw>
          </a:effectLst>
        </p:spPr>
      </p:sp>
      <p:sp>
        <p:nvSpPr>
          <p:cNvPr id="19" name="Text 17"/>
          <p:cNvSpPr/>
          <p:nvPr/>
        </p:nvSpPr>
        <p:spPr>
          <a:xfrm>
            <a:off x="3383280" y="1572768"/>
            <a:ext cx="2331720" cy="365760"/>
          </a:xfrm>
          <a:prstGeom prst="rect">
            <a:avLst/>
          </a:prstGeom>
          <a:noFill/>
          <a:ln/>
        </p:spPr>
        <p:txBody>
          <a:bodyPr wrap="square" lIns="0" tIns="0" rIns="0" bIns="0" rtlCol="0" anchor="t"/>
          <a:lstStyle/>
          <a:p>
            <a:pPr algn="ctr" indent="0" marL="0">
              <a:buNone/>
            </a:pPr>
            <a:r>
              <a:rPr lang="en-US" sz="1700" b="1" dirty="0">
                <a:solidFill>
                  <a:srgbClr val="0B3B38"/>
                </a:solidFill>
                <a:latin typeface="Montserrat" pitchFamily="34" charset="0"/>
                <a:ea typeface="Montserrat" pitchFamily="34" charset="-122"/>
                <a:cs typeface="Montserrat" pitchFamily="34" charset="-120"/>
              </a:rPr>
              <a:t>Village Office</a:t>
            </a:r>
            <a:endParaRPr lang="en-US" sz="1700" dirty="0"/>
          </a:p>
        </p:txBody>
      </p:sp>
      <p:sp>
        <p:nvSpPr>
          <p:cNvPr id="20" name="Text 18"/>
          <p:cNvSpPr/>
          <p:nvPr/>
        </p:nvSpPr>
        <p:spPr>
          <a:xfrm>
            <a:off x="3611880" y="2148840"/>
            <a:ext cx="960120" cy="457200"/>
          </a:xfrm>
          <a:prstGeom prst="rect">
            <a:avLst/>
          </a:prstGeom>
          <a:noFill/>
          <a:ln/>
        </p:spPr>
        <p:txBody>
          <a:bodyPr wrap="square" lIns="0" tIns="0" rIns="0" bIns="0" rtlCol="0" anchor="ctr"/>
          <a:lstStyle/>
          <a:p>
            <a:pPr indent="0" marL="0">
              <a:buNone/>
            </a:pPr>
            <a:r>
              <a:rPr lang="en-US" sz="2200" b="1" dirty="0">
                <a:solidFill>
                  <a:srgbClr val="0E8C86"/>
                </a:solidFill>
                <a:latin typeface="Montserrat" pitchFamily="34" charset="0"/>
                <a:ea typeface="Montserrat" pitchFamily="34" charset="-122"/>
                <a:cs typeface="Montserrat" pitchFamily="34" charset="-120"/>
              </a:rPr>
              <a:t>Rp 0</a:t>
            </a:r>
            <a:endParaRPr lang="en-US" sz="2200" dirty="0"/>
          </a:p>
        </p:txBody>
      </p:sp>
      <p:sp>
        <p:nvSpPr>
          <p:cNvPr id="21" name="Text 19"/>
          <p:cNvSpPr/>
          <p:nvPr/>
        </p:nvSpPr>
        <p:spPr>
          <a:xfrm>
            <a:off x="4572000" y="2148840"/>
            <a:ext cx="1005840" cy="457200"/>
          </a:xfrm>
          <a:prstGeom prst="rect">
            <a:avLst/>
          </a:prstGeom>
          <a:noFill/>
          <a:ln/>
        </p:spPr>
        <p:txBody>
          <a:bodyPr wrap="square" lIns="0" tIns="0" rIns="0" bIns="0" rtlCol="0" anchor="ctr"/>
          <a:lstStyle/>
          <a:p>
            <a:pPr indent="0" marL="0">
              <a:buNone/>
            </a:pPr>
            <a:r>
              <a:rPr lang="en-US" sz="900" b="1" dirty="0">
                <a:solidFill>
                  <a:srgbClr val="0B3B38"/>
                </a:solidFill>
                <a:latin typeface="Montserrat" pitchFamily="34" charset="0"/>
                <a:ea typeface="Montserrat" pitchFamily="34" charset="-122"/>
                <a:cs typeface="Montserrat" pitchFamily="34" charset="-120"/>
              </a:rPr>
              <a:t>monthly hosting</a:t>
            </a:r>
            <a:endParaRPr lang="en-US" sz="900" dirty="0"/>
          </a:p>
        </p:txBody>
      </p:sp>
      <p:sp>
        <p:nvSpPr>
          <p:cNvPr id="22" name="Text 20"/>
          <p:cNvSpPr/>
          <p:nvPr/>
        </p:nvSpPr>
        <p:spPr>
          <a:xfrm>
            <a:off x="3611880" y="2816352"/>
            <a:ext cx="960120" cy="457200"/>
          </a:xfrm>
          <a:prstGeom prst="rect">
            <a:avLst/>
          </a:prstGeom>
          <a:noFill/>
          <a:ln/>
        </p:spPr>
        <p:txBody>
          <a:bodyPr wrap="square" lIns="0" tIns="0" rIns="0" bIns="0" rtlCol="0" anchor="ctr"/>
          <a:lstStyle/>
          <a:p>
            <a:pPr indent="0" marL="0">
              <a:buNone/>
            </a:pPr>
            <a:r>
              <a:rPr lang="en-US" sz="2200" b="1" dirty="0">
                <a:solidFill>
                  <a:srgbClr val="0E8C86"/>
                </a:solidFill>
                <a:latin typeface="Montserrat" pitchFamily="34" charset="0"/>
                <a:ea typeface="Montserrat" pitchFamily="34" charset="-122"/>
                <a:cs typeface="Montserrat" pitchFamily="34" charset="-120"/>
              </a:rPr>
              <a:t>11</a:t>
            </a:r>
            <a:endParaRPr lang="en-US" sz="2200" dirty="0"/>
          </a:p>
        </p:txBody>
      </p:sp>
      <p:sp>
        <p:nvSpPr>
          <p:cNvPr id="23" name="Text 21"/>
          <p:cNvSpPr/>
          <p:nvPr/>
        </p:nvSpPr>
        <p:spPr>
          <a:xfrm>
            <a:off x="4572000" y="2816352"/>
            <a:ext cx="1005840" cy="457200"/>
          </a:xfrm>
          <a:prstGeom prst="rect">
            <a:avLst/>
          </a:prstGeom>
          <a:noFill/>
          <a:ln/>
        </p:spPr>
        <p:txBody>
          <a:bodyPr wrap="square" lIns="0" tIns="0" rIns="0" bIns="0" rtlCol="0" anchor="ctr"/>
          <a:lstStyle/>
          <a:p>
            <a:pPr indent="0" marL="0">
              <a:buNone/>
            </a:pPr>
            <a:r>
              <a:rPr lang="en-US" sz="900" b="1" dirty="0">
                <a:solidFill>
                  <a:srgbClr val="0B3B38"/>
                </a:solidFill>
                <a:latin typeface="Montserrat" pitchFamily="34" charset="0"/>
                <a:ea typeface="Montserrat" pitchFamily="34" charset="-122"/>
                <a:cs typeface="Montserrat" pitchFamily="34" charset="-120"/>
              </a:rPr>
              <a:t>CMS collections</a:t>
            </a:r>
            <a:endParaRPr lang="en-US" sz="900" dirty="0"/>
          </a:p>
        </p:txBody>
      </p:sp>
      <p:sp>
        <p:nvSpPr>
          <p:cNvPr id="24" name="Text 22"/>
          <p:cNvSpPr/>
          <p:nvPr/>
        </p:nvSpPr>
        <p:spPr>
          <a:xfrm>
            <a:off x="3611880" y="3483864"/>
            <a:ext cx="960120" cy="457200"/>
          </a:xfrm>
          <a:prstGeom prst="rect">
            <a:avLst/>
          </a:prstGeom>
          <a:noFill/>
          <a:ln/>
        </p:spPr>
        <p:txBody>
          <a:bodyPr wrap="square" lIns="0" tIns="0" rIns="0" bIns="0" rtlCol="0" anchor="ctr"/>
          <a:lstStyle/>
          <a:p>
            <a:pPr indent="0" marL="0">
              <a:buNone/>
            </a:pPr>
            <a:r>
              <a:rPr lang="en-US" sz="2200" b="1" dirty="0">
                <a:solidFill>
                  <a:srgbClr val="0E8C86"/>
                </a:solidFill>
                <a:latin typeface="Montserrat" pitchFamily="34" charset="0"/>
                <a:ea typeface="Montserrat" pitchFamily="34" charset="-122"/>
                <a:cs typeface="Montserrat" pitchFamily="34" charset="-120"/>
              </a:rPr>
              <a:t>109</a:t>
            </a:r>
            <a:endParaRPr lang="en-US" sz="2200" dirty="0"/>
          </a:p>
        </p:txBody>
      </p:sp>
      <p:sp>
        <p:nvSpPr>
          <p:cNvPr id="25" name="Text 23"/>
          <p:cNvSpPr/>
          <p:nvPr/>
        </p:nvSpPr>
        <p:spPr>
          <a:xfrm>
            <a:off x="4572000" y="3483864"/>
            <a:ext cx="1005840" cy="457200"/>
          </a:xfrm>
          <a:prstGeom prst="rect">
            <a:avLst/>
          </a:prstGeom>
          <a:noFill/>
          <a:ln/>
        </p:spPr>
        <p:txBody>
          <a:bodyPr wrap="square" lIns="0" tIns="0" rIns="0" bIns="0" rtlCol="0" anchor="ctr"/>
          <a:lstStyle/>
          <a:p>
            <a:pPr indent="0" marL="0">
              <a:buNone/>
            </a:pPr>
            <a:r>
              <a:rPr lang="en-US" sz="900" b="1" dirty="0">
                <a:solidFill>
                  <a:srgbClr val="0B3B38"/>
                </a:solidFill>
                <a:latin typeface="Montserrat" pitchFamily="34" charset="0"/>
                <a:ea typeface="Montserrat" pitchFamily="34" charset="-122"/>
                <a:cs typeface="Montserrat" pitchFamily="34" charset="-120"/>
              </a:rPr>
              <a:t>automated checks</a:t>
            </a:r>
            <a:endParaRPr lang="en-US" sz="900" dirty="0"/>
          </a:p>
        </p:txBody>
      </p:sp>
      <p:sp>
        <p:nvSpPr>
          <p:cNvPr id="26" name="Shape 24"/>
          <p:cNvSpPr/>
          <p:nvPr/>
        </p:nvSpPr>
        <p:spPr>
          <a:xfrm>
            <a:off x="6080760" y="1371600"/>
            <a:ext cx="2331720" cy="2880360"/>
          </a:xfrm>
          <a:prstGeom prst="roundRect">
            <a:avLst>
              <a:gd name="adj" fmla="val 7843"/>
            </a:avLst>
          </a:prstGeom>
          <a:solidFill>
            <a:srgbClr val="0B3B38"/>
          </a:solidFill>
          <a:ln w="12700">
            <a:solidFill>
              <a:srgbClr val="0B3B38"/>
            </a:solidFill>
            <a:prstDash val="solid"/>
          </a:ln>
          <a:effectLst>
            <a:outerShdw sx="100000" sy="100000" kx="0" ky="0" algn="bl" rotWithShape="0" blurRad="127000" dist="38100" dir="5400000">
              <a:srgbClr val="0B3B38">
                <a:alpha val="18000"/>
              </a:srgbClr>
            </a:outerShdw>
          </a:effectLst>
        </p:spPr>
      </p:sp>
      <p:sp>
        <p:nvSpPr>
          <p:cNvPr id="27" name="Text 25"/>
          <p:cNvSpPr/>
          <p:nvPr/>
        </p:nvSpPr>
        <p:spPr>
          <a:xfrm>
            <a:off x="6080760" y="1572768"/>
            <a:ext cx="2331720" cy="365760"/>
          </a:xfrm>
          <a:prstGeom prst="rect">
            <a:avLst/>
          </a:prstGeom>
          <a:noFill/>
          <a:ln/>
        </p:spPr>
        <p:txBody>
          <a:bodyPr wrap="square" lIns="0" tIns="0" rIns="0" bIns="0" rtlCol="0" anchor="t"/>
          <a:lstStyle/>
          <a:p>
            <a:pPr algn="ctr" indent="0" marL="0">
              <a:buNone/>
            </a:pPr>
            <a:r>
              <a:rPr lang="en-US" sz="1700" b="1" dirty="0">
                <a:solidFill>
                  <a:srgbClr val="FFFFFF"/>
                </a:solidFill>
                <a:latin typeface="Montserrat" pitchFamily="34" charset="0"/>
                <a:ea typeface="Montserrat" pitchFamily="34" charset="-122"/>
                <a:cs typeface="Montserrat" pitchFamily="34" charset="-120"/>
              </a:rPr>
              <a:t>Businesses</a:t>
            </a:r>
            <a:endParaRPr lang="en-US" sz="1700" dirty="0"/>
          </a:p>
        </p:txBody>
      </p:sp>
      <p:sp>
        <p:nvSpPr>
          <p:cNvPr id="28" name="Text 26"/>
          <p:cNvSpPr/>
          <p:nvPr/>
        </p:nvSpPr>
        <p:spPr>
          <a:xfrm>
            <a:off x="6309360" y="2148840"/>
            <a:ext cx="960120" cy="457200"/>
          </a:xfrm>
          <a:prstGeom prst="rect">
            <a:avLst/>
          </a:prstGeom>
          <a:noFill/>
          <a:ln/>
        </p:spPr>
        <p:txBody>
          <a:bodyPr wrap="square" lIns="0" tIns="0" rIns="0" bIns="0" rtlCol="0" anchor="ctr"/>
          <a:lstStyle/>
          <a:p>
            <a:pPr indent="0" marL="0">
              <a:buNone/>
            </a:pPr>
            <a:r>
              <a:rPr lang="en-US" sz="2200" b="1" dirty="0">
                <a:solidFill>
                  <a:srgbClr val="7FE3D8"/>
                </a:solidFill>
                <a:latin typeface="Montserrat" pitchFamily="34" charset="0"/>
                <a:ea typeface="Montserrat" pitchFamily="34" charset="-122"/>
                <a:cs typeface="Montserrat" pitchFamily="34" charset="-120"/>
              </a:rPr>
              <a:t>0%</a:t>
            </a:r>
            <a:endParaRPr lang="en-US" sz="2200" dirty="0"/>
          </a:p>
        </p:txBody>
      </p:sp>
      <p:sp>
        <p:nvSpPr>
          <p:cNvPr id="29" name="Text 27"/>
          <p:cNvSpPr/>
          <p:nvPr/>
        </p:nvSpPr>
        <p:spPr>
          <a:xfrm>
            <a:off x="7269480" y="2148840"/>
            <a:ext cx="1005840" cy="457200"/>
          </a:xfrm>
          <a:prstGeom prst="rect">
            <a:avLst/>
          </a:prstGeom>
          <a:noFill/>
          <a:ln/>
        </p:spPr>
        <p:txBody>
          <a:bodyPr wrap="square" lIns="0" tIns="0" rIns="0" bIns="0" rtlCol="0" anchor="ctr"/>
          <a:lstStyle/>
          <a:p>
            <a:pPr indent="0" marL="0">
              <a:buNone/>
            </a:pPr>
            <a:r>
              <a:rPr lang="en-US" sz="900" b="1" dirty="0">
                <a:solidFill>
                  <a:srgbClr val="FFFFFF"/>
                </a:solidFill>
                <a:latin typeface="Montserrat" pitchFamily="34" charset="0"/>
                <a:ea typeface="Montserrat" pitchFamily="34" charset="-122"/>
                <a:cs typeface="Montserrat" pitchFamily="34" charset="-120"/>
              </a:rPr>
              <a:t>commission</a:t>
            </a:r>
            <a:endParaRPr lang="en-US" sz="900" dirty="0"/>
          </a:p>
        </p:txBody>
      </p:sp>
      <p:sp>
        <p:nvSpPr>
          <p:cNvPr id="30" name="Text 28"/>
          <p:cNvSpPr/>
          <p:nvPr/>
        </p:nvSpPr>
        <p:spPr>
          <a:xfrm>
            <a:off x="6309360" y="2816352"/>
            <a:ext cx="960120" cy="457200"/>
          </a:xfrm>
          <a:prstGeom prst="rect">
            <a:avLst/>
          </a:prstGeom>
          <a:noFill/>
          <a:ln/>
        </p:spPr>
        <p:txBody>
          <a:bodyPr wrap="square" lIns="0" tIns="0" rIns="0" bIns="0" rtlCol="0" anchor="ctr"/>
          <a:lstStyle/>
          <a:p>
            <a:pPr indent="0" marL="0">
              <a:buNone/>
            </a:pPr>
            <a:r>
              <a:rPr lang="en-US" sz="2200" b="1" dirty="0">
                <a:solidFill>
                  <a:srgbClr val="7FE3D8"/>
                </a:solidFill>
                <a:latin typeface="Montserrat" pitchFamily="34" charset="0"/>
                <a:ea typeface="Montserrat" pitchFamily="34" charset="-122"/>
                <a:cs typeface="Montserrat" pitchFamily="34" charset="-120"/>
              </a:rPr>
              <a:t>3</a:t>
            </a:r>
            <a:endParaRPr lang="en-US" sz="2200" dirty="0"/>
          </a:p>
        </p:txBody>
      </p:sp>
      <p:sp>
        <p:nvSpPr>
          <p:cNvPr id="31" name="Text 29"/>
          <p:cNvSpPr/>
          <p:nvPr/>
        </p:nvSpPr>
        <p:spPr>
          <a:xfrm>
            <a:off x="7269480" y="2816352"/>
            <a:ext cx="1005840" cy="457200"/>
          </a:xfrm>
          <a:prstGeom prst="rect">
            <a:avLst/>
          </a:prstGeom>
          <a:noFill/>
          <a:ln/>
        </p:spPr>
        <p:txBody>
          <a:bodyPr wrap="square" lIns="0" tIns="0" rIns="0" bIns="0" rtlCol="0" anchor="ctr"/>
          <a:lstStyle/>
          <a:p>
            <a:pPr indent="0" marL="0">
              <a:buNone/>
            </a:pPr>
            <a:r>
              <a:rPr lang="en-US" sz="900" b="1" dirty="0">
                <a:solidFill>
                  <a:srgbClr val="FFFFFF"/>
                </a:solidFill>
                <a:latin typeface="Montserrat" pitchFamily="34" charset="0"/>
                <a:ea typeface="Montserrat" pitchFamily="34" charset="-122"/>
                <a:cs typeface="Montserrat" pitchFamily="34" charset="-120"/>
              </a:rPr>
              <a:t>steps to WhatsApp order</a:t>
            </a:r>
            <a:endParaRPr lang="en-US" sz="900" dirty="0"/>
          </a:p>
        </p:txBody>
      </p:sp>
      <p:sp>
        <p:nvSpPr>
          <p:cNvPr id="32" name="Text 30"/>
          <p:cNvSpPr/>
          <p:nvPr/>
        </p:nvSpPr>
        <p:spPr>
          <a:xfrm>
            <a:off x="6309360" y="3483864"/>
            <a:ext cx="960120" cy="457200"/>
          </a:xfrm>
          <a:prstGeom prst="rect">
            <a:avLst/>
          </a:prstGeom>
          <a:noFill/>
          <a:ln/>
        </p:spPr>
        <p:txBody>
          <a:bodyPr wrap="square" lIns="0" tIns="0" rIns="0" bIns="0" rtlCol="0" anchor="ctr"/>
          <a:lstStyle/>
          <a:p>
            <a:pPr indent="0" marL="0">
              <a:buNone/>
            </a:pPr>
            <a:r>
              <a:rPr lang="en-US" sz="2200" b="1" dirty="0">
                <a:solidFill>
                  <a:srgbClr val="7FE3D8"/>
                </a:solidFill>
                <a:latin typeface="Montserrat" pitchFamily="34" charset="0"/>
                <a:ea typeface="Montserrat" pitchFamily="34" charset="-122"/>
                <a:cs typeface="Montserrat" pitchFamily="34" charset="-120"/>
              </a:rPr>
              <a:t>16</a:t>
            </a:r>
            <a:endParaRPr lang="en-US" sz="2200" dirty="0"/>
          </a:p>
        </p:txBody>
      </p:sp>
      <p:sp>
        <p:nvSpPr>
          <p:cNvPr id="33" name="Text 31"/>
          <p:cNvSpPr/>
          <p:nvPr/>
        </p:nvSpPr>
        <p:spPr>
          <a:xfrm>
            <a:off x="7269480" y="3483864"/>
            <a:ext cx="1005840" cy="457200"/>
          </a:xfrm>
          <a:prstGeom prst="rect">
            <a:avLst/>
          </a:prstGeom>
          <a:noFill/>
          <a:ln/>
        </p:spPr>
        <p:txBody>
          <a:bodyPr wrap="square" lIns="0" tIns="0" rIns="0" bIns="0" rtlCol="0" anchor="ctr"/>
          <a:lstStyle/>
          <a:p>
            <a:pPr indent="0" marL="0">
              <a:buNone/>
            </a:pPr>
            <a:r>
              <a:rPr lang="en-US" sz="900" b="1" dirty="0">
                <a:solidFill>
                  <a:srgbClr val="FFFFFF"/>
                </a:solidFill>
                <a:latin typeface="Montserrat" pitchFamily="34" charset="0"/>
                <a:ea typeface="Montserrat" pitchFamily="34" charset="-122"/>
                <a:cs typeface="Montserrat" pitchFamily="34" charset="-120"/>
              </a:rPr>
              <a:t>products online</a:t>
            </a:r>
            <a:endParaRPr lang="en-US" sz="900" dirty="0"/>
          </a:p>
        </p:txBody>
      </p:sp>
      <p:sp>
        <p:nvSpPr>
          <p:cNvPr id="34" name="Shape 32"/>
          <p:cNvSpPr/>
          <p:nvPr/>
        </p:nvSpPr>
        <p:spPr>
          <a:xfrm>
            <a:off x="868680" y="4462272"/>
            <a:ext cx="1783080" cy="365760"/>
          </a:xfrm>
          <a:prstGeom prst="roundRect">
            <a:avLst>
              <a:gd name="adj" fmla="val 50000"/>
            </a:avLst>
          </a:prstGeom>
          <a:solidFill>
            <a:srgbClr val="FFFFFF"/>
          </a:solidFill>
          <a:ln w="9525">
            <a:solidFill>
              <a:srgbClr val="0E8C86"/>
            </a:solidFill>
            <a:prstDash val="solid"/>
          </a:ln>
        </p:spPr>
      </p:sp>
      <p:sp>
        <p:nvSpPr>
          <p:cNvPr id="35" name="Text 33"/>
          <p:cNvSpPr/>
          <p:nvPr/>
        </p:nvSpPr>
        <p:spPr>
          <a:xfrm>
            <a:off x="868680" y="4462272"/>
            <a:ext cx="1783080" cy="365760"/>
          </a:xfrm>
          <a:prstGeom prst="rect">
            <a:avLst/>
          </a:prstGeom>
          <a:noFill/>
          <a:ln/>
        </p:spPr>
        <p:txBody>
          <a:bodyPr wrap="square" lIns="0" tIns="0" rIns="0" bIns="0" rtlCol="0" anchor="ctr"/>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SDG 8  Decent work</a:t>
            </a:r>
            <a:endParaRPr lang="en-US" sz="900" dirty="0"/>
          </a:p>
        </p:txBody>
      </p:sp>
      <p:sp>
        <p:nvSpPr>
          <p:cNvPr id="36" name="Shape 34"/>
          <p:cNvSpPr/>
          <p:nvPr/>
        </p:nvSpPr>
        <p:spPr>
          <a:xfrm>
            <a:off x="2788920" y="4462272"/>
            <a:ext cx="1783080" cy="365760"/>
          </a:xfrm>
          <a:prstGeom prst="roundRect">
            <a:avLst>
              <a:gd name="adj" fmla="val 50000"/>
            </a:avLst>
          </a:prstGeom>
          <a:solidFill>
            <a:srgbClr val="FFFFFF"/>
          </a:solidFill>
          <a:ln w="9525">
            <a:solidFill>
              <a:srgbClr val="0E8C86"/>
            </a:solidFill>
            <a:prstDash val="solid"/>
          </a:ln>
        </p:spPr>
      </p:sp>
      <p:sp>
        <p:nvSpPr>
          <p:cNvPr id="37" name="Text 35"/>
          <p:cNvSpPr/>
          <p:nvPr/>
        </p:nvSpPr>
        <p:spPr>
          <a:xfrm>
            <a:off x="2788920" y="4462272"/>
            <a:ext cx="1783080" cy="365760"/>
          </a:xfrm>
          <a:prstGeom prst="rect">
            <a:avLst/>
          </a:prstGeom>
          <a:noFill/>
          <a:ln/>
        </p:spPr>
        <p:txBody>
          <a:bodyPr wrap="square" lIns="0" tIns="0" rIns="0" bIns="0" rtlCol="0" anchor="ctr"/>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SDG 9  Innovation</a:t>
            </a:r>
            <a:endParaRPr lang="en-US" sz="900" dirty="0"/>
          </a:p>
        </p:txBody>
      </p:sp>
      <p:sp>
        <p:nvSpPr>
          <p:cNvPr id="38" name="Shape 36"/>
          <p:cNvSpPr/>
          <p:nvPr/>
        </p:nvSpPr>
        <p:spPr>
          <a:xfrm>
            <a:off x="4709160" y="4462272"/>
            <a:ext cx="1783080" cy="365760"/>
          </a:xfrm>
          <a:prstGeom prst="roundRect">
            <a:avLst>
              <a:gd name="adj" fmla="val 50000"/>
            </a:avLst>
          </a:prstGeom>
          <a:solidFill>
            <a:srgbClr val="FFFFFF"/>
          </a:solidFill>
          <a:ln w="9525">
            <a:solidFill>
              <a:srgbClr val="0E8C86"/>
            </a:solidFill>
            <a:prstDash val="solid"/>
          </a:ln>
        </p:spPr>
      </p:sp>
      <p:sp>
        <p:nvSpPr>
          <p:cNvPr id="39" name="Text 37"/>
          <p:cNvSpPr/>
          <p:nvPr/>
        </p:nvSpPr>
        <p:spPr>
          <a:xfrm>
            <a:off x="4709160" y="4462272"/>
            <a:ext cx="1783080" cy="365760"/>
          </a:xfrm>
          <a:prstGeom prst="rect">
            <a:avLst/>
          </a:prstGeom>
          <a:noFill/>
          <a:ln/>
        </p:spPr>
        <p:txBody>
          <a:bodyPr wrap="square" lIns="0" tIns="0" rIns="0" bIns="0" rtlCol="0" anchor="ctr"/>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SDG 11  Communities</a:t>
            </a:r>
            <a:endParaRPr lang="en-US" sz="900" dirty="0"/>
          </a:p>
        </p:txBody>
      </p:sp>
      <p:sp>
        <p:nvSpPr>
          <p:cNvPr id="40" name="Shape 38"/>
          <p:cNvSpPr/>
          <p:nvPr/>
        </p:nvSpPr>
        <p:spPr>
          <a:xfrm>
            <a:off x="6629400" y="4462272"/>
            <a:ext cx="1783080" cy="365760"/>
          </a:xfrm>
          <a:prstGeom prst="roundRect">
            <a:avLst>
              <a:gd name="adj" fmla="val 50000"/>
            </a:avLst>
          </a:prstGeom>
          <a:solidFill>
            <a:srgbClr val="FFFFFF"/>
          </a:solidFill>
          <a:ln w="9525">
            <a:solidFill>
              <a:srgbClr val="0E8C86"/>
            </a:solidFill>
            <a:prstDash val="solid"/>
          </a:ln>
        </p:spPr>
      </p:sp>
      <p:sp>
        <p:nvSpPr>
          <p:cNvPr id="41" name="Text 39"/>
          <p:cNvSpPr/>
          <p:nvPr/>
        </p:nvSpPr>
        <p:spPr>
          <a:xfrm>
            <a:off x="6629400" y="4462272"/>
            <a:ext cx="1783080" cy="365760"/>
          </a:xfrm>
          <a:prstGeom prst="rect">
            <a:avLst/>
          </a:prstGeom>
          <a:noFill/>
          <a:ln/>
        </p:spPr>
        <p:txBody>
          <a:bodyPr wrap="square" lIns="0" tIns="0" rIns="0" bIns="0" rtlCol="0" anchor="ctr"/>
          <a:lstStyle/>
          <a:p>
            <a:pPr algn="ctr" indent="0" marL="0">
              <a:buNone/>
            </a:pPr>
            <a:r>
              <a:rPr lang="en-US" sz="900" b="1" dirty="0">
                <a:solidFill>
                  <a:srgbClr val="0B3B38"/>
                </a:solidFill>
                <a:latin typeface="Montserrat" pitchFamily="34" charset="0"/>
                <a:ea typeface="Montserrat" pitchFamily="34" charset="-122"/>
                <a:cs typeface="Montserrat" pitchFamily="34" charset="-120"/>
              </a:rPr>
              <a:t>SDG 16  Institutions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8872" y="91440"/>
            <a:ext cx="1097280" cy="384048"/>
          </a:xfrm>
          <a:prstGeom prst="rect">
            <a:avLst/>
          </a:prstGeom>
          <a:solidFill>
            <a:srgbClr val="0B3B38"/>
          </a:solidFill>
          <a:ln w="9525">
            <a:solidFill>
              <a:srgbClr val="FFFFFF"/>
            </a:solidFill>
            <a:prstDash val="dash"/>
          </a:ln>
        </p:spPr>
      </p:sp>
      <p:sp>
        <p:nvSpPr>
          <p:cNvPr id="3" name="Text 1"/>
          <p:cNvSpPr/>
          <p:nvPr/>
        </p:nvSpPr>
        <p:spPr>
          <a:xfrm>
            <a:off x="118872" y="91440"/>
            <a:ext cx="1097280" cy="384048"/>
          </a:xfrm>
          <a:prstGeom prst="rect">
            <a:avLst/>
          </a:prstGeom>
          <a:noFill/>
          <a:ln/>
        </p:spPr>
        <p:txBody>
          <a:bodyPr wrap="square" lIns="0" tIns="0" rIns="0" bIns="0" rtlCol="0" anchor="ctr"/>
          <a:lstStyle/>
          <a:p>
            <a:pPr algn="ctr" indent="0" marL="0">
              <a:buNone/>
            </a:pPr>
            <a:r>
              <a:rPr lang="en-US" sz="800" dirty="0">
                <a:solidFill>
                  <a:srgbClr val="FFFFFF"/>
                </a:solidFill>
                <a:latin typeface="Montserrat" pitchFamily="34" charset="0"/>
                <a:ea typeface="Montserrat" pitchFamily="34" charset="-122"/>
                <a:cs typeface="Montserrat" pitchFamily="34" charset="-120"/>
              </a:rPr>
              <a:t>IIT Challenge logo</a:t>
            </a:r>
            <a:endParaRPr lang="en-US" sz="800" dirty="0"/>
          </a:p>
        </p:txBody>
      </p:sp>
      <p:sp>
        <p:nvSpPr>
          <p:cNvPr id="4" name="Text 2"/>
          <p:cNvSpPr/>
          <p:nvPr/>
        </p:nvSpPr>
        <p:spPr>
          <a:xfrm>
            <a:off x="640080" y="1143000"/>
            <a:ext cx="5120640" cy="731520"/>
          </a:xfrm>
          <a:prstGeom prst="rect">
            <a:avLst/>
          </a:prstGeom>
          <a:noFill/>
          <a:ln/>
        </p:spPr>
        <p:txBody>
          <a:bodyPr wrap="square" lIns="0" tIns="0" rIns="0" bIns="0" rtlCol="0" anchor="t"/>
          <a:lstStyle/>
          <a:p>
            <a:pPr indent="0" marL="0">
              <a:buNone/>
            </a:pPr>
            <a:r>
              <a:rPr lang="en-US" sz="4200" b="1" dirty="0">
                <a:solidFill>
                  <a:srgbClr val="0B3B38"/>
                </a:solidFill>
                <a:latin typeface="Montserrat" pitchFamily="34" charset="0"/>
                <a:ea typeface="Montserrat" pitchFamily="34" charset="-122"/>
                <a:cs typeface="Montserrat" pitchFamily="34" charset="-120"/>
              </a:rPr>
              <a:t>THANK YOU</a:t>
            </a:r>
            <a:endParaRPr lang="en-US" sz="4200" dirty="0"/>
          </a:p>
        </p:txBody>
      </p:sp>
      <p:sp>
        <p:nvSpPr>
          <p:cNvPr id="5" name="Text 3"/>
          <p:cNvSpPr/>
          <p:nvPr/>
        </p:nvSpPr>
        <p:spPr>
          <a:xfrm>
            <a:off x="640080" y="1874520"/>
            <a:ext cx="5029200" cy="548640"/>
          </a:xfrm>
          <a:prstGeom prst="rect">
            <a:avLst/>
          </a:prstGeom>
          <a:noFill/>
          <a:ln/>
        </p:spPr>
        <p:txBody>
          <a:bodyPr wrap="square" lIns="0" tIns="0" rIns="0" bIns="0" rtlCol="0" anchor="t"/>
          <a:lstStyle/>
          <a:p>
            <a:pPr indent="0" marL="0">
              <a:buNone/>
            </a:pPr>
            <a:r>
              <a:rPr lang="en-US" sz="1500" b="1" i="1" dirty="0">
                <a:solidFill>
                  <a:srgbClr val="0E8C86"/>
                </a:solidFill>
                <a:latin typeface="Montserrat" pitchFamily="34" charset="0"/>
                <a:ea typeface="Montserrat" pitchFamily="34" charset="-122"/>
                <a:cs typeface="Montserrat" pitchFamily="34" charset="-120"/>
              </a:rPr>
              <a:t>Kenali desanya. Akses layanannya. Dukung ekonominya.</a:t>
            </a:r>
            <a:endParaRPr lang="en-US" sz="1500" dirty="0"/>
          </a:p>
        </p:txBody>
      </p:sp>
      <p:sp>
        <p:nvSpPr>
          <p:cNvPr id="6" name="Text 4"/>
          <p:cNvSpPr/>
          <p:nvPr/>
        </p:nvSpPr>
        <p:spPr>
          <a:xfrm>
            <a:off x="640080" y="2834640"/>
            <a:ext cx="1463040" cy="548640"/>
          </a:xfrm>
          <a:prstGeom prst="rect">
            <a:avLst/>
          </a:prstGeom>
          <a:noFill/>
          <a:ln/>
        </p:spPr>
        <p:txBody>
          <a:bodyPr wrap="square" lIns="0" tIns="0" rIns="0" bIns="0" rtlCol="0" anchor="t"/>
          <a:lstStyle/>
          <a:p>
            <a:pPr indent="0" marL="0">
              <a:buNone/>
            </a:pPr>
            <a:r>
              <a:rPr lang="en-US" sz="3200" b="1" dirty="0">
                <a:solidFill>
                  <a:srgbClr val="0B3B38"/>
                </a:solidFill>
                <a:latin typeface="Montserrat" pitchFamily="34" charset="0"/>
                <a:ea typeface="Montserrat" pitchFamily="34" charset="-122"/>
                <a:cs typeface="Montserrat" pitchFamily="34" charset="-120"/>
              </a:rPr>
              <a:t>10</a:t>
            </a:r>
            <a:endParaRPr lang="en-US" sz="3200" dirty="0"/>
          </a:p>
        </p:txBody>
      </p:sp>
      <p:sp>
        <p:nvSpPr>
          <p:cNvPr id="7" name="Text 5"/>
          <p:cNvSpPr/>
          <p:nvPr/>
        </p:nvSpPr>
        <p:spPr>
          <a:xfrm>
            <a:off x="640080" y="3383280"/>
            <a:ext cx="1463040" cy="228600"/>
          </a:xfrm>
          <a:prstGeom prst="rect">
            <a:avLst/>
          </a:prstGeom>
          <a:noFill/>
          <a:ln/>
        </p:spPr>
        <p:txBody>
          <a:bodyPr wrap="square" lIns="0" tIns="0" rIns="0" bIns="0" rtlCol="0" anchor="t"/>
          <a:lstStyle/>
          <a:p>
            <a:pPr indent="0" marL="0">
              <a:buNone/>
            </a:pPr>
            <a:r>
              <a:rPr lang="en-US" sz="1000" b="1" dirty="0">
                <a:solidFill>
                  <a:srgbClr val="4B6360"/>
                </a:solidFill>
                <a:latin typeface="Montserrat" pitchFamily="34" charset="0"/>
                <a:ea typeface="Montserrat" pitchFamily="34" charset="-122"/>
                <a:cs typeface="Montserrat" pitchFamily="34" charset="-120"/>
              </a:rPr>
              <a:t>public pages</a:t>
            </a:r>
            <a:endParaRPr lang="en-US" sz="1000" dirty="0"/>
          </a:p>
        </p:txBody>
      </p:sp>
      <p:sp>
        <p:nvSpPr>
          <p:cNvPr id="8" name="Text 6"/>
          <p:cNvSpPr/>
          <p:nvPr/>
        </p:nvSpPr>
        <p:spPr>
          <a:xfrm>
            <a:off x="2286000" y="2834640"/>
            <a:ext cx="1463040" cy="548640"/>
          </a:xfrm>
          <a:prstGeom prst="rect">
            <a:avLst/>
          </a:prstGeom>
          <a:noFill/>
          <a:ln/>
        </p:spPr>
        <p:txBody>
          <a:bodyPr wrap="square" lIns="0" tIns="0" rIns="0" bIns="0" rtlCol="0" anchor="t"/>
          <a:lstStyle/>
          <a:p>
            <a:pPr indent="0" marL="0">
              <a:buNone/>
            </a:pPr>
            <a:r>
              <a:rPr lang="en-US" sz="3200" b="1" dirty="0">
                <a:solidFill>
                  <a:srgbClr val="0B3B38"/>
                </a:solidFill>
                <a:latin typeface="Montserrat" pitchFamily="34" charset="0"/>
                <a:ea typeface="Montserrat" pitchFamily="34" charset="-122"/>
                <a:cs typeface="Montserrat" pitchFamily="34" charset="-120"/>
              </a:rPr>
              <a:t>42</a:t>
            </a:r>
            <a:endParaRPr lang="en-US" sz="3200" dirty="0"/>
          </a:p>
        </p:txBody>
      </p:sp>
      <p:sp>
        <p:nvSpPr>
          <p:cNvPr id="9" name="Text 7"/>
          <p:cNvSpPr/>
          <p:nvPr/>
        </p:nvSpPr>
        <p:spPr>
          <a:xfrm>
            <a:off x="2286000" y="3383280"/>
            <a:ext cx="1463040" cy="228600"/>
          </a:xfrm>
          <a:prstGeom prst="rect">
            <a:avLst/>
          </a:prstGeom>
          <a:noFill/>
          <a:ln/>
        </p:spPr>
        <p:txBody>
          <a:bodyPr wrap="square" lIns="0" tIns="0" rIns="0" bIns="0" rtlCol="0" anchor="t"/>
          <a:lstStyle/>
          <a:p>
            <a:pPr indent="0" marL="0">
              <a:buNone/>
            </a:pPr>
            <a:r>
              <a:rPr lang="en-US" sz="1000" b="1" dirty="0">
                <a:solidFill>
                  <a:srgbClr val="4B6360"/>
                </a:solidFill>
                <a:latin typeface="Montserrat" pitchFamily="34" charset="0"/>
                <a:ea typeface="Montserrat" pitchFamily="34" charset="-122"/>
                <a:cs typeface="Montserrat" pitchFamily="34" charset="-120"/>
              </a:rPr>
              <a:t>data tables</a:t>
            </a:r>
            <a:endParaRPr lang="en-US" sz="1000" dirty="0"/>
          </a:p>
        </p:txBody>
      </p:sp>
      <p:sp>
        <p:nvSpPr>
          <p:cNvPr id="10" name="Text 8"/>
          <p:cNvSpPr/>
          <p:nvPr/>
        </p:nvSpPr>
        <p:spPr>
          <a:xfrm>
            <a:off x="3931920" y="2834640"/>
            <a:ext cx="1463040" cy="548640"/>
          </a:xfrm>
          <a:prstGeom prst="rect">
            <a:avLst/>
          </a:prstGeom>
          <a:noFill/>
          <a:ln/>
        </p:spPr>
        <p:txBody>
          <a:bodyPr wrap="square" lIns="0" tIns="0" rIns="0" bIns="0" rtlCol="0" anchor="t"/>
          <a:lstStyle/>
          <a:p>
            <a:pPr indent="0" marL="0">
              <a:buNone/>
            </a:pPr>
            <a:r>
              <a:rPr lang="en-US" sz="3200" b="1" dirty="0">
                <a:solidFill>
                  <a:srgbClr val="0B3B38"/>
                </a:solidFill>
                <a:latin typeface="Montserrat" pitchFamily="34" charset="0"/>
                <a:ea typeface="Montserrat" pitchFamily="34" charset="-122"/>
                <a:cs typeface="Montserrat" pitchFamily="34" charset="-120"/>
              </a:rPr>
              <a:t>16</a:t>
            </a:r>
            <a:endParaRPr lang="en-US" sz="3200" dirty="0"/>
          </a:p>
        </p:txBody>
      </p:sp>
      <p:sp>
        <p:nvSpPr>
          <p:cNvPr id="11" name="Text 9"/>
          <p:cNvSpPr/>
          <p:nvPr/>
        </p:nvSpPr>
        <p:spPr>
          <a:xfrm>
            <a:off x="3931920" y="3383280"/>
            <a:ext cx="1463040" cy="228600"/>
          </a:xfrm>
          <a:prstGeom prst="rect">
            <a:avLst/>
          </a:prstGeom>
          <a:noFill/>
          <a:ln/>
        </p:spPr>
        <p:txBody>
          <a:bodyPr wrap="square" lIns="0" tIns="0" rIns="0" bIns="0" rtlCol="0" anchor="t"/>
          <a:lstStyle/>
          <a:p>
            <a:pPr indent="0" marL="0">
              <a:buNone/>
            </a:pPr>
            <a:r>
              <a:rPr lang="en-US" sz="1000" b="1" dirty="0">
                <a:solidFill>
                  <a:srgbClr val="4B6360"/>
                </a:solidFill>
                <a:latin typeface="Montserrat" pitchFamily="34" charset="0"/>
                <a:ea typeface="Montserrat" pitchFamily="34" charset="-122"/>
                <a:cs typeface="Montserrat" pitchFamily="34" charset="-120"/>
              </a:rPr>
              <a:t>local products</a:t>
            </a:r>
            <a:endParaRPr lang="en-US" sz="1000" dirty="0"/>
          </a:p>
        </p:txBody>
      </p:sp>
      <p:sp>
        <p:nvSpPr>
          <p:cNvPr id="12" name="Shape 10"/>
          <p:cNvSpPr/>
          <p:nvPr/>
        </p:nvSpPr>
        <p:spPr>
          <a:xfrm>
            <a:off x="6172200" y="1097280"/>
            <a:ext cx="2377440" cy="3017520"/>
          </a:xfrm>
          <a:prstGeom prst="roundRect">
            <a:avLst>
              <a:gd name="adj" fmla="val 7692"/>
            </a:avLst>
          </a:prstGeom>
          <a:solidFill>
            <a:srgbClr val="FFFFFF"/>
          </a:solidFill>
          <a:ln w="12700">
            <a:solidFill>
              <a:srgbClr val="FFFFFF"/>
            </a:solidFill>
            <a:prstDash val="solid"/>
          </a:ln>
          <a:effectLst>
            <a:outerShdw sx="100000" sy="100000" kx="0" ky="0" algn="bl" rotWithShape="0" blurRad="127000" dist="38100" dir="5400000">
              <a:srgbClr val="0B3B38">
                <a:alpha val="18000"/>
              </a:srgbClr>
            </a:outerShdw>
          </a:effectLst>
        </p:spPr>
      </p:sp>
      <p:pic>
        <p:nvPicPr>
          <p:cNvPr id="13" name="Image 0" descr="/home/runner/work/Desa-Marga-Mulya/Desa-Marga-Mulya/deck/assets/build/qr.png">    </p:cNvPr>
          <p:cNvPicPr>
            <a:picLocks noChangeAspect="1"/>
          </p:cNvPicPr>
          <p:nvPr/>
        </p:nvPicPr>
        <p:blipFill>
          <a:blip r:embed="rId2"/>
          <a:stretch>
            <a:fillRect/>
          </a:stretch>
        </p:blipFill>
        <p:spPr>
          <a:xfrm>
            <a:off x="6446520" y="1325880"/>
            <a:ext cx="1828800" cy="1828800"/>
          </a:xfrm>
          <a:prstGeom prst="rect">
            <a:avLst/>
          </a:prstGeom>
        </p:spPr>
      </p:pic>
      <p:sp>
        <p:nvSpPr>
          <p:cNvPr id="14" name="Text 11"/>
          <p:cNvSpPr/>
          <p:nvPr/>
        </p:nvSpPr>
        <p:spPr>
          <a:xfrm>
            <a:off x="6172200" y="3291840"/>
            <a:ext cx="2377440" cy="274320"/>
          </a:xfrm>
          <a:prstGeom prst="rect">
            <a:avLst/>
          </a:prstGeom>
          <a:noFill/>
          <a:ln/>
        </p:spPr>
        <p:txBody>
          <a:bodyPr wrap="square" lIns="0" tIns="0" rIns="0" bIns="0" rtlCol="0" anchor="t"/>
          <a:lstStyle/>
          <a:p>
            <a:pPr algn="ctr" indent="0" marL="0">
              <a:buNone/>
            </a:pPr>
            <a:r>
              <a:rPr lang="en-US" sz="1100" b="1" dirty="0">
                <a:solidFill>
                  <a:srgbClr val="0B3B38"/>
                </a:solidFill>
                <a:latin typeface="Montserrat" pitchFamily="34" charset="0"/>
                <a:ea typeface="Montserrat" pitchFamily="34" charset="-122"/>
                <a:cs typeface="Montserrat" pitchFamily="34" charset="-120"/>
              </a:rPr>
              <a:t>Scan to try the live demo</a:t>
            </a:r>
            <a:endParaRPr lang="en-US" sz="1100" dirty="0"/>
          </a:p>
        </p:txBody>
      </p:sp>
      <p:sp>
        <p:nvSpPr>
          <p:cNvPr id="15" name="Text 12"/>
          <p:cNvSpPr/>
          <p:nvPr/>
        </p:nvSpPr>
        <p:spPr>
          <a:xfrm>
            <a:off x="6172200" y="3566160"/>
            <a:ext cx="2377440" cy="274320"/>
          </a:xfrm>
          <a:prstGeom prst="rect">
            <a:avLst/>
          </a:prstGeom>
          <a:noFill/>
          <a:ln/>
        </p:spPr>
        <p:txBody>
          <a:bodyPr wrap="square" lIns="0" tIns="0" rIns="0" bIns="0" rtlCol="0" anchor="t"/>
          <a:lstStyle/>
          <a:p>
            <a:pPr algn="ctr" indent="0" marL="0">
              <a:buNone/>
            </a:pPr>
            <a:r>
              <a:rPr lang="en-US" sz="800" dirty="0">
                <a:solidFill>
                  <a:srgbClr val="4B6360"/>
                </a:solidFill>
                <a:latin typeface="Montserrat" pitchFamily="34" charset="0"/>
                <a:ea typeface="Montserrat" pitchFamily="34" charset="-122"/>
                <a:cs typeface="Montserrat" pitchFamily="34" charset="-120"/>
              </a:rPr>
              <a:t>desa-marga-mulya.vercel.app</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Desa Marga Mulya — Digital Gateway (EcoQuest IIT Challenge 2026)</dc:title>
  <dc:subject>PptxGenJS Presentation</dc:subject>
  <dc:creator>PptxGenJS</dc:creator>
  <cp:lastModifiedBy>PptxGenJS</cp:lastModifiedBy>
  <cp:revision>1</cp:revision>
  <dcterms:created xsi:type="dcterms:W3CDTF">2026-10-01T10:34:57Z</dcterms:created>
  <dcterms:modified xsi:type="dcterms:W3CDTF">2026-10-01T10:34:57Z</dcterms:modified>
</cp:coreProperties>
</file>