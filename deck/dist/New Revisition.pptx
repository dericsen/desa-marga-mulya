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Desa Marga Mulya — the digital gateway for a village. Marga Mulya is in Mauk, Tangerang. Our goal is simple: connect three groups through one digital gateway — the residents who live there, the local businesses who sell there, and the people outside the village who want to know it and support it. Our tagline says it in Indonesian: Kenali desanya, akses layanannya, dukung ekonominya — know the village, access its services, support its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who we are building for. Marga Mulya is a coastal farming village in Mauk, Tangerang — about seven thousand eight hundred residents in two thousand three hundred households, on four hundred twelve hectares. More than half of the land is rice fields and fish ponds, and four in ten workers are in farming and fisheries. So this is a village shaped by agriculture, fisheries, a close community, and a growing local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the village has no information. It has services, products, and data — but they are scattered across the office, chat groups, social media, and word of mouth. A resident asks: who do I even ask? A buyer outside asks: what can I buy here, and how? A partner or researcher asks: where is the data, and can I trust it? Connectivity is not the barrier — 74 percent of rural Indonesians are online — yet six in ten small businesses are still offline, and we found no official village website. The problem is fragmentation, not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not just a village website — it is a digital gateway with three audiences. Residents get services with requirement checklists, live office status, announcements, and an AI assistant. Local businesses get the Pasar Desa marketplace, a seller portal, and WhatsApp orders. People outside get an interactive map, open village data, and local products. It rests on four pillars: Serve, Discover, Buy, and Understand. To be clear: everything with a filled dot is live today; explore-by-category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all built and live. A resident opens the home page and sees right away whether the village office is open, then picks a service and gets its requirement checklist. A buyer opens Pasar Desa, picks a product, and adds it to the cart — one cart can hold products from several sellers. At checkout it becomes one WhatsApp order per seller, each with its own order code. Sellers manage price and stock from their phone in the seller portal, and new products are reviewed by the admin first. The AI assistant and 42 open data tables are live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impact is a practical win for everyone. Residents get easier access to services, fewer unnecessary trips, and information any time of day. Businesses pay zero platform commission, gain digital visibility, and take orders through the WhatsApp they already use. The village gets one central place for its information, managed through a CMS, with open data. And it is feasible today: Rp 0 monthly hosting on our current free-tier setup, a PostgreSQL database, a CMS with eleven content collections that staff can use without coding, and 109 automated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one gateway for the whole village. Residents access services. Businesses reach customers. People outside discover and support Marga Mulya. Ten public pages, forty-two data tables, and sixteen local products are already live — scan the code to try it yourself. Kenali desanya, akses layanannya, dukung ekonominya.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3.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7.png"/><Relationship Id="rId9" Type="http://schemas.openxmlformats.org/officeDocument/2006/relationships/image" Target="../media/image-6-7.png"/><Relationship Id="rId10" Type="http://schemas.openxmlformats.org/officeDocument/2006/relationships/image" Target="../media/image-6-10.png"/><Relationship Id="rId11" Type="http://schemas.openxmlformats.org/officeDocument/2006/relationships/image" Target="../media/image-6-3.png"/><Relationship Id="rId12" Type="http://schemas.openxmlformats.org/officeDocument/2006/relationships/image" Target="../media/image-6-3.png"/><Relationship Id="rId13" Type="http://schemas.openxmlformats.org/officeDocument/2006/relationships/image" Target="../media/image-6-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slideLayout" Target="../slideLayouts/slideLayout1.xml"/><Relationship Id="rId1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137160"/>
            <a:ext cx="1234440" cy="502920"/>
          </a:xfrm>
          <a:prstGeom prst="rect">
            <a:avLst/>
          </a:prstGeom>
          <a:solidFill>
            <a:srgbClr val="0B3B38"/>
          </a:solidFill>
          <a:ln w="9525">
            <a:solidFill>
              <a:srgbClr val="FFFFFF"/>
            </a:solidFill>
            <a:prstDash val="dash"/>
          </a:ln>
        </p:spPr>
      </p:sp>
      <p:sp>
        <p:nvSpPr>
          <p:cNvPr id="3" name="Text 1"/>
          <p:cNvSpPr/>
          <p:nvPr/>
        </p:nvSpPr>
        <p:spPr>
          <a:xfrm>
            <a:off x="118872" y="137160"/>
            <a:ext cx="1234440" cy="502920"/>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pic>
        <p:nvPicPr>
          <p:cNvPr id="4" name="Image 0" descr="/home/runner/work/Desa-Marga-Mulya/Desa-Marga-Mulya/deck/assets/build/logo.png">    </p:cNvPr>
          <p:cNvPicPr>
            <a:picLocks noChangeAspect="1"/>
          </p:cNvPicPr>
          <p:nvPr/>
        </p:nvPicPr>
        <p:blipFill>
          <a:blip r:embed="rId2"/>
          <a:stretch>
            <a:fillRect/>
          </a:stretch>
        </p:blipFill>
        <p:spPr>
          <a:xfrm>
            <a:off x="548640" y="1325880"/>
            <a:ext cx="594360" cy="594360"/>
          </a:xfrm>
          <a:prstGeom prst="rect">
            <a:avLst/>
          </a:prstGeom>
        </p:spPr>
      </p:pic>
      <p:sp>
        <p:nvSpPr>
          <p:cNvPr id="5" name="Text 2"/>
          <p:cNvSpPr/>
          <p:nvPr/>
        </p:nvSpPr>
        <p:spPr>
          <a:xfrm>
            <a:off x="1280160" y="1463040"/>
            <a:ext cx="3840480" cy="320040"/>
          </a:xfrm>
          <a:prstGeom prst="rect">
            <a:avLst/>
          </a:prstGeom>
          <a:noFill/>
          <a:ln/>
        </p:spPr>
        <p:txBody>
          <a:bodyPr wrap="square" lIns="0" tIns="0" rIns="0" bIns="0" rtlCol="0" anchor="ctr"/>
          <a:lstStyle/>
          <a:p>
            <a:pPr indent="0" marL="0">
              <a:buNone/>
            </a:pPr>
            <a:r>
              <a:rPr lang="en-US" sz="900" b="1" dirty="0">
                <a:solidFill>
                  <a:srgbClr val="4B6360"/>
                </a:solidFill>
                <a:latin typeface="Montserrat" pitchFamily="34" charset="0"/>
                <a:ea typeface="Montserrat" pitchFamily="34" charset="-122"/>
                <a:cs typeface="Montserrat" pitchFamily="34" charset="-120"/>
              </a:rPr>
              <a:t>EcoQuest Web Application  |  IIT Challenge 2026</a:t>
            </a:r>
            <a:endParaRPr lang="en-US" sz="900" dirty="0"/>
          </a:p>
        </p:txBody>
      </p:sp>
      <p:sp>
        <p:nvSpPr>
          <p:cNvPr id="6" name="Text 3"/>
          <p:cNvSpPr/>
          <p:nvPr/>
        </p:nvSpPr>
        <p:spPr>
          <a:xfrm>
            <a:off x="548640" y="2011680"/>
            <a:ext cx="4572000" cy="594360"/>
          </a:xfrm>
          <a:prstGeom prst="rect">
            <a:avLst/>
          </a:prstGeom>
          <a:noFill/>
          <a:ln/>
        </p:spPr>
        <p:txBody>
          <a:bodyPr wrap="square" lIns="0" tIns="0" rIns="0" bIns="0" rtlCol="0" anchor="ctr">
            <a:normAutofit/>
          </a:bodyPr>
          <a:lstStyle/>
          <a:p>
            <a:pPr indent="0" marL="0">
              <a:buNone/>
            </a:pPr>
            <a:r>
              <a:rPr lang="en-US" sz="3400" b="1" dirty="0">
                <a:solidFill>
                  <a:srgbClr val="0B3B38"/>
                </a:solidFill>
                <a:latin typeface="Montserrat" pitchFamily="34" charset="0"/>
                <a:ea typeface="Montserrat" pitchFamily="34" charset="-122"/>
                <a:cs typeface="Montserrat" pitchFamily="34" charset="-120"/>
              </a:rPr>
              <a:t>Desa </a:t>
            </a:r>
            <a:pPr indent="0" marL="0">
              <a:buNone/>
            </a:pPr>
            <a:r>
              <a:rPr lang="en-US" sz="3400" b="1" dirty="0">
                <a:solidFill>
                  <a:srgbClr val="0E8C86"/>
                </a:solidFill>
                <a:latin typeface="Montserrat" pitchFamily="34" charset="0"/>
                <a:ea typeface="Montserrat" pitchFamily="34" charset="-122"/>
                <a:cs typeface="Montserrat" pitchFamily="34" charset="-120"/>
              </a:rPr>
              <a:t>Marga Mulya</a:t>
            </a:r>
            <a:endParaRPr lang="en-US" sz="3400" dirty="0"/>
          </a:p>
        </p:txBody>
      </p:sp>
      <p:sp>
        <p:nvSpPr>
          <p:cNvPr id="7" name="Text 4"/>
          <p:cNvSpPr/>
          <p:nvPr/>
        </p:nvSpPr>
        <p:spPr>
          <a:xfrm>
            <a:off x="548640" y="2651760"/>
            <a:ext cx="4572000" cy="347472"/>
          </a:xfrm>
          <a:prstGeom prst="rect">
            <a:avLst/>
          </a:prstGeom>
          <a:noFill/>
          <a:ln/>
        </p:spPr>
        <p:txBody>
          <a:bodyPr wrap="square" lIns="0" tIns="0" rIns="0" bIns="0" rtlCol="0" anchor="t"/>
          <a:lstStyle/>
          <a:p>
            <a:pPr indent="0" marL="0">
              <a:buNone/>
            </a:pPr>
            <a:r>
              <a:rPr lang="en-US" sz="1700" b="1" dirty="0">
                <a:solidFill>
                  <a:srgbClr val="0B3B38"/>
                </a:solidFill>
                <a:latin typeface="Montserrat" pitchFamily="34" charset="0"/>
                <a:ea typeface="Montserrat" pitchFamily="34" charset="-122"/>
                <a:cs typeface="Montserrat" pitchFamily="34" charset="-120"/>
              </a:rPr>
              <a:t>The Digital Gateway for a Village</a:t>
            </a:r>
            <a:endParaRPr lang="en-US" sz="1700" dirty="0"/>
          </a:p>
        </p:txBody>
      </p:sp>
      <p:sp>
        <p:nvSpPr>
          <p:cNvPr id="8" name="Text 5"/>
          <p:cNvSpPr/>
          <p:nvPr/>
        </p:nvSpPr>
        <p:spPr>
          <a:xfrm>
            <a:off x="548640" y="3017520"/>
            <a:ext cx="4572000" cy="274320"/>
          </a:xfrm>
          <a:prstGeom prst="rect">
            <a:avLst/>
          </a:prstGeom>
          <a:noFill/>
          <a:ln/>
        </p:spPr>
        <p:txBody>
          <a:bodyPr wrap="square" lIns="0" tIns="0" rIns="0" bIns="0" rtlCol="0" anchor="t"/>
          <a:lstStyle/>
          <a:p>
            <a:pPr indent="0" marL="0">
              <a:buNone/>
            </a:pPr>
            <a:r>
              <a:rPr lang="en-US" sz="1150" b="1" i="1" dirty="0">
                <a:solidFill>
                  <a:srgbClr val="0E8C86"/>
                </a:solidFill>
                <a:latin typeface="Montserrat" pitchFamily="34" charset="0"/>
                <a:ea typeface="Montserrat" pitchFamily="34" charset="-122"/>
                <a:cs typeface="Montserrat" pitchFamily="34" charset="-120"/>
              </a:rPr>
              <a:t>Kenali desanya. Akses layanannya. Dukung ekonominya.</a:t>
            </a:r>
            <a:endParaRPr lang="en-US" sz="1150" dirty="0"/>
          </a:p>
        </p:txBody>
      </p:sp>
      <p:sp>
        <p:nvSpPr>
          <p:cNvPr id="9" name="Shape 6"/>
          <p:cNvSpPr/>
          <p:nvPr/>
        </p:nvSpPr>
        <p:spPr>
          <a:xfrm>
            <a:off x="548640" y="3429000"/>
            <a:ext cx="45720" cy="457200"/>
          </a:xfrm>
          <a:prstGeom prst="rect">
            <a:avLst/>
          </a:prstGeom>
          <a:solidFill>
            <a:srgbClr val="0E8C86"/>
          </a:solidFill>
          <a:ln w="12700">
            <a:solidFill>
              <a:srgbClr val="0E8C86"/>
            </a:solidFill>
            <a:prstDash val="solid"/>
          </a:ln>
        </p:spPr>
      </p:sp>
      <p:sp>
        <p:nvSpPr>
          <p:cNvPr id="10" name="Text 7"/>
          <p:cNvSpPr/>
          <p:nvPr/>
        </p:nvSpPr>
        <p:spPr>
          <a:xfrm>
            <a:off x="713232" y="3429000"/>
            <a:ext cx="4206240" cy="457200"/>
          </a:xfrm>
          <a:prstGeom prst="rect">
            <a:avLst/>
          </a:prstGeom>
          <a:noFill/>
          <a:ln/>
        </p:spPr>
        <p:txBody>
          <a:bodyPr wrap="square" lIns="0" tIns="0" rIns="0" bIns="0" rtlCol="0" anchor="ctr"/>
          <a:lstStyle/>
          <a:p>
            <a:pPr indent="0" marL="0">
              <a:buNone/>
            </a:pPr>
            <a:r>
              <a:rPr lang="en-US" sz="1000" dirty="0">
                <a:solidFill>
                  <a:srgbClr val="4B6360"/>
                </a:solidFill>
                <a:latin typeface="Montserrat" pitchFamily="34" charset="0"/>
                <a:ea typeface="Montserrat" pitchFamily="34" charset="-122"/>
                <a:cs typeface="Montserrat" pitchFamily="34" charset="-120"/>
              </a:rPr>
              <a:t>Connect residents, local businesses, and people outside the village through one digital gateway.</a:t>
            </a:r>
            <a:endParaRPr lang="en-US" sz="1000" dirty="0"/>
          </a:p>
        </p:txBody>
      </p:sp>
      <p:sp>
        <p:nvSpPr>
          <p:cNvPr id="11" name="Shape 8"/>
          <p:cNvSpPr/>
          <p:nvPr/>
        </p:nvSpPr>
        <p:spPr>
          <a:xfrm>
            <a:off x="548640" y="4206240"/>
            <a:ext cx="457200" cy="457200"/>
          </a:xfrm>
          <a:prstGeom prst="ellipse">
            <a:avLst/>
          </a:prstGeom>
          <a:solidFill>
            <a:srgbClr val="BBD8D4"/>
          </a:solidFill>
          <a:ln w="9525">
            <a:solidFill>
              <a:srgbClr val="0E8C86"/>
            </a:solidFill>
            <a:prstDash val="solid"/>
          </a:ln>
        </p:spPr>
      </p:sp>
      <p:sp>
        <p:nvSpPr>
          <p:cNvPr id="12" name="Text 9"/>
          <p:cNvSpPr/>
          <p:nvPr/>
        </p:nvSpPr>
        <p:spPr>
          <a:xfrm>
            <a:off x="1078992" y="4206240"/>
            <a:ext cx="777240" cy="457200"/>
          </a:xfrm>
          <a:prstGeom prst="rect">
            <a:avLst/>
          </a:prstGeom>
          <a:noFill/>
          <a:ln/>
        </p:spPr>
        <p:txBody>
          <a:bodyPr wrap="square" lIns="0" tIns="0" rIns="0" bIns="0" rtlCol="0" anchor="ctr"/>
          <a:lstStyle/>
          <a:p>
            <a:pPr indent="0" marL="0">
              <a:buNone/>
            </a:pPr>
            <a:r>
              <a:rPr lang="en-US" sz="850" b="1" dirty="0">
                <a:solidFill>
                  <a:srgbClr val="0B3B38"/>
                </a:solidFill>
                <a:latin typeface="Montserrat" pitchFamily="34" charset="0"/>
                <a:ea typeface="Montserrat" pitchFamily="34" charset="-122"/>
                <a:cs typeface="Montserrat" pitchFamily="34" charset="-120"/>
              </a:rPr>
              <a:t>Member 1</a:t>
            </a:r>
            <a:endParaRPr lang="en-US" sz="850" dirty="0"/>
          </a:p>
        </p:txBody>
      </p:sp>
      <p:sp>
        <p:nvSpPr>
          <p:cNvPr id="13" name="Shape 10"/>
          <p:cNvSpPr/>
          <p:nvPr/>
        </p:nvSpPr>
        <p:spPr>
          <a:xfrm>
            <a:off x="1874520" y="4206240"/>
            <a:ext cx="457200" cy="457200"/>
          </a:xfrm>
          <a:prstGeom prst="ellipse">
            <a:avLst/>
          </a:prstGeom>
          <a:solidFill>
            <a:srgbClr val="BBD8D4"/>
          </a:solidFill>
          <a:ln w="9525">
            <a:solidFill>
              <a:srgbClr val="0E8C86"/>
            </a:solidFill>
            <a:prstDash val="solid"/>
          </a:ln>
        </p:spPr>
      </p:sp>
      <p:sp>
        <p:nvSpPr>
          <p:cNvPr id="14" name="Text 11"/>
          <p:cNvSpPr/>
          <p:nvPr/>
        </p:nvSpPr>
        <p:spPr>
          <a:xfrm>
            <a:off x="2404872" y="4206240"/>
            <a:ext cx="777240" cy="457200"/>
          </a:xfrm>
          <a:prstGeom prst="rect">
            <a:avLst/>
          </a:prstGeom>
          <a:noFill/>
          <a:ln/>
        </p:spPr>
        <p:txBody>
          <a:bodyPr wrap="square" lIns="0" tIns="0" rIns="0" bIns="0" rtlCol="0" anchor="ctr"/>
          <a:lstStyle/>
          <a:p>
            <a:pPr indent="0" marL="0">
              <a:buNone/>
            </a:pPr>
            <a:r>
              <a:rPr lang="en-US" sz="850" b="1" dirty="0">
                <a:solidFill>
                  <a:srgbClr val="0B3B38"/>
                </a:solidFill>
                <a:latin typeface="Montserrat" pitchFamily="34" charset="0"/>
                <a:ea typeface="Montserrat" pitchFamily="34" charset="-122"/>
                <a:cs typeface="Montserrat" pitchFamily="34" charset="-120"/>
              </a:rPr>
              <a:t>Member 2</a:t>
            </a:r>
            <a:endParaRPr lang="en-US" sz="850" dirty="0"/>
          </a:p>
        </p:txBody>
      </p:sp>
      <p:sp>
        <p:nvSpPr>
          <p:cNvPr id="15" name="Shape 12"/>
          <p:cNvSpPr/>
          <p:nvPr/>
        </p:nvSpPr>
        <p:spPr>
          <a:xfrm>
            <a:off x="3200400" y="4206240"/>
            <a:ext cx="457200" cy="457200"/>
          </a:xfrm>
          <a:prstGeom prst="ellipse">
            <a:avLst/>
          </a:prstGeom>
          <a:solidFill>
            <a:srgbClr val="BBD8D4"/>
          </a:solidFill>
          <a:ln w="9525">
            <a:solidFill>
              <a:srgbClr val="0E8C86"/>
            </a:solidFill>
            <a:prstDash val="solid"/>
          </a:ln>
        </p:spPr>
      </p:sp>
      <p:sp>
        <p:nvSpPr>
          <p:cNvPr id="16" name="Text 13"/>
          <p:cNvSpPr/>
          <p:nvPr/>
        </p:nvSpPr>
        <p:spPr>
          <a:xfrm>
            <a:off x="3730752" y="4206240"/>
            <a:ext cx="777240" cy="457200"/>
          </a:xfrm>
          <a:prstGeom prst="rect">
            <a:avLst/>
          </a:prstGeom>
          <a:noFill/>
          <a:ln/>
        </p:spPr>
        <p:txBody>
          <a:bodyPr wrap="square" lIns="0" tIns="0" rIns="0" bIns="0" rtlCol="0" anchor="ctr"/>
          <a:lstStyle/>
          <a:p>
            <a:pPr indent="0" marL="0">
              <a:buNone/>
            </a:pPr>
            <a:r>
              <a:rPr lang="en-US" sz="850" b="1" dirty="0">
                <a:solidFill>
                  <a:srgbClr val="0B3B38"/>
                </a:solidFill>
                <a:latin typeface="Montserrat" pitchFamily="34" charset="0"/>
                <a:ea typeface="Montserrat" pitchFamily="34" charset="-122"/>
                <a:cs typeface="Montserrat" pitchFamily="34" charset="-120"/>
              </a:rPr>
              <a:t>Member 3</a:t>
            </a:r>
            <a:endParaRPr lang="en-US" sz="850" dirty="0"/>
          </a:p>
        </p:txBody>
      </p:sp>
      <p:pic>
        <p:nvPicPr>
          <p:cNvPr id="17" name="Image 1" descr="/home/runner/work/Desa-Marga-Mulya/Desa-Marga-Mulya/deck/assets/build/teal/map-square.png">    </p:cNvPr>
          <p:cNvPicPr>
            <a:picLocks noChangeAspect="1"/>
          </p:cNvPicPr>
          <p:nvPr/>
        </p:nvPicPr>
        <p:blipFill>
          <a:blip r:embed="rId3"/>
          <a:stretch>
            <a:fillRect/>
          </a:stretch>
        </p:blipFill>
        <p:spPr>
          <a:xfrm>
            <a:off x="5440680" y="1298448"/>
            <a:ext cx="3154680" cy="3154680"/>
          </a:xfrm>
          <a:prstGeom prst="rect">
            <a:avLst/>
          </a:prstGeom>
          <a:effectLst>
            <a:outerShdw sx="100000" sy="100000" kx="0" ky="0" algn="bl" rotWithShape="0" blurRad="101600" dist="25400" dir="5400000">
              <a:srgbClr val="0B3B38">
                <a:alpha val="16000"/>
              </a:srgbClr>
            </a:outerShdw>
          </a:effectLst>
        </p:spPr>
      </p:pic>
      <p:sp>
        <p:nvSpPr>
          <p:cNvPr id="18" name="Shape 14"/>
          <p:cNvSpPr/>
          <p:nvPr/>
        </p:nvSpPr>
        <p:spPr>
          <a:xfrm>
            <a:off x="5760720" y="1755648"/>
            <a:ext cx="1258338" cy="1118126"/>
          </a:xfrm>
          <a:prstGeom prst="line">
            <a:avLst/>
          </a:prstGeom>
          <a:noFill/>
          <a:ln w="22225">
            <a:solidFill>
              <a:srgbClr val="0B3B38"/>
            </a:solidFill>
            <a:prstDash val="dash"/>
          </a:ln>
        </p:spPr>
      </p:sp>
      <p:sp>
        <p:nvSpPr>
          <p:cNvPr id="19" name="Shape 15"/>
          <p:cNvSpPr/>
          <p:nvPr/>
        </p:nvSpPr>
        <p:spPr>
          <a:xfrm flipH="1">
            <a:off x="7019058" y="2350008"/>
            <a:ext cx="1393422" cy="523766"/>
          </a:xfrm>
          <a:prstGeom prst="line">
            <a:avLst/>
          </a:prstGeom>
          <a:noFill/>
          <a:ln w="22225">
            <a:solidFill>
              <a:srgbClr val="0B3B38"/>
            </a:solidFill>
            <a:prstDash val="dash"/>
          </a:ln>
        </p:spPr>
      </p:sp>
      <p:sp>
        <p:nvSpPr>
          <p:cNvPr id="20" name="Shape 16"/>
          <p:cNvSpPr/>
          <p:nvPr/>
        </p:nvSpPr>
        <p:spPr>
          <a:xfrm flipH="1">
            <a:off x="6126480" y="2873774"/>
            <a:ext cx="892578" cy="1076434"/>
          </a:xfrm>
          <a:prstGeom prst="line">
            <a:avLst/>
          </a:prstGeom>
          <a:noFill/>
          <a:ln w="22225">
            <a:solidFill>
              <a:srgbClr val="0B3B38"/>
            </a:solidFill>
            <a:prstDash val="dash"/>
          </a:ln>
        </p:spPr>
      </p:sp>
      <p:sp>
        <p:nvSpPr>
          <p:cNvPr id="21" name="Shape 17"/>
          <p:cNvSpPr/>
          <p:nvPr/>
        </p:nvSpPr>
        <p:spPr>
          <a:xfrm>
            <a:off x="5440680" y="1435608"/>
            <a:ext cx="640080" cy="640080"/>
          </a:xfrm>
          <a:prstGeom prst="ellipse">
            <a:avLst/>
          </a:prstGeom>
          <a:solidFill>
            <a:srgbClr val="FFFFFF"/>
          </a:solidFill>
          <a:ln w="12700">
            <a:solidFill>
              <a:srgbClr val="FFFFFF"/>
            </a:solidFill>
            <a:prstDash val="solid"/>
          </a:ln>
        </p:spPr>
      </p:sp>
      <p:sp>
        <p:nvSpPr>
          <p:cNvPr id="22" name="Shape 18"/>
          <p:cNvSpPr/>
          <p:nvPr/>
        </p:nvSpPr>
        <p:spPr>
          <a:xfrm>
            <a:off x="5477256" y="1472184"/>
            <a:ext cx="566928" cy="566928"/>
          </a:xfrm>
          <a:prstGeom prst="ellipse">
            <a:avLst/>
          </a:prstGeom>
          <a:solidFill>
            <a:srgbClr val="0E8C86"/>
          </a:solidFill>
          <a:ln w="12700">
            <a:solidFill>
              <a:srgbClr val="0E8C86"/>
            </a:solidFill>
            <a:prstDash val="solid"/>
          </a:ln>
        </p:spPr>
      </p:sp>
      <p:pic>
        <p:nvPicPr>
          <p:cNvPr id="23" name="Image 2" descr="/home/runner/work/Desa-Marga-Mulya/Desa-Marga-Mulya/deck/assets/build/teal/icon-home-w.png">    </p:cNvPr>
          <p:cNvPicPr>
            <a:picLocks noChangeAspect="1"/>
          </p:cNvPicPr>
          <p:nvPr/>
        </p:nvPicPr>
        <p:blipFill>
          <a:blip r:embed="rId4"/>
          <a:stretch>
            <a:fillRect/>
          </a:stretch>
        </p:blipFill>
        <p:spPr>
          <a:xfrm>
            <a:off x="5630327" y="1625255"/>
            <a:ext cx="260787" cy="260787"/>
          </a:xfrm>
          <a:prstGeom prst="rect">
            <a:avLst/>
          </a:prstGeom>
        </p:spPr>
      </p:pic>
      <p:sp>
        <p:nvSpPr>
          <p:cNvPr id="24" name="Shape 19"/>
          <p:cNvSpPr/>
          <p:nvPr/>
        </p:nvSpPr>
        <p:spPr>
          <a:xfrm>
            <a:off x="5257800" y="2093976"/>
            <a:ext cx="1234440" cy="237744"/>
          </a:xfrm>
          <a:prstGeom prst="roundRect">
            <a:avLst>
              <a:gd name="adj" fmla="val 50000"/>
            </a:avLst>
          </a:prstGeom>
          <a:solidFill>
            <a:srgbClr val="0B3B38"/>
          </a:solidFill>
          <a:ln w="12700">
            <a:solidFill>
              <a:srgbClr val="0B3B38"/>
            </a:solidFill>
            <a:prstDash val="solid"/>
          </a:ln>
        </p:spPr>
      </p:sp>
      <p:sp>
        <p:nvSpPr>
          <p:cNvPr id="25" name="Text 20"/>
          <p:cNvSpPr/>
          <p:nvPr/>
        </p:nvSpPr>
        <p:spPr>
          <a:xfrm>
            <a:off x="5257800" y="2093976"/>
            <a:ext cx="12344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Residents</a:t>
            </a:r>
            <a:endParaRPr lang="en-US" sz="850" dirty="0"/>
          </a:p>
        </p:txBody>
      </p:sp>
      <p:sp>
        <p:nvSpPr>
          <p:cNvPr id="26" name="Shape 21"/>
          <p:cNvSpPr/>
          <p:nvPr/>
        </p:nvSpPr>
        <p:spPr>
          <a:xfrm>
            <a:off x="8092440" y="2029968"/>
            <a:ext cx="640080" cy="640080"/>
          </a:xfrm>
          <a:prstGeom prst="ellipse">
            <a:avLst/>
          </a:prstGeom>
          <a:solidFill>
            <a:srgbClr val="FFFFFF"/>
          </a:solidFill>
          <a:ln w="12700">
            <a:solidFill>
              <a:srgbClr val="FFFFFF"/>
            </a:solidFill>
            <a:prstDash val="solid"/>
          </a:ln>
        </p:spPr>
      </p:sp>
      <p:sp>
        <p:nvSpPr>
          <p:cNvPr id="27" name="Shape 22"/>
          <p:cNvSpPr/>
          <p:nvPr/>
        </p:nvSpPr>
        <p:spPr>
          <a:xfrm>
            <a:off x="8129016" y="2066544"/>
            <a:ext cx="566928" cy="566928"/>
          </a:xfrm>
          <a:prstGeom prst="ellipse">
            <a:avLst/>
          </a:prstGeom>
          <a:solidFill>
            <a:srgbClr val="0E8C86"/>
          </a:solidFill>
          <a:ln w="12700">
            <a:solidFill>
              <a:srgbClr val="0E8C86"/>
            </a:solidFill>
            <a:prstDash val="solid"/>
          </a:ln>
        </p:spPr>
      </p:sp>
      <p:pic>
        <p:nvPicPr>
          <p:cNvPr id="28" name="Image 3" descr="/home/runner/work/Desa-Marga-Mulya/Desa-Marga-Mulya/deck/assets/build/teal/icon-market-w.png">    </p:cNvPr>
          <p:cNvPicPr>
            <a:picLocks noChangeAspect="1"/>
          </p:cNvPicPr>
          <p:nvPr/>
        </p:nvPicPr>
        <p:blipFill>
          <a:blip r:embed="rId5"/>
          <a:stretch>
            <a:fillRect/>
          </a:stretch>
        </p:blipFill>
        <p:spPr>
          <a:xfrm>
            <a:off x="8282087" y="2219615"/>
            <a:ext cx="260787" cy="260787"/>
          </a:xfrm>
          <a:prstGeom prst="rect">
            <a:avLst/>
          </a:prstGeom>
        </p:spPr>
      </p:pic>
      <p:sp>
        <p:nvSpPr>
          <p:cNvPr id="29" name="Shape 23"/>
          <p:cNvSpPr/>
          <p:nvPr/>
        </p:nvSpPr>
        <p:spPr>
          <a:xfrm>
            <a:off x="7772400" y="2688336"/>
            <a:ext cx="1234440" cy="237744"/>
          </a:xfrm>
          <a:prstGeom prst="roundRect">
            <a:avLst>
              <a:gd name="adj" fmla="val 50000"/>
            </a:avLst>
          </a:prstGeom>
          <a:solidFill>
            <a:srgbClr val="0B3B38"/>
          </a:solidFill>
          <a:ln w="12700">
            <a:solidFill>
              <a:srgbClr val="0B3B38"/>
            </a:solidFill>
            <a:prstDash val="solid"/>
          </a:ln>
        </p:spPr>
      </p:sp>
      <p:sp>
        <p:nvSpPr>
          <p:cNvPr id="30" name="Text 24"/>
          <p:cNvSpPr/>
          <p:nvPr/>
        </p:nvSpPr>
        <p:spPr>
          <a:xfrm>
            <a:off x="7772400" y="2688336"/>
            <a:ext cx="12344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Local businesses</a:t>
            </a:r>
            <a:endParaRPr lang="en-US" sz="850" dirty="0"/>
          </a:p>
        </p:txBody>
      </p:sp>
      <p:sp>
        <p:nvSpPr>
          <p:cNvPr id="31" name="Shape 25"/>
          <p:cNvSpPr/>
          <p:nvPr/>
        </p:nvSpPr>
        <p:spPr>
          <a:xfrm>
            <a:off x="5806440" y="3630168"/>
            <a:ext cx="640080" cy="640080"/>
          </a:xfrm>
          <a:prstGeom prst="ellipse">
            <a:avLst/>
          </a:prstGeom>
          <a:solidFill>
            <a:srgbClr val="FFFFFF"/>
          </a:solidFill>
          <a:ln w="12700">
            <a:solidFill>
              <a:srgbClr val="FFFFFF"/>
            </a:solidFill>
            <a:prstDash val="solid"/>
          </a:ln>
        </p:spPr>
      </p:sp>
      <p:sp>
        <p:nvSpPr>
          <p:cNvPr id="32" name="Shape 26"/>
          <p:cNvSpPr/>
          <p:nvPr/>
        </p:nvSpPr>
        <p:spPr>
          <a:xfrm>
            <a:off x="5843016" y="3666744"/>
            <a:ext cx="566928" cy="566928"/>
          </a:xfrm>
          <a:prstGeom prst="ellipse">
            <a:avLst/>
          </a:prstGeom>
          <a:solidFill>
            <a:srgbClr val="0E8C86"/>
          </a:solidFill>
          <a:ln w="12700">
            <a:solidFill>
              <a:srgbClr val="0E8C86"/>
            </a:solidFill>
            <a:prstDash val="solid"/>
          </a:ln>
        </p:spPr>
      </p:sp>
      <p:pic>
        <p:nvPicPr>
          <p:cNvPr id="33" name="Image 4" descr="/home/runner/work/Desa-Marga-Mulya/Desa-Marga-Mulya/deck/assets/build/teal/icon-globe-w.png">    </p:cNvPr>
          <p:cNvPicPr>
            <a:picLocks noChangeAspect="1"/>
          </p:cNvPicPr>
          <p:nvPr/>
        </p:nvPicPr>
        <p:blipFill>
          <a:blip r:embed="rId6"/>
          <a:stretch>
            <a:fillRect/>
          </a:stretch>
        </p:blipFill>
        <p:spPr>
          <a:xfrm>
            <a:off x="5996087" y="3819815"/>
            <a:ext cx="260787" cy="260787"/>
          </a:xfrm>
          <a:prstGeom prst="rect">
            <a:avLst/>
          </a:prstGeom>
        </p:spPr>
      </p:pic>
      <p:sp>
        <p:nvSpPr>
          <p:cNvPr id="34" name="Shape 27"/>
          <p:cNvSpPr/>
          <p:nvPr/>
        </p:nvSpPr>
        <p:spPr>
          <a:xfrm>
            <a:off x="5509260" y="4288536"/>
            <a:ext cx="1234440" cy="237744"/>
          </a:xfrm>
          <a:prstGeom prst="roundRect">
            <a:avLst>
              <a:gd name="adj" fmla="val 50000"/>
            </a:avLst>
          </a:prstGeom>
          <a:solidFill>
            <a:srgbClr val="0B3B38"/>
          </a:solidFill>
          <a:ln w="12700">
            <a:solidFill>
              <a:srgbClr val="0B3B38"/>
            </a:solidFill>
            <a:prstDash val="solid"/>
          </a:ln>
        </p:spPr>
      </p:sp>
      <p:sp>
        <p:nvSpPr>
          <p:cNvPr id="35" name="Text 28"/>
          <p:cNvSpPr/>
          <p:nvPr/>
        </p:nvSpPr>
        <p:spPr>
          <a:xfrm>
            <a:off x="5509260" y="4288536"/>
            <a:ext cx="123444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ontserrat" pitchFamily="34" charset="0"/>
                <a:ea typeface="Montserrat" pitchFamily="34" charset="-122"/>
                <a:cs typeface="Montserrat" pitchFamily="34" charset="-120"/>
              </a:rPr>
              <a:t>People outside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91440"/>
            <a:ext cx="1097280" cy="32004"/>
          </a:xfrm>
          <a:prstGeom prst="rect">
            <a:avLst/>
          </a:prstGeom>
          <a:solidFill>
            <a:srgbClr val="0E8C86"/>
          </a:solidFill>
          <a:ln w="12700">
            <a:solidFill>
              <a:srgbClr val="0E8C86"/>
            </a:solidFill>
            <a:prstDash val="solid"/>
          </a:ln>
        </p:spPr>
      </p:sp>
      <p:sp>
        <p:nvSpPr>
          <p:cNvPr id="3" name="Text 1"/>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Overview</a:t>
            </a:r>
            <a:endParaRPr lang="en-US" sz="900" dirty="0"/>
          </a:p>
        </p:txBody>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0B3B38"/>
                </a:solidFill>
                <a:latin typeface="Montserrat" pitchFamily="34" charset="0"/>
                <a:ea typeface="Montserrat" pitchFamily="34" charset="-122"/>
                <a:cs typeface="Montserrat" pitchFamily="34" charset="-120"/>
              </a:rPr>
              <a:t>A Coastal Farming Village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4B6360"/>
                </a:solidFill>
                <a:latin typeface="Montserrat" pitchFamily="34" charset="0"/>
                <a:ea typeface="Montserrat" pitchFamily="34" charset="-122"/>
                <a:cs typeface="Montserrat" pitchFamily="34" charset="-120"/>
              </a:rPr>
              <a:t>Marga Mulya, Mauk, Tangerang</a:t>
            </a:r>
            <a:endParaRPr lang="en-US" sz="1200" dirty="0"/>
          </a:p>
        </p:txBody>
      </p:sp>
      <p:pic>
        <p:nvPicPr>
          <p:cNvPr id="10" name="Image 0" descr="/home/runner/work/Desa-Marga-Mulya/Desa-Marga-Mulya/deck/assets/build/teal/map.png">    </p:cNvPr>
          <p:cNvPicPr>
            <a:picLocks noChangeAspect="1"/>
          </p:cNvPicPr>
          <p:nvPr/>
        </p:nvPicPr>
        <p:blipFill>
          <a:blip r:embed="rId2"/>
          <a:stretch>
            <a:fillRect/>
          </a:stretch>
        </p:blipFill>
        <p:spPr>
          <a:xfrm>
            <a:off x="502920" y="1371600"/>
            <a:ext cx="4069080" cy="1591056"/>
          </a:xfrm>
          <a:prstGeom prst="rect">
            <a:avLst/>
          </a:prstGeom>
          <a:effectLst>
            <a:outerShdw sx="100000" sy="100000" kx="0" ky="0" algn="bl" rotWithShape="0" blurRad="101600" dist="25400" dir="5400000">
              <a:srgbClr val="0B3B38">
                <a:alpha val="16000"/>
              </a:srgbClr>
            </a:outerShdw>
          </a:effectLst>
        </p:spPr>
      </p:pic>
      <p:sp>
        <p:nvSpPr>
          <p:cNvPr id="11" name="Text 8"/>
          <p:cNvSpPr/>
          <p:nvPr/>
        </p:nvSpPr>
        <p:spPr>
          <a:xfrm>
            <a:off x="502920" y="3127248"/>
            <a:ext cx="4069080" cy="640080"/>
          </a:xfrm>
          <a:prstGeom prst="rect">
            <a:avLst/>
          </a:prstGeom>
          <a:noFill/>
          <a:ln/>
        </p:spPr>
        <p:txBody>
          <a:bodyPr wrap="square" lIns="0" tIns="0" rIns="0" bIns="0" rtlCol="0" anchor="ctr"/>
          <a:lstStyle/>
          <a:p>
            <a:pPr indent="0" marL="0">
              <a:buNone/>
            </a:pPr>
            <a:r>
              <a:rPr lang="en-US" sz="1200" b="1" dirty="0">
                <a:solidFill>
                  <a:srgbClr val="0B3B38"/>
                </a:solidFill>
                <a:latin typeface="Montserrat" pitchFamily="34" charset="0"/>
                <a:ea typeface="Montserrat" pitchFamily="34" charset="-122"/>
                <a:cs typeface="Montserrat" pitchFamily="34" charset="-120"/>
              </a:rPr>
              <a:t>Marga Mulya is a coastal village shaped by agriculture, fisheries, community, and a growing local economy.</a:t>
            </a:r>
            <a:endParaRPr lang="en-US" sz="1200" dirty="0"/>
          </a:p>
        </p:txBody>
      </p:sp>
      <p:sp>
        <p:nvSpPr>
          <p:cNvPr id="12" name="Text 9"/>
          <p:cNvSpPr/>
          <p:nvPr/>
        </p:nvSpPr>
        <p:spPr>
          <a:xfrm>
            <a:off x="4937760" y="1353312"/>
            <a:ext cx="1243584" cy="457200"/>
          </a:xfrm>
          <a:prstGeom prst="rect">
            <a:avLst/>
          </a:prstGeom>
          <a:noFill/>
          <a:ln/>
        </p:spPr>
        <p:txBody>
          <a:bodyPr wrap="square" lIns="0" tIns="0" rIns="0" bIns="0" rtlCol="0" anchor="t">
            <a:normAutofit/>
          </a:bodyPr>
          <a:lstStyle/>
          <a:p>
            <a:pPr indent="0" marL="0">
              <a:buNone/>
            </a:pPr>
            <a:r>
              <a:rPr lang="en-US" sz="2300" b="1" dirty="0">
                <a:solidFill>
                  <a:srgbClr val="0E8C86"/>
                </a:solidFill>
                <a:latin typeface="Montserrat" pitchFamily="34" charset="0"/>
                <a:ea typeface="Montserrat" pitchFamily="34" charset="-122"/>
                <a:cs typeface="Montserrat" pitchFamily="34" charset="-120"/>
              </a:rPr>
              <a:t>7,842</a:t>
            </a:r>
            <a:endParaRPr lang="en-US" sz="2300" dirty="0"/>
          </a:p>
        </p:txBody>
      </p:sp>
      <p:sp>
        <p:nvSpPr>
          <p:cNvPr id="13" name="Text 10"/>
          <p:cNvSpPr/>
          <p:nvPr/>
        </p:nvSpPr>
        <p:spPr>
          <a:xfrm>
            <a:off x="4937760" y="1810512"/>
            <a:ext cx="1243584"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residents</a:t>
            </a:r>
            <a:endParaRPr lang="en-US" sz="900" dirty="0"/>
          </a:p>
        </p:txBody>
      </p:sp>
      <p:sp>
        <p:nvSpPr>
          <p:cNvPr id="14" name="Text 11"/>
          <p:cNvSpPr/>
          <p:nvPr/>
        </p:nvSpPr>
        <p:spPr>
          <a:xfrm>
            <a:off x="6199632" y="1353312"/>
            <a:ext cx="1243584" cy="457200"/>
          </a:xfrm>
          <a:prstGeom prst="rect">
            <a:avLst/>
          </a:prstGeom>
          <a:noFill/>
          <a:ln/>
        </p:spPr>
        <p:txBody>
          <a:bodyPr wrap="square" lIns="0" tIns="0" rIns="0" bIns="0" rtlCol="0" anchor="t">
            <a:normAutofit/>
          </a:bodyPr>
          <a:lstStyle/>
          <a:p>
            <a:pPr indent="0" marL="0">
              <a:buNone/>
            </a:pPr>
            <a:r>
              <a:rPr lang="en-US" sz="2300" b="1" dirty="0">
                <a:solidFill>
                  <a:srgbClr val="0E8C86"/>
                </a:solidFill>
                <a:latin typeface="Montserrat" pitchFamily="34" charset="0"/>
                <a:ea typeface="Montserrat" pitchFamily="34" charset="-122"/>
                <a:cs typeface="Montserrat" pitchFamily="34" charset="-120"/>
              </a:rPr>
              <a:t>2,318</a:t>
            </a:r>
            <a:endParaRPr lang="en-US" sz="2300" dirty="0"/>
          </a:p>
        </p:txBody>
      </p:sp>
      <p:sp>
        <p:nvSpPr>
          <p:cNvPr id="15" name="Text 12"/>
          <p:cNvSpPr/>
          <p:nvPr/>
        </p:nvSpPr>
        <p:spPr>
          <a:xfrm>
            <a:off x="6199632" y="1810512"/>
            <a:ext cx="1243584"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households</a:t>
            </a:r>
            <a:endParaRPr lang="en-US" sz="900" dirty="0"/>
          </a:p>
        </p:txBody>
      </p:sp>
      <p:sp>
        <p:nvSpPr>
          <p:cNvPr id="16" name="Text 13"/>
          <p:cNvSpPr/>
          <p:nvPr/>
        </p:nvSpPr>
        <p:spPr>
          <a:xfrm>
            <a:off x="7461504" y="1353312"/>
            <a:ext cx="1243584" cy="457200"/>
          </a:xfrm>
          <a:prstGeom prst="rect">
            <a:avLst/>
          </a:prstGeom>
          <a:noFill/>
          <a:ln/>
        </p:spPr>
        <p:txBody>
          <a:bodyPr wrap="square" lIns="0" tIns="0" rIns="0" bIns="0" rtlCol="0" anchor="t">
            <a:normAutofit/>
          </a:bodyPr>
          <a:lstStyle/>
          <a:p>
            <a:pPr indent="0" marL="0">
              <a:buNone/>
            </a:pPr>
            <a:r>
              <a:rPr lang="en-US" sz="2300" b="1" dirty="0">
                <a:solidFill>
                  <a:srgbClr val="0E8C86"/>
                </a:solidFill>
                <a:latin typeface="Montserrat" pitchFamily="34" charset="0"/>
                <a:ea typeface="Montserrat" pitchFamily="34" charset="-122"/>
                <a:cs typeface="Montserrat" pitchFamily="34" charset="-120"/>
              </a:rPr>
              <a:t>412 ha</a:t>
            </a:r>
            <a:endParaRPr lang="en-US" sz="2300" dirty="0"/>
          </a:p>
        </p:txBody>
      </p:sp>
      <p:sp>
        <p:nvSpPr>
          <p:cNvPr id="17" name="Text 14"/>
          <p:cNvSpPr/>
          <p:nvPr/>
        </p:nvSpPr>
        <p:spPr>
          <a:xfrm>
            <a:off x="7461504" y="1810512"/>
            <a:ext cx="1243584"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village land</a:t>
            </a:r>
            <a:endParaRPr lang="en-US" sz="900" dirty="0"/>
          </a:p>
        </p:txBody>
      </p:sp>
      <p:sp>
        <p:nvSpPr>
          <p:cNvPr id="18" name="Shape 15"/>
          <p:cNvSpPr/>
          <p:nvPr/>
        </p:nvSpPr>
        <p:spPr>
          <a:xfrm>
            <a:off x="4937760" y="2194560"/>
            <a:ext cx="3703320" cy="0"/>
          </a:xfrm>
          <a:prstGeom prst="line">
            <a:avLst/>
          </a:prstGeom>
          <a:noFill/>
          <a:ln w="12700">
            <a:solidFill>
              <a:srgbClr val="BBD8D4"/>
            </a:solidFill>
            <a:prstDash val="solid"/>
          </a:ln>
        </p:spPr>
      </p:sp>
      <p:sp>
        <p:nvSpPr>
          <p:cNvPr id="19" name="Text 16"/>
          <p:cNvSpPr/>
          <p:nvPr/>
        </p:nvSpPr>
        <p:spPr>
          <a:xfrm>
            <a:off x="4937760" y="2377440"/>
            <a:ext cx="960120" cy="502920"/>
          </a:xfrm>
          <a:prstGeom prst="rect">
            <a:avLst/>
          </a:prstGeom>
          <a:noFill/>
          <a:ln/>
        </p:spPr>
        <p:txBody>
          <a:bodyPr wrap="square" lIns="0" tIns="0" rIns="0" bIns="0" rtlCol="0" anchor="ctr"/>
          <a:lstStyle/>
          <a:p>
            <a:pPr indent="0" marL="0">
              <a:buNone/>
            </a:pPr>
            <a:r>
              <a:rPr lang="en-US" sz="2300" b="1" dirty="0">
                <a:solidFill>
                  <a:srgbClr val="0B3B38"/>
                </a:solidFill>
                <a:latin typeface="Montserrat" pitchFamily="34" charset="0"/>
                <a:ea typeface="Montserrat" pitchFamily="34" charset="-122"/>
                <a:cs typeface="Montserrat" pitchFamily="34" charset="-120"/>
              </a:rPr>
              <a:t>55%</a:t>
            </a:r>
            <a:endParaRPr lang="en-US" sz="2300" dirty="0"/>
          </a:p>
        </p:txBody>
      </p:sp>
      <p:sp>
        <p:nvSpPr>
          <p:cNvPr id="20" name="Text 17"/>
          <p:cNvSpPr/>
          <p:nvPr/>
        </p:nvSpPr>
        <p:spPr>
          <a:xfrm>
            <a:off x="5943600" y="2377440"/>
            <a:ext cx="2697480" cy="228600"/>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of land is rice fields &amp; fish ponds</a:t>
            </a:r>
            <a:endParaRPr lang="en-US" sz="900" dirty="0"/>
          </a:p>
        </p:txBody>
      </p:sp>
      <p:sp>
        <p:nvSpPr>
          <p:cNvPr id="21" name="Shape 18"/>
          <p:cNvSpPr/>
          <p:nvPr/>
        </p:nvSpPr>
        <p:spPr>
          <a:xfrm>
            <a:off x="5943600" y="2670048"/>
            <a:ext cx="2697480" cy="137160"/>
          </a:xfrm>
          <a:prstGeom prst="roundRect">
            <a:avLst>
              <a:gd name="adj" fmla="val 46667"/>
            </a:avLst>
          </a:prstGeom>
          <a:solidFill>
            <a:srgbClr val="D8F0ED"/>
          </a:solidFill>
          <a:ln w="12700">
            <a:solidFill>
              <a:srgbClr val="D8F0ED"/>
            </a:solidFill>
            <a:prstDash val="solid"/>
          </a:ln>
        </p:spPr>
      </p:sp>
      <p:sp>
        <p:nvSpPr>
          <p:cNvPr id="22" name="Shape 19"/>
          <p:cNvSpPr/>
          <p:nvPr/>
        </p:nvSpPr>
        <p:spPr>
          <a:xfrm>
            <a:off x="5943600" y="2670048"/>
            <a:ext cx="1483614" cy="137160"/>
          </a:xfrm>
          <a:prstGeom prst="roundRect">
            <a:avLst>
              <a:gd name="adj" fmla="val 46667"/>
            </a:avLst>
          </a:prstGeom>
          <a:solidFill>
            <a:srgbClr val="0E8C86"/>
          </a:solidFill>
          <a:ln w="12700">
            <a:solidFill>
              <a:srgbClr val="0E8C86"/>
            </a:solidFill>
            <a:prstDash val="solid"/>
          </a:ln>
        </p:spPr>
      </p:sp>
      <p:sp>
        <p:nvSpPr>
          <p:cNvPr id="23" name="Text 20"/>
          <p:cNvSpPr/>
          <p:nvPr/>
        </p:nvSpPr>
        <p:spPr>
          <a:xfrm>
            <a:off x="4937760" y="3090672"/>
            <a:ext cx="960120" cy="502920"/>
          </a:xfrm>
          <a:prstGeom prst="rect">
            <a:avLst/>
          </a:prstGeom>
          <a:noFill/>
          <a:ln/>
        </p:spPr>
        <p:txBody>
          <a:bodyPr wrap="square" lIns="0" tIns="0" rIns="0" bIns="0" rtlCol="0" anchor="ctr"/>
          <a:lstStyle/>
          <a:p>
            <a:pPr indent="0" marL="0">
              <a:buNone/>
            </a:pPr>
            <a:r>
              <a:rPr lang="en-US" sz="2300" b="1" dirty="0">
                <a:solidFill>
                  <a:srgbClr val="0B3B38"/>
                </a:solidFill>
                <a:latin typeface="Montserrat" pitchFamily="34" charset="0"/>
                <a:ea typeface="Montserrat" pitchFamily="34" charset="-122"/>
                <a:cs typeface="Montserrat" pitchFamily="34" charset="-120"/>
              </a:rPr>
              <a:t>41%</a:t>
            </a:r>
            <a:endParaRPr lang="en-US" sz="2300" dirty="0"/>
          </a:p>
        </p:txBody>
      </p:sp>
      <p:sp>
        <p:nvSpPr>
          <p:cNvPr id="24" name="Text 21"/>
          <p:cNvSpPr/>
          <p:nvPr/>
        </p:nvSpPr>
        <p:spPr>
          <a:xfrm>
            <a:off x="5943600" y="3090672"/>
            <a:ext cx="2697480" cy="228600"/>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of workers are in farming &amp; fisheries</a:t>
            </a:r>
            <a:endParaRPr lang="en-US" sz="900" dirty="0"/>
          </a:p>
        </p:txBody>
      </p:sp>
      <p:sp>
        <p:nvSpPr>
          <p:cNvPr id="25" name="Shape 22"/>
          <p:cNvSpPr/>
          <p:nvPr/>
        </p:nvSpPr>
        <p:spPr>
          <a:xfrm>
            <a:off x="5943600" y="3383280"/>
            <a:ext cx="2697480" cy="137160"/>
          </a:xfrm>
          <a:prstGeom prst="roundRect">
            <a:avLst>
              <a:gd name="adj" fmla="val 46667"/>
            </a:avLst>
          </a:prstGeom>
          <a:solidFill>
            <a:srgbClr val="D8F0ED"/>
          </a:solidFill>
          <a:ln w="12700">
            <a:solidFill>
              <a:srgbClr val="D8F0ED"/>
            </a:solidFill>
            <a:prstDash val="solid"/>
          </a:ln>
        </p:spPr>
      </p:sp>
      <p:sp>
        <p:nvSpPr>
          <p:cNvPr id="26" name="Shape 23"/>
          <p:cNvSpPr/>
          <p:nvPr/>
        </p:nvSpPr>
        <p:spPr>
          <a:xfrm>
            <a:off x="5943600" y="3383280"/>
            <a:ext cx="1105967" cy="137160"/>
          </a:xfrm>
          <a:prstGeom prst="roundRect">
            <a:avLst>
              <a:gd name="adj" fmla="val 46667"/>
            </a:avLst>
          </a:prstGeom>
          <a:solidFill>
            <a:srgbClr val="0E8C86"/>
          </a:solidFill>
          <a:ln w="12700">
            <a:solidFill>
              <a:srgbClr val="0E8C86"/>
            </a:solidFill>
            <a:prstDash val="solid"/>
          </a:ln>
        </p:spPr>
      </p:sp>
      <p:sp>
        <p:nvSpPr>
          <p:cNvPr id="27" name="Shape 24"/>
          <p:cNvSpPr/>
          <p:nvPr/>
        </p:nvSpPr>
        <p:spPr>
          <a:xfrm>
            <a:off x="502920" y="4023360"/>
            <a:ext cx="1920240" cy="548640"/>
          </a:xfrm>
          <a:prstGeom prst="roundRect">
            <a:avLst>
              <a:gd name="adj" fmla="val 50000"/>
            </a:avLst>
          </a:prstGeom>
          <a:solidFill>
            <a:srgbClr val="FFFFFF"/>
          </a:solidFill>
          <a:ln w="12700">
            <a:solidFill>
              <a:srgbClr val="0E8C86"/>
            </a:solidFill>
            <a:prstDash val="sysDot"/>
          </a:ln>
        </p:spPr>
      </p:sp>
      <p:sp>
        <p:nvSpPr>
          <p:cNvPr id="28" name="Shape 25"/>
          <p:cNvSpPr/>
          <p:nvPr/>
        </p:nvSpPr>
        <p:spPr>
          <a:xfrm>
            <a:off x="594360" y="4096512"/>
            <a:ext cx="402336" cy="402336"/>
          </a:xfrm>
          <a:prstGeom prst="ellipse">
            <a:avLst/>
          </a:prstGeom>
          <a:solidFill>
            <a:srgbClr val="0E8C86"/>
          </a:solidFill>
          <a:ln w="12700">
            <a:solidFill>
              <a:srgbClr val="0E8C86"/>
            </a:solidFill>
            <a:prstDash val="solid"/>
          </a:ln>
        </p:spPr>
      </p:sp>
      <p:pic>
        <p:nvPicPr>
          <p:cNvPr id="29" name="Image 1" descr="/home/runner/work/Desa-Marga-Mulya/Desa-Marga-Mulya/deck/assets/build/teal/icon-seedling-w.png">    </p:cNvPr>
          <p:cNvPicPr>
            <a:picLocks noChangeAspect="1"/>
          </p:cNvPicPr>
          <p:nvPr/>
        </p:nvPicPr>
        <p:blipFill>
          <a:blip r:embed="rId3"/>
          <a:stretch>
            <a:fillRect/>
          </a:stretch>
        </p:blipFill>
        <p:spPr>
          <a:xfrm>
            <a:off x="702991" y="4205143"/>
            <a:ext cx="185075" cy="185075"/>
          </a:xfrm>
          <a:prstGeom prst="rect">
            <a:avLst/>
          </a:prstGeom>
        </p:spPr>
      </p:pic>
      <p:sp>
        <p:nvSpPr>
          <p:cNvPr id="30" name="Text 26"/>
          <p:cNvSpPr/>
          <p:nvPr/>
        </p:nvSpPr>
        <p:spPr>
          <a:xfrm>
            <a:off x="1097280" y="4023360"/>
            <a:ext cx="1280160" cy="548640"/>
          </a:xfrm>
          <a:prstGeom prst="rect">
            <a:avLst/>
          </a:prstGeom>
          <a:noFill/>
          <a:ln/>
        </p:spPr>
        <p:txBody>
          <a:bodyPr wrap="square" lIns="0" tIns="0" rIns="0" bIns="0" rtlCol="0" anchor="ctr"/>
          <a:lstStyle/>
          <a:p>
            <a:pPr indent="0" marL="0">
              <a:buNone/>
            </a:pPr>
            <a:r>
              <a:rPr lang="en-US" sz="1100" b="1" dirty="0">
                <a:solidFill>
                  <a:srgbClr val="0B3B38"/>
                </a:solidFill>
                <a:latin typeface="Montserrat" pitchFamily="34" charset="0"/>
                <a:ea typeface="Montserrat" pitchFamily="34" charset="-122"/>
                <a:cs typeface="Montserrat" pitchFamily="34" charset="-120"/>
              </a:rPr>
              <a:t>Agriculture</a:t>
            </a:r>
            <a:endParaRPr lang="en-US" sz="1100" dirty="0"/>
          </a:p>
        </p:txBody>
      </p:sp>
      <p:sp>
        <p:nvSpPr>
          <p:cNvPr id="31" name="Shape 27"/>
          <p:cNvSpPr/>
          <p:nvPr/>
        </p:nvSpPr>
        <p:spPr>
          <a:xfrm>
            <a:off x="2569464" y="4023360"/>
            <a:ext cx="1920240" cy="548640"/>
          </a:xfrm>
          <a:prstGeom prst="roundRect">
            <a:avLst>
              <a:gd name="adj" fmla="val 50000"/>
            </a:avLst>
          </a:prstGeom>
          <a:solidFill>
            <a:srgbClr val="FFFFFF"/>
          </a:solidFill>
          <a:ln w="12700">
            <a:solidFill>
              <a:srgbClr val="0E8C86"/>
            </a:solidFill>
            <a:prstDash val="sysDot"/>
          </a:ln>
        </p:spPr>
      </p:sp>
      <p:sp>
        <p:nvSpPr>
          <p:cNvPr id="32" name="Shape 28"/>
          <p:cNvSpPr/>
          <p:nvPr/>
        </p:nvSpPr>
        <p:spPr>
          <a:xfrm>
            <a:off x="2660904" y="4096512"/>
            <a:ext cx="402336" cy="402336"/>
          </a:xfrm>
          <a:prstGeom prst="ellipse">
            <a:avLst/>
          </a:prstGeom>
          <a:solidFill>
            <a:srgbClr val="0E8C86"/>
          </a:solidFill>
          <a:ln w="12700">
            <a:solidFill>
              <a:srgbClr val="0E8C86"/>
            </a:solidFill>
            <a:prstDash val="solid"/>
          </a:ln>
        </p:spPr>
      </p:sp>
      <p:pic>
        <p:nvPicPr>
          <p:cNvPr id="33" name="Image 2" descr="/home/runner/work/Desa-Marga-Mulya/Desa-Marga-Mulya/deck/assets/build/teal/icon-fish-w.png">    </p:cNvPr>
          <p:cNvPicPr>
            <a:picLocks noChangeAspect="1"/>
          </p:cNvPicPr>
          <p:nvPr/>
        </p:nvPicPr>
        <p:blipFill>
          <a:blip r:embed="rId4"/>
          <a:stretch>
            <a:fillRect/>
          </a:stretch>
        </p:blipFill>
        <p:spPr>
          <a:xfrm>
            <a:off x="2769535" y="4205143"/>
            <a:ext cx="185075" cy="185075"/>
          </a:xfrm>
          <a:prstGeom prst="rect">
            <a:avLst/>
          </a:prstGeom>
        </p:spPr>
      </p:pic>
      <p:sp>
        <p:nvSpPr>
          <p:cNvPr id="34" name="Text 29"/>
          <p:cNvSpPr/>
          <p:nvPr/>
        </p:nvSpPr>
        <p:spPr>
          <a:xfrm>
            <a:off x="3163824" y="4023360"/>
            <a:ext cx="1280160" cy="548640"/>
          </a:xfrm>
          <a:prstGeom prst="rect">
            <a:avLst/>
          </a:prstGeom>
          <a:noFill/>
          <a:ln/>
        </p:spPr>
        <p:txBody>
          <a:bodyPr wrap="square" lIns="0" tIns="0" rIns="0" bIns="0" rtlCol="0" anchor="ctr"/>
          <a:lstStyle/>
          <a:p>
            <a:pPr indent="0" marL="0">
              <a:buNone/>
            </a:pPr>
            <a:r>
              <a:rPr lang="en-US" sz="1100" b="1" dirty="0">
                <a:solidFill>
                  <a:srgbClr val="0B3B38"/>
                </a:solidFill>
                <a:latin typeface="Montserrat" pitchFamily="34" charset="0"/>
                <a:ea typeface="Montserrat" pitchFamily="34" charset="-122"/>
                <a:cs typeface="Montserrat" pitchFamily="34" charset="-120"/>
              </a:rPr>
              <a:t>Fisheries</a:t>
            </a:r>
            <a:endParaRPr lang="en-US" sz="1100" dirty="0"/>
          </a:p>
        </p:txBody>
      </p:sp>
      <p:sp>
        <p:nvSpPr>
          <p:cNvPr id="35" name="Shape 30"/>
          <p:cNvSpPr/>
          <p:nvPr/>
        </p:nvSpPr>
        <p:spPr>
          <a:xfrm>
            <a:off x="4636008" y="4023360"/>
            <a:ext cx="1920240" cy="548640"/>
          </a:xfrm>
          <a:prstGeom prst="roundRect">
            <a:avLst>
              <a:gd name="adj" fmla="val 50000"/>
            </a:avLst>
          </a:prstGeom>
          <a:solidFill>
            <a:srgbClr val="FFFFFF"/>
          </a:solidFill>
          <a:ln w="12700">
            <a:solidFill>
              <a:srgbClr val="0E8C86"/>
            </a:solidFill>
            <a:prstDash val="sysDot"/>
          </a:ln>
        </p:spPr>
      </p:sp>
      <p:sp>
        <p:nvSpPr>
          <p:cNvPr id="36" name="Shape 31"/>
          <p:cNvSpPr/>
          <p:nvPr/>
        </p:nvSpPr>
        <p:spPr>
          <a:xfrm>
            <a:off x="4727448" y="4096512"/>
            <a:ext cx="402336" cy="402336"/>
          </a:xfrm>
          <a:prstGeom prst="ellipse">
            <a:avLst/>
          </a:prstGeom>
          <a:solidFill>
            <a:srgbClr val="0E8C86"/>
          </a:solidFill>
          <a:ln w="12700">
            <a:solidFill>
              <a:srgbClr val="0E8C86"/>
            </a:solidFill>
            <a:prstDash val="solid"/>
          </a:ln>
        </p:spPr>
      </p:sp>
      <p:pic>
        <p:nvPicPr>
          <p:cNvPr id="37" name="Image 3" descr="/home/runner/work/Desa-Marga-Mulya/Desa-Marga-Mulya/deck/assets/build/teal/icon-users-w.png">    </p:cNvPr>
          <p:cNvPicPr>
            <a:picLocks noChangeAspect="1"/>
          </p:cNvPicPr>
          <p:nvPr/>
        </p:nvPicPr>
        <p:blipFill>
          <a:blip r:embed="rId5"/>
          <a:stretch>
            <a:fillRect/>
          </a:stretch>
        </p:blipFill>
        <p:spPr>
          <a:xfrm>
            <a:off x="4836079" y="4205143"/>
            <a:ext cx="185075" cy="185075"/>
          </a:xfrm>
          <a:prstGeom prst="rect">
            <a:avLst/>
          </a:prstGeom>
        </p:spPr>
      </p:pic>
      <p:sp>
        <p:nvSpPr>
          <p:cNvPr id="38" name="Text 32"/>
          <p:cNvSpPr/>
          <p:nvPr/>
        </p:nvSpPr>
        <p:spPr>
          <a:xfrm>
            <a:off x="5230368" y="4023360"/>
            <a:ext cx="1280160" cy="548640"/>
          </a:xfrm>
          <a:prstGeom prst="rect">
            <a:avLst/>
          </a:prstGeom>
          <a:noFill/>
          <a:ln/>
        </p:spPr>
        <p:txBody>
          <a:bodyPr wrap="square" lIns="0" tIns="0" rIns="0" bIns="0" rtlCol="0" anchor="ctr"/>
          <a:lstStyle/>
          <a:p>
            <a:pPr indent="0" marL="0">
              <a:buNone/>
            </a:pPr>
            <a:r>
              <a:rPr lang="en-US" sz="1100" b="1" dirty="0">
                <a:solidFill>
                  <a:srgbClr val="0B3B38"/>
                </a:solidFill>
                <a:latin typeface="Montserrat" pitchFamily="34" charset="0"/>
                <a:ea typeface="Montserrat" pitchFamily="34" charset="-122"/>
                <a:cs typeface="Montserrat" pitchFamily="34" charset="-120"/>
              </a:rPr>
              <a:t>Community</a:t>
            </a:r>
            <a:endParaRPr lang="en-US" sz="1100" dirty="0"/>
          </a:p>
        </p:txBody>
      </p:sp>
      <p:sp>
        <p:nvSpPr>
          <p:cNvPr id="39" name="Shape 33"/>
          <p:cNvSpPr/>
          <p:nvPr/>
        </p:nvSpPr>
        <p:spPr>
          <a:xfrm>
            <a:off x="6702552" y="4023360"/>
            <a:ext cx="1920240" cy="548640"/>
          </a:xfrm>
          <a:prstGeom prst="roundRect">
            <a:avLst>
              <a:gd name="adj" fmla="val 50000"/>
            </a:avLst>
          </a:prstGeom>
          <a:solidFill>
            <a:srgbClr val="FFFFFF"/>
          </a:solidFill>
          <a:ln w="12700">
            <a:solidFill>
              <a:srgbClr val="0E8C86"/>
            </a:solidFill>
            <a:prstDash val="sysDot"/>
          </a:ln>
        </p:spPr>
      </p:sp>
      <p:sp>
        <p:nvSpPr>
          <p:cNvPr id="40" name="Shape 34"/>
          <p:cNvSpPr/>
          <p:nvPr/>
        </p:nvSpPr>
        <p:spPr>
          <a:xfrm>
            <a:off x="6793992" y="4096512"/>
            <a:ext cx="402336" cy="402336"/>
          </a:xfrm>
          <a:prstGeom prst="ellipse">
            <a:avLst/>
          </a:prstGeom>
          <a:solidFill>
            <a:srgbClr val="0E8C86"/>
          </a:solidFill>
          <a:ln w="12700">
            <a:solidFill>
              <a:srgbClr val="0E8C86"/>
            </a:solidFill>
            <a:prstDash val="solid"/>
          </a:ln>
        </p:spPr>
      </p:sp>
      <p:pic>
        <p:nvPicPr>
          <p:cNvPr id="41" name="Image 4" descr="/home/runner/work/Desa-Marga-Mulya/Desa-Marga-Mulya/deck/assets/build/teal/icon-market-w.png">    </p:cNvPr>
          <p:cNvPicPr>
            <a:picLocks noChangeAspect="1"/>
          </p:cNvPicPr>
          <p:nvPr/>
        </p:nvPicPr>
        <p:blipFill>
          <a:blip r:embed="rId6"/>
          <a:stretch>
            <a:fillRect/>
          </a:stretch>
        </p:blipFill>
        <p:spPr>
          <a:xfrm>
            <a:off x="6902623" y="4205143"/>
            <a:ext cx="185075" cy="185075"/>
          </a:xfrm>
          <a:prstGeom prst="rect">
            <a:avLst/>
          </a:prstGeom>
        </p:spPr>
      </p:pic>
      <p:sp>
        <p:nvSpPr>
          <p:cNvPr id="42" name="Text 35"/>
          <p:cNvSpPr/>
          <p:nvPr/>
        </p:nvSpPr>
        <p:spPr>
          <a:xfrm>
            <a:off x="7296912" y="4023360"/>
            <a:ext cx="1280160" cy="548640"/>
          </a:xfrm>
          <a:prstGeom prst="rect">
            <a:avLst/>
          </a:prstGeom>
          <a:noFill/>
          <a:ln/>
        </p:spPr>
        <p:txBody>
          <a:bodyPr wrap="square" lIns="0" tIns="0" rIns="0" bIns="0" rtlCol="0" anchor="ctr"/>
          <a:lstStyle/>
          <a:p>
            <a:pPr indent="0" marL="0">
              <a:buNone/>
            </a:pPr>
            <a:r>
              <a:rPr lang="en-US" sz="1100" b="1" dirty="0">
                <a:solidFill>
                  <a:srgbClr val="0B3B38"/>
                </a:solidFill>
                <a:latin typeface="Montserrat" pitchFamily="34" charset="0"/>
                <a:ea typeface="Montserrat" pitchFamily="34" charset="-122"/>
                <a:cs typeface="Montserrat" pitchFamily="34" charset="-120"/>
              </a:rPr>
              <a:t>Local economy</a:t>
            </a:r>
            <a:endParaRPr lang="en-US" sz="1100" dirty="0"/>
          </a:p>
        </p:txBody>
      </p:sp>
      <p:sp>
        <p:nvSpPr>
          <p:cNvPr id="43" name="Text 36"/>
          <p:cNvSpPr/>
          <p:nvPr/>
        </p:nvSpPr>
        <p:spPr>
          <a:xfrm>
            <a:off x="502920" y="4846320"/>
            <a:ext cx="8138160" cy="182880"/>
          </a:xfrm>
          <a:prstGeom prst="rect">
            <a:avLst/>
          </a:prstGeom>
          <a:noFill/>
          <a:ln/>
        </p:spPr>
        <p:txBody>
          <a:bodyPr wrap="square" lIns="0" tIns="0" rIns="0" bIns="0" rtlCol="0" anchor="t"/>
          <a:lstStyle/>
          <a:p>
            <a:pPr indent="0" marL="0">
              <a:buNone/>
            </a:pPr>
            <a:r>
              <a:rPr lang="en-US" sz="700" i="1" dirty="0">
                <a:solidFill>
                  <a:srgbClr val="4B6360"/>
                </a:solidFill>
                <a:latin typeface="Montserrat" pitchFamily="34" charset="0"/>
                <a:ea typeface="Montserrat" pitchFamily="34" charset="-122"/>
                <a:cs typeface="Montserrat" pitchFamily="34" charset="-120"/>
              </a:rPr>
              <a:t>Village figures as currently entered in the website CMS — to be replaced with official BPS / village office figures. Map © OpenStreetMap contributors.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Overview</a:t>
            </a:r>
            <a:endParaRPr lang="en-US" sz="900" dirty="0"/>
          </a:p>
        </p:txBody>
      </p:sp>
      <p:sp>
        <p:nvSpPr>
          <p:cNvPr id="3" name="Shape 1"/>
          <p:cNvSpPr/>
          <p:nvPr/>
        </p:nvSpPr>
        <p:spPr>
          <a:xfrm>
            <a:off x="2377440" y="91440"/>
            <a:ext cx="1097280" cy="32004"/>
          </a:xfrm>
          <a:prstGeom prst="rect">
            <a:avLst/>
          </a:prstGeom>
          <a:solidFill>
            <a:srgbClr val="0E8C86"/>
          </a:solidFill>
          <a:ln w="12700">
            <a:solidFill>
              <a:srgbClr val="0E8C86"/>
            </a:solidFill>
            <a:prstDash val="solid"/>
          </a:ln>
        </p:spPr>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0B3B38"/>
                </a:solidFill>
                <a:latin typeface="Montserrat" pitchFamily="34" charset="0"/>
                <a:ea typeface="Montserrat" pitchFamily="34" charset="-122"/>
                <a:cs typeface="Montserrat" pitchFamily="34" charset="-120"/>
              </a:rPr>
              <a:t>Scattered, Not Missing</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4B6360"/>
                </a:solidFill>
                <a:latin typeface="Montserrat" pitchFamily="34" charset="0"/>
                <a:ea typeface="Montserrat" pitchFamily="34" charset="-122"/>
                <a:cs typeface="Montserrat" pitchFamily="34" charset="-120"/>
              </a:rPr>
              <a:t>The village has information and potential — but it is hard to find, access, and use.</a:t>
            </a:r>
            <a:endParaRPr lang="en-US" sz="1200" dirty="0"/>
          </a:p>
        </p:txBody>
      </p:sp>
      <p:sp>
        <p:nvSpPr>
          <p:cNvPr id="10" name="Shape 8"/>
          <p:cNvSpPr/>
          <p:nvPr/>
        </p:nvSpPr>
        <p:spPr>
          <a:xfrm>
            <a:off x="502920" y="1371600"/>
            <a:ext cx="2596896" cy="2212848"/>
          </a:xfrm>
          <a:prstGeom prst="roundRect">
            <a:avLst>
              <a:gd name="adj" fmla="val 4132"/>
            </a:avLst>
          </a:prstGeom>
          <a:solidFill>
            <a:srgbClr val="FFFFFF">
              <a:alpha val="90000"/>
            </a:srgbClr>
          </a:solidFill>
          <a:ln w="15875">
            <a:solidFill>
              <a:srgbClr val="0E8C86"/>
            </a:solidFill>
            <a:prstDash val="sysDot"/>
          </a:ln>
        </p:spPr>
      </p:sp>
      <p:sp>
        <p:nvSpPr>
          <p:cNvPr id="11" name="Shape 9"/>
          <p:cNvSpPr/>
          <p:nvPr/>
        </p:nvSpPr>
        <p:spPr>
          <a:xfrm>
            <a:off x="685800" y="1554480"/>
            <a:ext cx="420624" cy="420624"/>
          </a:xfrm>
          <a:prstGeom prst="ellipse">
            <a:avLst/>
          </a:prstGeom>
          <a:solidFill>
            <a:srgbClr val="0E8C86"/>
          </a:solidFill>
          <a:ln w="12700">
            <a:solidFill>
              <a:srgbClr val="0E8C86"/>
            </a:solidFill>
            <a:prstDash val="solid"/>
          </a:ln>
        </p:spPr>
      </p:sp>
      <p:pic>
        <p:nvPicPr>
          <p:cNvPr id="12" name="Image 0" descr="/home/runner/work/Desa-Marga-Mulya/Desa-Marga-Mulya/deck/assets/build/teal/icon-home-w.png">    </p:cNvPr>
          <p:cNvPicPr>
            <a:picLocks noChangeAspect="1"/>
          </p:cNvPicPr>
          <p:nvPr/>
        </p:nvPicPr>
        <p:blipFill>
          <a:blip r:embed="rId2"/>
          <a:stretch>
            <a:fillRect/>
          </a:stretch>
        </p:blipFill>
        <p:spPr>
          <a:xfrm>
            <a:off x="799368" y="1668048"/>
            <a:ext cx="193487" cy="193487"/>
          </a:xfrm>
          <a:prstGeom prst="rect">
            <a:avLst/>
          </a:prstGeom>
        </p:spPr>
      </p:pic>
      <p:sp>
        <p:nvSpPr>
          <p:cNvPr id="13" name="Text 10"/>
          <p:cNvSpPr/>
          <p:nvPr/>
        </p:nvSpPr>
        <p:spPr>
          <a:xfrm>
            <a:off x="2551176" y="1481328"/>
            <a:ext cx="411480" cy="457200"/>
          </a:xfrm>
          <a:prstGeom prst="rect">
            <a:avLst/>
          </a:prstGeom>
          <a:noFill/>
          <a:ln/>
        </p:spPr>
        <p:txBody>
          <a:bodyPr wrap="square" lIns="0" tIns="0" rIns="0" bIns="0" rtlCol="0" anchor="t"/>
          <a:lstStyle/>
          <a:p>
            <a:pPr algn="r" indent="0" marL="0">
              <a:buNone/>
            </a:pPr>
            <a:r>
              <a:rPr lang="en-US" sz="2400" b="1" dirty="0">
                <a:solidFill>
                  <a:srgbClr val="BBD8D4"/>
                </a:solidFill>
                <a:latin typeface="Montserrat" pitchFamily="34" charset="0"/>
                <a:ea typeface="Montserrat" pitchFamily="34" charset="-122"/>
                <a:cs typeface="Montserrat" pitchFamily="34" charset="-120"/>
              </a:rPr>
              <a:t>1</a:t>
            </a:r>
            <a:endParaRPr lang="en-US" sz="2400" dirty="0"/>
          </a:p>
        </p:txBody>
      </p:sp>
      <p:sp>
        <p:nvSpPr>
          <p:cNvPr id="14" name="Text 11"/>
          <p:cNvSpPr/>
          <p:nvPr/>
        </p:nvSpPr>
        <p:spPr>
          <a:xfrm>
            <a:off x="1216152" y="1554480"/>
            <a:ext cx="1362456" cy="420624"/>
          </a:xfrm>
          <a:prstGeom prst="rect">
            <a:avLst/>
          </a:prstGeom>
          <a:noFill/>
          <a:ln/>
        </p:spPr>
        <p:txBody>
          <a:bodyPr wrap="square" lIns="0" tIns="0" rIns="0" bIns="0" rtlCol="0" anchor="ctr"/>
          <a:lstStyle/>
          <a:p>
            <a:pPr indent="0" marL="0">
              <a:buNone/>
            </a:pPr>
            <a:r>
              <a:rPr lang="en-US" sz="850" b="1" dirty="0">
                <a:solidFill>
                  <a:srgbClr val="0E8C86"/>
                </a:solidFill>
                <a:latin typeface="Montserrat" pitchFamily="34" charset="0"/>
                <a:ea typeface="Montserrat" pitchFamily="34" charset="-122"/>
                <a:cs typeface="Montserrat" pitchFamily="34" charset="-120"/>
              </a:rPr>
              <a:t>RESIDENT</a:t>
            </a:r>
            <a:endParaRPr lang="en-US" sz="850" dirty="0"/>
          </a:p>
        </p:txBody>
      </p:sp>
      <p:sp>
        <p:nvSpPr>
          <p:cNvPr id="15" name="Text 12"/>
          <p:cNvSpPr/>
          <p:nvPr/>
        </p:nvSpPr>
        <p:spPr>
          <a:xfrm>
            <a:off x="685800" y="2103120"/>
            <a:ext cx="2231136" cy="548640"/>
          </a:xfrm>
          <a:prstGeom prst="rect">
            <a:avLst/>
          </a:prstGeom>
          <a:noFill/>
          <a:ln/>
        </p:spPr>
        <p:txBody>
          <a:bodyPr wrap="square" lIns="0" tIns="0" rIns="0" bIns="0" rtlCol="0" anchor="t"/>
          <a:lstStyle/>
          <a:p>
            <a:pPr indent="0" marL="0">
              <a:buNone/>
            </a:pPr>
            <a:r>
              <a:rPr lang="en-US" sz="1250" b="1" i="1" dirty="0">
                <a:solidFill>
                  <a:srgbClr val="0B3B38"/>
                </a:solidFill>
                <a:latin typeface="Montserrat" pitchFamily="34" charset="0"/>
                <a:ea typeface="Montserrat" pitchFamily="34" charset="-122"/>
                <a:cs typeface="Montserrat" pitchFamily="34" charset="-120"/>
              </a:rPr>
              <a:t>“Who do I even ask about this?”</a:t>
            </a:r>
            <a:endParaRPr lang="en-US" sz="1250" dirty="0"/>
          </a:p>
        </p:txBody>
      </p:sp>
      <p:sp>
        <p:nvSpPr>
          <p:cNvPr id="16" name="Text 13"/>
          <p:cNvSpPr/>
          <p:nvPr/>
        </p:nvSpPr>
        <p:spPr>
          <a:xfrm>
            <a:off x="685800" y="2743200"/>
            <a:ext cx="2231136" cy="749808"/>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Services &amp; requirements</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Announcements &amp; events</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Village information</a:t>
            </a:r>
            <a:endParaRPr lang="en-US" sz="1000" dirty="0"/>
          </a:p>
        </p:txBody>
      </p:sp>
      <p:sp>
        <p:nvSpPr>
          <p:cNvPr id="17" name="Shape 14"/>
          <p:cNvSpPr/>
          <p:nvPr/>
        </p:nvSpPr>
        <p:spPr>
          <a:xfrm>
            <a:off x="3264408" y="1371600"/>
            <a:ext cx="2596896" cy="2212848"/>
          </a:xfrm>
          <a:prstGeom prst="roundRect">
            <a:avLst>
              <a:gd name="adj" fmla="val 4132"/>
            </a:avLst>
          </a:prstGeom>
          <a:solidFill>
            <a:srgbClr val="FFFFFF">
              <a:alpha val="90000"/>
            </a:srgbClr>
          </a:solidFill>
          <a:ln w="15875">
            <a:solidFill>
              <a:srgbClr val="0E8C86"/>
            </a:solidFill>
            <a:prstDash val="sysDot"/>
          </a:ln>
        </p:spPr>
      </p:sp>
      <p:sp>
        <p:nvSpPr>
          <p:cNvPr id="18" name="Shape 15"/>
          <p:cNvSpPr/>
          <p:nvPr/>
        </p:nvSpPr>
        <p:spPr>
          <a:xfrm>
            <a:off x="3447288" y="1554480"/>
            <a:ext cx="420624" cy="420624"/>
          </a:xfrm>
          <a:prstGeom prst="ellipse">
            <a:avLst/>
          </a:prstGeom>
          <a:solidFill>
            <a:srgbClr val="0E8C86"/>
          </a:solidFill>
          <a:ln w="12700">
            <a:solidFill>
              <a:srgbClr val="0E8C86"/>
            </a:solidFill>
            <a:prstDash val="solid"/>
          </a:ln>
        </p:spPr>
      </p:sp>
      <p:pic>
        <p:nvPicPr>
          <p:cNvPr id="19" name="Image 1" descr="/home/runner/work/Desa-Marga-Mulya/Desa-Marga-Mulya/deck/assets/build/teal/icon-basket-w.png">    </p:cNvPr>
          <p:cNvPicPr>
            <a:picLocks noChangeAspect="1"/>
          </p:cNvPicPr>
          <p:nvPr/>
        </p:nvPicPr>
        <p:blipFill>
          <a:blip r:embed="rId3"/>
          <a:stretch>
            <a:fillRect/>
          </a:stretch>
        </p:blipFill>
        <p:spPr>
          <a:xfrm>
            <a:off x="3560856" y="1668048"/>
            <a:ext cx="193487" cy="193487"/>
          </a:xfrm>
          <a:prstGeom prst="rect">
            <a:avLst/>
          </a:prstGeom>
        </p:spPr>
      </p:pic>
      <p:sp>
        <p:nvSpPr>
          <p:cNvPr id="20" name="Text 16"/>
          <p:cNvSpPr/>
          <p:nvPr/>
        </p:nvSpPr>
        <p:spPr>
          <a:xfrm>
            <a:off x="5312664" y="1481328"/>
            <a:ext cx="411480" cy="457200"/>
          </a:xfrm>
          <a:prstGeom prst="rect">
            <a:avLst/>
          </a:prstGeom>
          <a:noFill/>
          <a:ln/>
        </p:spPr>
        <p:txBody>
          <a:bodyPr wrap="square" lIns="0" tIns="0" rIns="0" bIns="0" rtlCol="0" anchor="t"/>
          <a:lstStyle/>
          <a:p>
            <a:pPr algn="r" indent="0" marL="0">
              <a:buNone/>
            </a:pPr>
            <a:r>
              <a:rPr lang="en-US" sz="2400" b="1" dirty="0">
                <a:solidFill>
                  <a:srgbClr val="BBD8D4"/>
                </a:solidFill>
                <a:latin typeface="Montserrat" pitchFamily="34" charset="0"/>
                <a:ea typeface="Montserrat" pitchFamily="34" charset="-122"/>
                <a:cs typeface="Montserrat" pitchFamily="34" charset="-120"/>
              </a:rPr>
              <a:t>2</a:t>
            </a:r>
            <a:endParaRPr lang="en-US" sz="2400" dirty="0"/>
          </a:p>
        </p:txBody>
      </p:sp>
      <p:sp>
        <p:nvSpPr>
          <p:cNvPr id="21" name="Text 17"/>
          <p:cNvSpPr/>
          <p:nvPr/>
        </p:nvSpPr>
        <p:spPr>
          <a:xfrm>
            <a:off x="3977640" y="1554480"/>
            <a:ext cx="1362456" cy="420624"/>
          </a:xfrm>
          <a:prstGeom prst="rect">
            <a:avLst/>
          </a:prstGeom>
          <a:noFill/>
          <a:ln/>
        </p:spPr>
        <p:txBody>
          <a:bodyPr wrap="square" lIns="0" tIns="0" rIns="0" bIns="0" rtlCol="0" anchor="ctr"/>
          <a:lstStyle/>
          <a:p>
            <a:pPr indent="0" marL="0">
              <a:buNone/>
            </a:pPr>
            <a:r>
              <a:rPr lang="en-US" sz="850" b="1" dirty="0">
                <a:solidFill>
                  <a:srgbClr val="0E8C86"/>
                </a:solidFill>
                <a:latin typeface="Montserrat" pitchFamily="34" charset="0"/>
                <a:ea typeface="Montserrat" pitchFamily="34" charset="-122"/>
                <a:cs typeface="Montserrat" pitchFamily="34" charset="-120"/>
              </a:rPr>
              <a:t>BUYER OUTSIDE THE VILLAGE</a:t>
            </a:r>
            <a:endParaRPr lang="en-US" sz="850" dirty="0"/>
          </a:p>
        </p:txBody>
      </p:sp>
      <p:sp>
        <p:nvSpPr>
          <p:cNvPr id="22" name="Text 18"/>
          <p:cNvSpPr/>
          <p:nvPr/>
        </p:nvSpPr>
        <p:spPr>
          <a:xfrm>
            <a:off x="3447288" y="2103120"/>
            <a:ext cx="2231136" cy="548640"/>
          </a:xfrm>
          <a:prstGeom prst="rect">
            <a:avLst/>
          </a:prstGeom>
          <a:noFill/>
          <a:ln/>
        </p:spPr>
        <p:txBody>
          <a:bodyPr wrap="square" lIns="0" tIns="0" rIns="0" bIns="0" rtlCol="0" anchor="t"/>
          <a:lstStyle/>
          <a:p>
            <a:pPr indent="0" marL="0">
              <a:buNone/>
            </a:pPr>
            <a:r>
              <a:rPr lang="en-US" sz="1250" b="1" i="1" dirty="0">
                <a:solidFill>
                  <a:srgbClr val="0B3B38"/>
                </a:solidFill>
                <a:latin typeface="Montserrat" pitchFamily="34" charset="0"/>
                <a:ea typeface="Montserrat" pitchFamily="34" charset="-122"/>
                <a:cs typeface="Montserrat" pitchFamily="34" charset="-120"/>
              </a:rPr>
              <a:t>“What can I buy from this village?”</a:t>
            </a:r>
            <a:endParaRPr lang="en-US" sz="1250" dirty="0"/>
          </a:p>
        </p:txBody>
      </p:sp>
      <p:sp>
        <p:nvSpPr>
          <p:cNvPr id="23" name="Text 19"/>
          <p:cNvSpPr/>
          <p:nvPr/>
        </p:nvSpPr>
        <p:spPr>
          <a:xfrm>
            <a:off x="3447288" y="2743200"/>
            <a:ext cx="2231136" cy="749808"/>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Local products</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Who sells them</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How to order</a:t>
            </a:r>
            <a:endParaRPr lang="en-US" sz="1000" dirty="0"/>
          </a:p>
        </p:txBody>
      </p:sp>
      <p:sp>
        <p:nvSpPr>
          <p:cNvPr id="24" name="Shape 20"/>
          <p:cNvSpPr/>
          <p:nvPr/>
        </p:nvSpPr>
        <p:spPr>
          <a:xfrm>
            <a:off x="6025896" y="1371600"/>
            <a:ext cx="2596896" cy="2212848"/>
          </a:xfrm>
          <a:prstGeom prst="roundRect">
            <a:avLst>
              <a:gd name="adj" fmla="val 4132"/>
            </a:avLst>
          </a:prstGeom>
          <a:solidFill>
            <a:srgbClr val="FFFFFF">
              <a:alpha val="90000"/>
            </a:srgbClr>
          </a:solidFill>
          <a:ln w="15875">
            <a:solidFill>
              <a:srgbClr val="0E8C86"/>
            </a:solidFill>
            <a:prstDash val="sysDot"/>
          </a:ln>
        </p:spPr>
      </p:sp>
      <p:sp>
        <p:nvSpPr>
          <p:cNvPr id="25" name="Shape 21"/>
          <p:cNvSpPr/>
          <p:nvPr/>
        </p:nvSpPr>
        <p:spPr>
          <a:xfrm>
            <a:off x="6208776" y="1554480"/>
            <a:ext cx="420624" cy="420624"/>
          </a:xfrm>
          <a:prstGeom prst="ellipse">
            <a:avLst/>
          </a:prstGeom>
          <a:solidFill>
            <a:srgbClr val="0E8C86"/>
          </a:solidFill>
          <a:ln w="12700">
            <a:solidFill>
              <a:srgbClr val="0E8C86"/>
            </a:solidFill>
            <a:prstDash val="solid"/>
          </a:ln>
        </p:spPr>
      </p:sp>
      <p:pic>
        <p:nvPicPr>
          <p:cNvPr id="26" name="Image 2" descr="/home/runner/work/Desa-Marga-Mulya/Desa-Marga-Mulya/deck/assets/build/teal/icon-data-w.png">    </p:cNvPr>
          <p:cNvPicPr>
            <a:picLocks noChangeAspect="1"/>
          </p:cNvPicPr>
          <p:nvPr/>
        </p:nvPicPr>
        <p:blipFill>
          <a:blip r:embed="rId4"/>
          <a:stretch>
            <a:fillRect/>
          </a:stretch>
        </p:blipFill>
        <p:spPr>
          <a:xfrm>
            <a:off x="6322344" y="1668048"/>
            <a:ext cx="193487" cy="193487"/>
          </a:xfrm>
          <a:prstGeom prst="rect">
            <a:avLst/>
          </a:prstGeom>
        </p:spPr>
      </p:pic>
      <p:sp>
        <p:nvSpPr>
          <p:cNvPr id="27" name="Text 22"/>
          <p:cNvSpPr/>
          <p:nvPr/>
        </p:nvSpPr>
        <p:spPr>
          <a:xfrm>
            <a:off x="8074152" y="1481328"/>
            <a:ext cx="411480" cy="457200"/>
          </a:xfrm>
          <a:prstGeom prst="rect">
            <a:avLst/>
          </a:prstGeom>
          <a:noFill/>
          <a:ln/>
        </p:spPr>
        <p:txBody>
          <a:bodyPr wrap="square" lIns="0" tIns="0" rIns="0" bIns="0" rtlCol="0" anchor="t"/>
          <a:lstStyle/>
          <a:p>
            <a:pPr algn="r" indent="0" marL="0">
              <a:buNone/>
            </a:pPr>
            <a:r>
              <a:rPr lang="en-US" sz="2400" b="1" dirty="0">
                <a:solidFill>
                  <a:srgbClr val="BBD8D4"/>
                </a:solidFill>
                <a:latin typeface="Montserrat" pitchFamily="34" charset="0"/>
                <a:ea typeface="Montserrat" pitchFamily="34" charset="-122"/>
                <a:cs typeface="Montserrat" pitchFamily="34" charset="-120"/>
              </a:rPr>
              <a:t>3</a:t>
            </a:r>
            <a:endParaRPr lang="en-US" sz="2400" dirty="0"/>
          </a:p>
        </p:txBody>
      </p:sp>
      <p:sp>
        <p:nvSpPr>
          <p:cNvPr id="28" name="Text 23"/>
          <p:cNvSpPr/>
          <p:nvPr/>
        </p:nvSpPr>
        <p:spPr>
          <a:xfrm>
            <a:off x="6739128" y="1554480"/>
            <a:ext cx="1362456" cy="420624"/>
          </a:xfrm>
          <a:prstGeom prst="rect">
            <a:avLst/>
          </a:prstGeom>
          <a:noFill/>
          <a:ln/>
        </p:spPr>
        <p:txBody>
          <a:bodyPr wrap="square" lIns="0" tIns="0" rIns="0" bIns="0" rtlCol="0" anchor="ctr"/>
          <a:lstStyle/>
          <a:p>
            <a:pPr indent="0" marL="0">
              <a:buNone/>
            </a:pPr>
            <a:r>
              <a:rPr lang="en-US" sz="850" b="1" dirty="0">
                <a:solidFill>
                  <a:srgbClr val="0E8C86"/>
                </a:solidFill>
                <a:latin typeface="Montserrat" pitchFamily="34" charset="0"/>
                <a:ea typeface="Montserrat" pitchFamily="34" charset="-122"/>
                <a:cs typeface="Montserrat" pitchFamily="34" charset="-120"/>
              </a:rPr>
              <a:t>PARTNER / RESEARCHER</a:t>
            </a:r>
            <a:endParaRPr lang="en-US" sz="850" dirty="0"/>
          </a:p>
        </p:txBody>
      </p:sp>
      <p:sp>
        <p:nvSpPr>
          <p:cNvPr id="29" name="Text 24"/>
          <p:cNvSpPr/>
          <p:nvPr/>
        </p:nvSpPr>
        <p:spPr>
          <a:xfrm>
            <a:off x="6208776" y="2103120"/>
            <a:ext cx="2231136" cy="548640"/>
          </a:xfrm>
          <a:prstGeom prst="rect">
            <a:avLst/>
          </a:prstGeom>
          <a:noFill/>
          <a:ln/>
        </p:spPr>
        <p:txBody>
          <a:bodyPr wrap="square" lIns="0" tIns="0" rIns="0" bIns="0" rtlCol="0" anchor="t"/>
          <a:lstStyle/>
          <a:p>
            <a:pPr indent="0" marL="0">
              <a:buNone/>
            </a:pPr>
            <a:r>
              <a:rPr lang="en-US" sz="1250" b="1" i="1" dirty="0">
                <a:solidFill>
                  <a:srgbClr val="0B3B38"/>
                </a:solidFill>
                <a:latin typeface="Montserrat" pitchFamily="34" charset="0"/>
                <a:ea typeface="Montserrat" pitchFamily="34" charset="-122"/>
                <a:cs typeface="Montserrat" pitchFamily="34" charset="-120"/>
              </a:rPr>
              <a:t>“Where is the data, and can I trust it?”</a:t>
            </a:r>
            <a:endParaRPr lang="en-US" sz="1250" dirty="0"/>
          </a:p>
        </p:txBody>
      </p:sp>
      <p:sp>
        <p:nvSpPr>
          <p:cNvPr id="30" name="Text 25"/>
          <p:cNvSpPr/>
          <p:nvPr/>
        </p:nvSpPr>
        <p:spPr>
          <a:xfrm>
            <a:off x="6208776" y="2743200"/>
            <a:ext cx="2231136" cy="749808"/>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Demographics</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Farming &amp; fishery potential</a:t>
            </a:r>
            <a:endParaRPr lang="en-US" sz="1000" dirty="0"/>
          </a:p>
          <a:p>
            <a:pPr marL="152400" indent="-152400">
              <a:spcAft>
                <a:spcPts val="300"/>
              </a:spcAft>
              <a:buSzPct val="100000"/>
              <a:buChar char="•"/>
            </a:pPr>
            <a:r>
              <a:rPr lang="en-US" sz="1000" dirty="0">
                <a:solidFill>
                  <a:srgbClr val="4B6360"/>
                </a:solidFill>
                <a:latin typeface="Montserrat" pitchFamily="34" charset="0"/>
                <a:ea typeface="Montserrat" pitchFamily="34" charset="-122"/>
                <a:cs typeface="Montserrat" pitchFamily="34" charset="-120"/>
              </a:rPr>
              <a:t>Facilities &amp; location</a:t>
            </a:r>
            <a:endParaRPr lang="en-US" sz="1000" dirty="0"/>
          </a:p>
        </p:txBody>
      </p:sp>
      <p:sp>
        <p:nvSpPr>
          <p:cNvPr id="31" name="Shape 26"/>
          <p:cNvSpPr/>
          <p:nvPr/>
        </p:nvSpPr>
        <p:spPr>
          <a:xfrm>
            <a:off x="502920" y="3749040"/>
            <a:ext cx="8138160" cy="987552"/>
          </a:xfrm>
          <a:prstGeom prst="roundRect">
            <a:avLst>
              <a:gd name="adj" fmla="val 12963"/>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sp>
        <p:nvSpPr>
          <p:cNvPr id="32" name="Text 27"/>
          <p:cNvSpPr/>
          <p:nvPr/>
        </p:nvSpPr>
        <p:spPr>
          <a:xfrm>
            <a:off x="777240" y="3877056"/>
            <a:ext cx="4663440" cy="384048"/>
          </a:xfrm>
          <a:prstGeom prst="rect">
            <a:avLst/>
          </a:prstGeom>
          <a:noFill/>
          <a:ln/>
        </p:spPr>
        <p:txBody>
          <a:bodyPr wrap="square" lIns="0" tIns="0" rIns="0" bIns="0" rtlCol="0" anchor="t"/>
          <a:lstStyle/>
          <a:p>
            <a:pPr indent="0" marL="0">
              <a:buNone/>
            </a:pPr>
            <a:r>
              <a:rPr lang="en-US" sz="1600" b="1" dirty="0">
                <a:solidFill>
                  <a:srgbClr val="FFFFFF"/>
                </a:solidFill>
                <a:latin typeface="Montserrat" pitchFamily="34" charset="0"/>
                <a:ea typeface="Montserrat" pitchFamily="34" charset="-122"/>
                <a:cs typeface="Montserrat" pitchFamily="34" charset="-120"/>
              </a:rPr>
              <a:t>The problem is fragmentation, not absence.</a:t>
            </a:r>
            <a:endParaRPr lang="en-US" sz="1600" dirty="0"/>
          </a:p>
        </p:txBody>
      </p:sp>
      <p:sp>
        <p:nvSpPr>
          <p:cNvPr id="33" name="Text 28"/>
          <p:cNvSpPr/>
          <p:nvPr/>
        </p:nvSpPr>
        <p:spPr>
          <a:xfrm>
            <a:off x="777240" y="4261104"/>
            <a:ext cx="4572000" cy="384048"/>
          </a:xfrm>
          <a:prstGeom prst="rect">
            <a:avLst/>
          </a:prstGeom>
          <a:noFill/>
          <a:ln/>
        </p:spPr>
        <p:txBody>
          <a:bodyPr wrap="square" lIns="0" tIns="0" rIns="0" bIns="0" rtlCol="0" anchor="t"/>
          <a:lstStyle/>
          <a:p>
            <a:pPr indent="0" marL="0">
              <a:buNone/>
            </a:pPr>
            <a:r>
              <a:rPr lang="en-US" sz="950" dirty="0">
                <a:solidFill>
                  <a:srgbClr val="E6F2F0"/>
                </a:solidFill>
                <a:latin typeface="Montserrat" pitchFamily="34" charset="0"/>
                <a:ea typeface="Montserrat" pitchFamily="34" charset="-122"/>
                <a:cs typeface="Montserrat" pitchFamily="34" charset="-120"/>
              </a:rPr>
              <a:t>It lives in offices, chat groups, social media, and word of mouth — not in one place.</a:t>
            </a:r>
            <a:endParaRPr lang="en-US" sz="950" dirty="0"/>
          </a:p>
        </p:txBody>
      </p:sp>
      <p:sp>
        <p:nvSpPr>
          <p:cNvPr id="34" name="Shape 29"/>
          <p:cNvSpPr/>
          <p:nvPr/>
        </p:nvSpPr>
        <p:spPr>
          <a:xfrm>
            <a:off x="5532120" y="3931920"/>
            <a:ext cx="0" cy="640080"/>
          </a:xfrm>
          <a:prstGeom prst="line">
            <a:avLst/>
          </a:prstGeom>
          <a:noFill/>
          <a:ln w="12700">
            <a:solidFill>
              <a:srgbClr val="0A5F5A"/>
            </a:solidFill>
            <a:prstDash val="solid"/>
          </a:ln>
        </p:spPr>
      </p:sp>
      <p:sp>
        <p:nvSpPr>
          <p:cNvPr id="35" name="Text 30"/>
          <p:cNvSpPr/>
          <p:nvPr/>
        </p:nvSpPr>
        <p:spPr>
          <a:xfrm>
            <a:off x="5623560" y="3931920"/>
            <a:ext cx="960120" cy="310896"/>
          </a:xfrm>
          <a:prstGeom prst="rect">
            <a:avLst/>
          </a:prstGeom>
          <a:noFill/>
          <a:ln/>
        </p:spPr>
        <p:txBody>
          <a:bodyPr wrap="square" lIns="0" tIns="0" rIns="0" bIns="0" rtlCol="0" anchor="t"/>
          <a:lstStyle/>
          <a:p>
            <a:pPr algn="ctr" indent="0" marL="0">
              <a:buNone/>
            </a:pPr>
            <a:r>
              <a:rPr lang="en-US" sz="1400" b="1" dirty="0">
                <a:solidFill>
                  <a:srgbClr val="7FE3D8"/>
                </a:solidFill>
                <a:latin typeface="Montserrat" pitchFamily="34" charset="0"/>
                <a:ea typeface="Montserrat" pitchFamily="34" charset="-122"/>
                <a:cs typeface="Montserrat" pitchFamily="34" charset="-120"/>
              </a:rPr>
              <a:t>74%</a:t>
            </a:r>
            <a:endParaRPr lang="en-US" sz="1400" dirty="0"/>
          </a:p>
        </p:txBody>
      </p:sp>
      <p:sp>
        <p:nvSpPr>
          <p:cNvPr id="36" name="Text 31"/>
          <p:cNvSpPr/>
          <p:nvPr/>
        </p:nvSpPr>
        <p:spPr>
          <a:xfrm>
            <a:off x="5623560" y="4261104"/>
            <a:ext cx="960120" cy="365760"/>
          </a:xfrm>
          <a:prstGeom prst="rect">
            <a:avLst/>
          </a:prstGeom>
          <a:noFill/>
          <a:ln/>
        </p:spPr>
        <p:txBody>
          <a:bodyPr wrap="square" lIns="0" tIns="0" rIns="0" bIns="0" rtlCol="0" anchor="t"/>
          <a:lstStyle/>
          <a:p>
            <a:pPr algn="ctr" indent="0" marL="0">
              <a:buNone/>
            </a:pPr>
            <a:r>
              <a:rPr lang="en-US" sz="700" dirty="0">
                <a:solidFill>
                  <a:srgbClr val="E6F2F0"/>
                </a:solidFill>
                <a:latin typeface="Montserrat" pitchFamily="34" charset="0"/>
                <a:ea typeface="Montserrat" pitchFamily="34" charset="-122"/>
                <a:cs typeface="Montserrat" pitchFamily="34" charset="-120"/>
              </a:rPr>
              <a:t>rural residents online</a:t>
            </a:r>
            <a:endParaRPr lang="en-US" sz="700" dirty="0"/>
          </a:p>
        </p:txBody>
      </p:sp>
      <p:sp>
        <p:nvSpPr>
          <p:cNvPr id="37" name="Text 32"/>
          <p:cNvSpPr/>
          <p:nvPr/>
        </p:nvSpPr>
        <p:spPr>
          <a:xfrm>
            <a:off x="6629400" y="3931920"/>
            <a:ext cx="960120" cy="310896"/>
          </a:xfrm>
          <a:prstGeom prst="rect">
            <a:avLst/>
          </a:prstGeom>
          <a:noFill/>
          <a:ln/>
        </p:spPr>
        <p:txBody>
          <a:bodyPr wrap="square" lIns="0" tIns="0" rIns="0" bIns="0" rtlCol="0" anchor="t"/>
          <a:lstStyle/>
          <a:p>
            <a:pPr algn="ctr" indent="0" marL="0">
              <a:buNone/>
            </a:pPr>
            <a:r>
              <a:rPr lang="en-US" sz="1400" b="1" dirty="0">
                <a:solidFill>
                  <a:srgbClr val="7FE3D8"/>
                </a:solidFill>
                <a:latin typeface="Montserrat" pitchFamily="34" charset="0"/>
                <a:ea typeface="Montserrat" pitchFamily="34" charset="-122"/>
                <a:cs typeface="Montserrat" pitchFamily="34" charset="-120"/>
              </a:rPr>
              <a:t>6 / 10</a:t>
            </a:r>
            <a:endParaRPr lang="en-US" sz="1400" dirty="0"/>
          </a:p>
        </p:txBody>
      </p:sp>
      <p:sp>
        <p:nvSpPr>
          <p:cNvPr id="38" name="Text 33"/>
          <p:cNvSpPr/>
          <p:nvPr/>
        </p:nvSpPr>
        <p:spPr>
          <a:xfrm>
            <a:off x="6629400" y="4261104"/>
            <a:ext cx="960120" cy="365760"/>
          </a:xfrm>
          <a:prstGeom prst="rect">
            <a:avLst/>
          </a:prstGeom>
          <a:noFill/>
          <a:ln/>
        </p:spPr>
        <p:txBody>
          <a:bodyPr wrap="square" lIns="0" tIns="0" rIns="0" bIns="0" rtlCol="0" anchor="t"/>
          <a:lstStyle/>
          <a:p>
            <a:pPr algn="ctr" indent="0" marL="0">
              <a:buNone/>
            </a:pPr>
            <a:r>
              <a:rPr lang="en-US" sz="700" dirty="0">
                <a:solidFill>
                  <a:srgbClr val="E6F2F0"/>
                </a:solidFill>
                <a:latin typeface="Montserrat" pitchFamily="34" charset="0"/>
                <a:ea typeface="Montserrat" pitchFamily="34" charset="-122"/>
                <a:cs typeface="Montserrat" pitchFamily="34" charset="-120"/>
              </a:rPr>
              <a:t>MSMEs still offline</a:t>
            </a:r>
            <a:endParaRPr lang="en-US" sz="700" dirty="0"/>
          </a:p>
        </p:txBody>
      </p:sp>
      <p:sp>
        <p:nvSpPr>
          <p:cNvPr id="39" name="Text 34"/>
          <p:cNvSpPr/>
          <p:nvPr/>
        </p:nvSpPr>
        <p:spPr>
          <a:xfrm>
            <a:off x="7635240" y="3931920"/>
            <a:ext cx="960120" cy="310896"/>
          </a:xfrm>
          <a:prstGeom prst="rect">
            <a:avLst/>
          </a:prstGeom>
          <a:noFill/>
          <a:ln/>
        </p:spPr>
        <p:txBody>
          <a:bodyPr wrap="square" lIns="0" tIns="0" rIns="0" bIns="0" rtlCol="0" anchor="t"/>
          <a:lstStyle/>
          <a:p>
            <a:pPr algn="ctr" indent="0" marL="0">
              <a:buNone/>
            </a:pPr>
            <a:r>
              <a:rPr lang="en-US" sz="1400" b="1" dirty="0">
                <a:solidFill>
                  <a:srgbClr val="7FE3D8"/>
                </a:solidFill>
                <a:latin typeface="Montserrat" pitchFamily="34" charset="0"/>
                <a:ea typeface="Montserrat" pitchFamily="34" charset="-122"/>
                <a:cs typeface="Montserrat" pitchFamily="34" charset="-120"/>
              </a:rPr>
              <a:t>None</a:t>
            </a:r>
            <a:endParaRPr lang="en-US" sz="1400" dirty="0"/>
          </a:p>
        </p:txBody>
      </p:sp>
      <p:sp>
        <p:nvSpPr>
          <p:cNvPr id="40" name="Text 35"/>
          <p:cNvSpPr/>
          <p:nvPr/>
        </p:nvSpPr>
        <p:spPr>
          <a:xfrm>
            <a:off x="7635240" y="4261104"/>
            <a:ext cx="960120" cy="365760"/>
          </a:xfrm>
          <a:prstGeom prst="rect">
            <a:avLst/>
          </a:prstGeom>
          <a:noFill/>
          <a:ln/>
        </p:spPr>
        <p:txBody>
          <a:bodyPr wrap="square" lIns="0" tIns="0" rIns="0" bIns="0" rtlCol="0" anchor="t"/>
          <a:lstStyle/>
          <a:p>
            <a:pPr algn="ctr" indent="0" marL="0">
              <a:buNone/>
            </a:pPr>
            <a:r>
              <a:rPr lang="en-US" sz="700" dirty="0">
                <a:solidFill>
                  <a:srgbClr val="E6F2F0"/>
                </a:solidFill>
                <a:latin typeface="Montserrat" pitchFamily="34" charset="0"/>
                <a:ea typeface="Montserrat" pitchFamily="34" charset="-122"/>
                <a:cs typeface="Montserrat" pitchFamily="34" charset="-120"/>
              </a:rPr>
              <a:t>official village website found*</a:t>
            </a:r>
            <a:endParaRPr lang="en-US" sz="700" dirty="0"/>
          </a:p>
        </p:txBody>
      </p:sp>
      <p:sp>
        <p:nvSpPr>
          <p:cNvPr id="41" name="Text 36"/>
          <p:cNvSpPr/>
          <p:nvPr/>
        </p:nvSpPr>
        <p:spPr>
          <a:xfrm>
            <a:off x="502920" y="4846320"/>
            <a:ext cx="8138160" cy="182880"/>
          </a:xfrm>
          <a:prstGeom prst="rect">
            <a:avLst/>
          </a:prstGeom>
          <a:noFill/>
          <a:ln/>
        </p:spPr>
        <p:txBody>
          <a:bodyPr wrap="square" lIns="0" tIns="0" rIns="0" bIns="0" rtlCol="0" anchor="t"/>
          <a:lstStyle/>
          <a:p>
            <a:pPr indent="0" marL="0">
              <a:buNone/>
            </a:pPr>
            <a:r>
              <a:rPr lang="en-US" sz="700" i="1" dirty="0">
                <a:solidFill>
                  <a:srgbClr val="4B6360"/>
                </a:solidFill>
                <a:latin typeface="Montserrat" pitchFamily="34" charset="0"/>
                <a:ea typeface="Montserrat" pitchFamily="34" charset="-122"/>
                <a:cs typeface="Montserrat" pitchFamily="34" charset="-120"/>
              </a:rPr>
              <a:t>Sources: APJII Internet Survey 2024 (rural internet use); GoodStats 2023 &amp; Statista (27M of ~65M MSMEs digital). *Team web search, September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Overview</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Problem</a:t>
            </a:r>
            <a:endParaRPr lang="en-US" sz="900" dirty="0"/>
          </a:p>
        </p:txBody>
      </p:sp>
      <p:sp>
        <p:nvSpPr>
          <p:cNvPr id="4" name="Shape 2"/>
          <p:cNvSpPr/>
          <p:nvPr/>
        </p:nvSpPr>
        <p:spPr>
          <a:xfrm>
            <a:off x="4023360" y="91440"/>
            <a:ext cx="1097280" cy="32004"/>
          </a:xfrm>
          <a:prstGeom prst="rect">
            <a:avLst/>
          </a:prstGeom>
          <a:solidFill>
            <a:srgbClr val="0E8C86"/>
          </a:solidFill>
          <a:ln w="12700">
            <a:solidFill>
              <a:srgbClr val="0E8C86"/>
            </a:solidFill>
            <a:prstDash val="solid"/>
          </a:ln>
        </p:spPr>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0B3B38"/>
                </a:solidFill>
                <a:latin typeface="Montserrat" pitchFamily="34" charset="0"/>
                <a:ea typeface="Montserrat" pitchFamily="34" charset="-122"/>
                <a:cs typeface="Montserrat" pitchFamily="34" charset="-120"/>
              </a:rPr>
              <a:t>One Gateway, Three Audiences</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4B6360"/>
                </a:solidFill>
                <a:latin typeface="Montserrat" pitchFamily="34" charset="0"/>
                <a:ea typeface="Montserrat" pitchFamily="34" charset="-122"/>
                <a:cs typeface="Montserrat" pitchFamily="34" charset="-120"/>
              </a:rPr>
              <a:t>Not just a village website — a digital gateway.</a:t>
            </a:r>
            <a:endParaRPr lang="en-US" sz="1200" dirty="0"/>
          </a:p>
        </p:txBody>
      </p:sp>
      <p:sp>
        <p:nvSpPr>
          <p:cNvPr id="10" name="Shape 8"/>
          <p:cNvSpPr/>
          <p:nvPr/>
        </p:nvSpPr>
        <p:spPr>
          <a:xfrm>
            <a:off x="502920" y="1371600"/>
            <a:ext cx="2596896" cy="2103120"/>
          </a:xfrm>
          <a:prstGeom prst="roundRect">
            <a:avLst>
              <a:gd name="adj" fmla="val 4348"/>
            </a:avLst>
          </a:prstGeom>
          <a:solidFill>
            <a:srgbClr val="FFFFFF"/>
          </a:solidFill>
          <a:ln w="12700">
            <a:solidFill>
              <a:srgbClr val="0E8C86"/>
            </a:solidFill>
            <a:prstDash val="solid"/>
          </a:ln>
          <a:effectLst>
            <a:outerShdw sx="100000" sy="100000" kx="0" ky="0" algn="bl" rotWithShape="0" blurRad="101600" dist="25400" dir="5400000">
              <a:srgbClr val="0B3B38">
                <a:alpha val="16000"/>
              </a:srgbClr>
            </a:outerShdw>
          </a:effectLst>
        </p:spPr>
      </p:sp>
      <p:sp>
        <p:nvSpPr>
          <p:cNvPr id="11" name="Shape 9"/>
          <p:cNvSpPr/>
          <p:nvPr/>
        </p:nvSpPr>
        <p:spPr>
          <a:xfrm>
            <a:off x="685800" y="1536192"/>
            <a:ext cx="384048" cy="384048"/>
          </a:xfrm>
          <a:prstGeom prst="ellipse">
            <a:avLst/>
          </a:prstGeom>
          <a:solidFill>
            <a:srgbClr val="0E8C86"/>
          </a:solidFill>
          <a:ln w="12700">
            <a:solidFill>
              <a:srgbClr val="0E8C86"/>
            </a:solidFill>
            <a:prstDash val="solid"/>
          </a:ln>
        </p:spPr>
      </p:sp>
      <p:pic>
        <p:nvPicPr>
          <p:cNvPr id="12" name="Image 0" descr="/home/runner/work/Desa-Marga-Mulya/Desa-Marga-Mulya/deck/assets/build/teal/icon-home-w.png">    </p:cNvPr>
          <p:cNvPicPr>
            <a:picLocks noChangeAspect="1"/>
          </p:cNvPicPr>
          <p:nvPr/>
        </p:nvPicPr>
        <p:blipFill>
          <a:blip r:embed="rId2"/>
          <a:stretch>
            <a:fillRect/>
          </a:stretch>
        </p:blipFill>
        <p:spPr>
          <a:xfrm>
            <a:off x="789493" y="1639885"/>
            <a:ext cx="176662" cy="176662"/>
          </a:xfrm>
          <a:prstGeom prst="rect">
            <a:avLst/>
          </a:prstGeom>
        </p:spPr>
      </p:pic>
      <p:sp>
        <p:nvSpPr>
          <p:cNvPr id="13" name="Text 10"/>
          <p:cNvSpPr/>
          <p:nvPr/>
        </p:nvSpPr>
        <p:spPr>
          <a:xfrm>
            <a:off x="1161288" y="1536192"/>
            <a:ext cx="1819656" cy="384048"/>
          </a:xfrm>
          <a:prstGeom prst="rect">
            <a:avLst/>
          </a:prstGeom>
          <a:noFill/>
          <a:ln/>
        </p:spPr>
        <p:txBody>
          <a:bodyPr wrap="square" lIns="0" tIns="0" rIns="0" bIns="0" rtlCol="0" anchor="ctr"/>
          <a:lstStyle/>
          <a:p>
            <a:pPr indent="0" marL="0">
              <a:buNone/>
            </a:pPr>
            <a:r>
              <a:rPr lang="en-US" sz="1100" b="1" dirty="0">
                <a:solidFill>
                  <a:srgbClr val="0E8C86"/>
                </a:solidFill>
                <a:latin typeface="Montserrat" pitchFamily="34" charset="0"/>
                <a:ea typeface="Montserrat" pitchFamily="34" charset="-122"/>
                <a:cs typeface="Montserrat" pitchFamily="34" charset="-120"/>
              </a:rPr>
              <a:t>RESIDENTS</a:t>
            </a:r>
            <a:endParaRPr lang="en-US" sz="1100" dirty="0"/>
          </a:p>
        </p:txBody>
      </p:sp>
      <p:sp>
        <p:nvSpPr>
          <p:cNvPr id="14" name="Text 11"/>
          <p:cNvSpPr/>
          <p:nvPr/>
        </p:nvSpPr>
        <p:spPr>
          <a:xfrm>
            <a:off x="685800" y="2011680"/>
            <a:ext cx="2231136" cy="384048"/>
          </a:xfrm>
          <a:prstGeom prst="rect">
            <a:avLst/>
          </a:prstGeom>
          <a:noFill/>
          <a:ln/>
        </p:spPr>
        <p:txBody>
          <a:bodyPr wrap="square" lIns="0" tIns="0" rIns="0" bIns="0" rtlCol="0" anchor="t"/>
          <a:lstStyle/>
          <a:p>
            <a:pPr indent="0" marL="0">
              <a:buNone/>
            </a:pPr>
            <a:r>
              <a:rPr lang="en-US" sz="950" b="1" i="1" dirty="0">
                <a:solidFill>
                  <a:srgbClr val="0B3B38"/>
                </a:solidFill>
                <a:latin typeface="Montserrat" pitchFamily="34" charset="0"/>
                <a:ea typeface="Montserrat" pitchFamily="34" charset="-122"/>
                <a:cs typeface="Montserrat" pitchFamily="34" charset="-120"/>
              </a:rPr>
              <a:t>“I need something from the village.”</a:t>
            </a:r>
            <a:endParaRPr lang="en-US" sz="950" dirty="0"/>
          </a:p>
        </p:txBody>
      </p:sp>
      <p:sp>
        <p:nvSpPr>
          <p:cNvPr id="15" name="Shape 12"/>
          <p:cNvSpPr/>
          <p:nvPr/>
        </p:nvSpPr>
        <p:spPr>
          <a:xfrm>
            <a:off x="704088" y="2523744"/>
            <a:ext cx="100584" cy="100584"/>
          </a:xfrm>
          <a:prstGeom prst="ellipse">
            <a:avLst/>
          </a:prstGeom>
          <a:solidFill>
            <a:srgbClr val="0E8C86"/>
          </a:solidFill>
          <a:ln w="12700">
            <a:solidFill>
              <a:srgbClr val="0E8C86"/>
            </a:solidFill>
            <a:prstDash val="solid"/>
          </a:ln>
        </p:spPr>
      </p:sp>
      <p:sp>
        <p:nvSpPr>
          <p:cNvPr id="16" name="Text 13"/>
          <p:cNvSpPr/>
          <p:nvPr/>
        </p:nvSpPr>
        <p:spPr>
          <a:xfrm>
            <a:off x="886968" y="24688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Services &amp; checklists</a:t>
            </a:r>
            <a:endParaRPr lang="en-US" sz="950" dirty="0"/>
          </a:p>
        </p:txBody>
      </p:sp>
      <p:sp>
        <p:nvSpPr>
          <p:cNvPr id="17" name="Shape 14"/>
          <p:cNvSpPr/>
          <p:nvPr/>
        </p:nvSpPr>
        <p:spPr>
          <a:xfrm>
            <a:off x="704088" y="2752344"/>
            <a:ext cx="100584" cy="100584"/>
          </a:xfrm>
          <a:prstGeom prst="ellipse">
            <a:avLst/>
          </a:prstGeom>
          <a:solidFill>
            <a:srgbClr val="0E8C86"/>
          </a:solidFill>
          <a:ln w="12700">
            <a:solidFill>
              <a:srgbClr val="0E8C86"/>
            </a:solidFill>
            <a:prstDash val="solid"/>
          </a:ln>
        </p:spPr>
      </p:sp>
      <p:sp>
        <p:nvSpPr>
          <p:cNvPr id="18" name="Text 15"/>
          <p:cNvSpPr/>
          <p:nvPr/>
        </p:nvSpPr>
        <p:spPr>
          <a:xfrm>
            <a:off x="886968" y="26974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Live office status</a:t>
            </a:r>
            <a:endParaRPr lang="en-US" sz="950" dirty="0"/>
          </a:p>
        </p:txBody>
      </p:sp>
      <p:sp>
        <p:nvSpPr>
          <p:cNvPr id="19" name="Shape 16"/>
          <p:cNvSpPr/>
          <p:nvPr/>
        </p:nvSpPr>
        <p:spPr>
          <a:xfrm>
            <a:off x="704088" y="2980944"/>
            <a:ext cx="100584" cy="100584"/>
          </a:xfrm>
          <a:prstGeom prst="ellipse">
            <a:avLst/>
          </a:prstGeom>
          <a:solidFill>
            <a:srgbClr val="0E8C86"/>
          </a:solidFill>
          <a:ln w="12700">
            <a:solidFill>
              <a:srgbClr val="0E8C86"/>
            </a:solidFill>
            <a:prstDash val="solid"/>
          </a:ln>
        </p:spPr>
      </p:sp>
      <p:sp>
        <p:nvSpPr>
          <p:cNvPr id="20" name="Text 17"/>
          <p:cNvSpPr/>
          <p:nvPr/>
        </p:nvSpPr>
        <p:spPr>
          <a:xfrm>
            <a:off x="886968" y="29260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Announcements</a:t>
            </a:r>
            <a:endParaRPr lang="en-US" sz="950" dirty="0"/>
          </a:p>
        </p:txBody>
      </p:sp>
      <p:sp>
        <p:nvSpPr>
          <p:cNvPr id="21" name="Shape 18"/>
          <p:cNvSpPr/>
          <p:nvPr/>
        </p:nvSpPr>
        <p:spPr>
          <a:xfrm>
            <a:off x="704088" y="3209544"/>
            <a:ext cx="100584" cy="100584"/>
          </a:xfrm>
          <a:prstGeom prst="ellipse">
            <a:avLst/>
          </a:prstGeom>
          <a:solidFill>
            <a:srgbClr val="0E8C86"/>
          </a:solidFill>
          <a:ln w="12700">
            <a:solidFill>
              <a:srgbClr val="0E8C86"/>
            </a:solidFill>
            <a:prstDash val="solid"/>
          </a:ln>
        </p:spPr>
      </p:sp>
      <p:sp>
        <p:nvSpPr>
          <p:cNvPr id="22" name="Text 19"/>
          <p:cNvSpPr/>
          <p:nvPr/>
        </p:nvSpPr>
        <p:spPr>
          <a:xfrm>
            <a:off x="886968" y="31546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AI assistant</a:t>
            </a:r>
            <a:endParaRPr lang="en-US" sz="950" dirty="0"/>
          </a:p>
        </p:txBody>
      </p:sp>
      <p:sp>
        <p:nvSpPr>
          <p:cNvPr id="23" name="Shape 20"/>
          <p:cNvSpPr/>
          <p:nvPr/>
        </p:nvSpPr>
        <p:spPr>
          <a:xfrm>
            <a:off x="3264408" y="1371600"/>
            <a:ext cx="2596896" cy="2103120"/>
          </a:xfrm>
          <a:prstGeom prst="roundRect">
            <a:avLst>
              <a:gd name="adj" fmla="val 4348"/>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sp>
        <p:nvSpPr>
          <p:cNvPr id="24" name="Shape 21"/>
          <p:cNvSpPr/>
          <p:nvPr/>
        </p:nvSpPr>
        <p:spPr>
          <a:xfrm>
            <a:off x="3447288" y="1536192"/>
            <a:ext cx="384048" cy="384048"/>
          </a:xfrm>
          <a:prstGeom prst="ellipse">
            <a:avLst/>
          </a:prstGeom>
          <a:solidFill>
            <a:srgbClr val="7FE3D8"/>
          </a:solidFill>
          <a:ln w="12700">
            <a:solidFill>
              <a:srgbClr val="7FE3D8"/>
            </a:solidFill>
            <a:prstDash val="solid"/>
          </a:ln>
        </p:spPr>
      </p:sp>
      <p:pic>
        <p:nvPicPr>
          <p:cNvPr id="25" name="Image 1" descr="/home/runner/work/Desa-Marga-Mulya/Desa-Marga-Mulya/deck/assets/build/teal/icon-market-d.png">    </p:cNvPr>
          <p:cNvPicPr>
            <a:picLocks noChangeAspect="1"/>
          </p:cNvPicPr>
          <p:nvPr/>
        </p:nvPicPr>
        <p:blipFill>
          <a:blip r:embed="rId3"/>
          <a:stretch>
            <a:fillRect/>
          </a:stretch>
        </p:blipFill>
        <p:spPr>
          <a:xfrm>
            <a:off x="3550981" y="1639885"/>
            <a:ext cx="176662" cy="176662"/>
          </a:xfrm>
          <a:prstGeom prst="rect">
            <a:avLst/>
          </a:prstGeom>
        </p:spPr>
      </p:pic>
      <p:sp>
        <p:nvSpPr>
          <p:cNvPr id="26" name="Text 22"/>
          <p:cNvSpPr/>
          <p:nvPr/>
        </p:nvSpPr>
        <p:spPr>
          <a:xfrm>
            <a:off x="3922776" y="1536192"/>
            <a:ext cx="1819656"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LOCAL BUSINESSES</a:t>
            </a:r>
            <a:endParaRPr lang="en-US" sz="1100" dirty="0"/>
          </a:p>
        </p:txBody>
      </p:sp>
      <p:sp>
        <p:nvSpPr>
          <p:cNvPr id="27" name="Text 23"/>
          <p:cNvSpPr/>
          <p:nvPr/>
        </p:nvSpPr>
        <p:spPr>
          <a:xfrm>
            <a:off x="3447288" y="2011680"/>
            <a:ext cx="2231136" cy="384048"/>
          </a:xfrm>
          <a:prstGeom prst="rect">
            <a:avLst/>
          </a:prstGeom>
          <a:noFill/>
          <a:ln/>
        </p:spPr>
        <p:txBody>
          <a:bodyPr wrap="square" lIns="0" tIns="0" rIns="0" bIns="0" rtlCol="0" anchor="t"/>
          <a:lstStyle/>
          <a:p>
            <a:pPr indent="0" marL="0">
              <a:buNone/>
            </a:pPr>
            <a:r>
              <a:rPr lang="en-US" sz="950" b="1" i="1" dirty="0">
                <a:solidFill>
                  <a:srgbClr val="E6F2F0"/>
                </a:solidFill>
                <a:latin typeface="Montserrat" pitchFamily="34" charset="0"/>
                <a:ea typeface="Montserrat" pitchFamily="34" charset="-122"/>
                <a:cs typeface="Montserrat" pitchFamily="34" charset="-120"/>
              </a:rPr>
              <a:t>“I want more customers.”</a:t>
            </a:r>
            <a:endParaRPr lang="en-US" sz="950" dirty="0"/>
          </a:p>
        </p:txBody>
      </p:sp>
      <p:sp>
        <p:nvSpPr>
          <p:cNvPr id="28" name="Shape 24"/>
          <p:cNvSpPr/>
          <p:nvPr/>
        </p:nvSpPr>
        <p:spPr>
          <a:xfrm>
            <a:off x="3465576" y="2523744"/>
            <a:ext cx="100584" cy="100584"/>
          </a:xfrm>
          <a:prstGeom prst="ellipse">
            <a:avLst/>
          </a:prstGeom>
          <a:solidFill>
            <a:srgbClr val="7FE3D8"/>
          </a:solidFill>
          <a:ln w="12700">
            <a:solidFill>
              <a:srgbClr val="7FE3D8"/>
            </a:solidFill>
            <a:prstDash val="solid"/>
          </a:ln>
        </p:spPr>
      </p:sp>
      <p:sp>
        <p:nvSpPr>
          <p:cNvPr id="29" name="Text 25"/>
          <p:cNvSpPr/>
          <p:nvPr/>
        </p:nvSpPr>
        <p:spPr>
          <a:xfrm>
            <a:off x="3648456" y="2468880"/>
            <a:ext cx="2048256" cy="210312"/>
          </a:xfrm>
          <a:prstGeom prst="rect">
            <a:avLst/>
          </a:prstGeom>
          <a:noFill/>
          <a:ln/>
        </p:spPr>
        <p:txBody>
          <a:bodyPr wrap="square" lIns="0" tIns="0" rIns="0" bIns="0" rtlCol="0" anchor="ctr"/>
          <a:lstStyle/>
          <a:p>
            <a:pPr indent="0" marL="0">
              <a:buNone/>
            </a:pPr>
            <a:r>
              <a:rPr lang="en-US" sz="950" b="1" dirty="0">
                <a:solidFill>
                  <a:srgbClr val="FFFFFF"/>
                </a:solidFill>
                <a:latin typeface="Montserrat" pitchFamily="34" charset="0"/>
                <a:ea typeface="Montserrat" pitchFamily="34" charset="-122"/>
                <a:cs typeface="Montserrat" pitchFamily="34" charset="-120"/>
              </a:rPr>
              <a:t>Pasar Desa marketplace</a:t>
            </a:r>
            <a:endParaRPr lang="en-US" sz="950" dirty="0"/>
          </a:p>
        </p:txBody>
      </p:sp>
      <p:sp>
        <p:nvSpPr>
          <p:cNvPr id="30" name="Shape 26"/>
          <p:cNvSpPr/>
          <p:nvPr/>
        </p:nvSpPr>
        <p:spPr>
          <a:xfrm>
            <a:off x="3465576" y="2752344"/>
            <a:ext cx="100584" cy="100584"/>
          </a:xfrm>
          <a:prstGeom prst="ellipse">
            <a:avLst/>
          </a:prstGeom>
          <a:solidFill>
            <a:srgbClr val="7FE3D8"/>
          </a:solidFill>
          <a:ln w="12700">
            <a:solidFill>
              <a:srgbClr val="7FE3D8"/>
            </a:solidFill>
            <a:prstDash val="solid"/>
          </a:ln>
        </p:spPr>
      </p:sp>
      <p:sp>
        <p:nvSpPr>
          <p:cNvPr id="31" name="Text 27"/>
          <p:cNvSpPr/>
          <p:nvPr/>
        </p:nvSpPr>
        <p:spPr>
          <a:xfrm>
            <a:off x="3648456" y="2697480"/>
            <a:ext cx="2048256" cy="210312"/>
          </a:xfrm>
          <a:prstGeom prst="rect">
            <a:avLst/>
          </a:prstGeom>
          <a:noFill/>
          <a:ln/>
        </p:spPr>
        <p:txBody>
          <a:bodyPr wrap="square" lIns="0" tIns="0" rIns="0" bIns="0" rtlCol="0" anchor="ctr"/>
          <a:lstStyle/>
          <a:p>
            <a:pPr indent="0" marL="0">
              <a:buNone/>
            </a:pPr>
            <a:r>
              <a:rPr lang="en-US" sz="950" b="1" dirty="0">
                <a:solidFill>
                  <a:srgbClr val="FFFFFF"/>
                </a:solidFill>
                <a:latin typeface="Montserrat" pitchFamily="34" charset="0"/>
                <a:ea typeface="Montserrat" pitchFamily="34" charset="-122"/>
                <a:cs typeface="Montserrat" pitchFamily="34" charset="-120"/>
              </a:rPr>
              <a:t>Seller portal</a:t>
            </a:r>
            <a:endParaRPr lang="en-US" sz="950" dirty="0"/>
          </a:p>
        </p:txBody>
      </p:sp>
      <p:sp>
        <p:nvSpPr>
          <p:cNvPr id="32" name="Shape 28"/>
          <p:cNvSpPr/>
          <p:nvPr/>
        </p:nvSpPr>
        <p:spPr>
          <a:xfrm>
            <a:off x="3465576" y="2980944"/>
            <a:ext cx="100584" cy="100584"/>
          </a:xfrm>
          <a:prstGeom prst="ellipse">
            <a:avLst/>
          </a:prstGeom>
          <a:solidFill>
            <a:srgbClr val="7FE3D8"/>
          </a:solidFill>
          <a:ln w="12700">
            <a:solidFill>
              <a:srgbClr val="7FE3D8"/>
            </a:solidFill>
            <a:prstDash val="solid"/>
          </a:ln>
        </p:spPr>
      </p:sp>
      <p:sp>
        <p:nvSpPr>
          <p:cNvPr id="33" name="Text 29"/>
          <p:cNvSpPr/>
          <p:nvPr/>
        </p:nvSpPr>
        <p:spPr>
          <a:xfrm>
            <a:off x="3648456" y="2926080"/>
            <a:ext cx="2048256" cy="210312"/>
          </a:xfrm>
          <a:prstGeom prst="rect">
            <a:avLst/>
          </a:prstGeom>
          <a:noFill/>
          <a:ln/>
        </p:spPr>
        <p:txBody>
          <a:bodyPr wrap="square" lIns="0" tIns="0" rIns="0" bIns="0" rtlCol="0" anchor="ctr"/>
          <a:lstStyle/>
          <a:p>
            <a:pPr indent="0" marL="0">
              <a:buNone/>
            </a:pPr>
            <a:r>
              <a:rPr lang="en-US" sz="950" b="1" dirty="0">
                <a:solidFill>
                  <a:srgbClr val="FFFFFF"/>
                </a:solidFill>
                <a:latin typeface="Montserrat" pitchFamily="34" charset="0"/>
                <a:ea typeface="Montserrat" pitchFamily="34" charset="-122"/>
                <a:cs typeface="Montserrat" pitchFamily="34" charset="-120"/>
              </a:rPr>
              <a:t>WhatsApp orders</a:t>
            </a:r>
            <a:endParaRPr lang="en-US" sz="950" dirty="0"/>
          </a:p>
        </p:txBody>
      </p:sp>
      <p:sp>
        <p:nvSpPr>
          <p:cNvPr id="34" name="Shape 30"/>
          <p:cNvSpPr/>
          <p:nvPr/>
        </p:nvSpPr>
        <p:spPr>
          <a:xfrm>
            <a:off x="6025896" y="1371600"/>
            <a:ext cx="2596896" cy="2103120"/>
          </a:xfrm>
          <a:prstGeom prst="roundRect">
            <a:avLst>
              <a:gd name="adj" fmla="val 4348"/>
            </a:avLst>
          </a:prstGeom>
          <a:solidFill>
            <a:srgbClr val="FFFFFF"/>
          </a:solidFill>
          <a:ln w="12700">
            <a:solidFill>
              <a:srgbClr val="0E8C86"/>
            </a:solidFill>
            <a:prstDash val="solid"/>
          </a:ln>
          <a:effectLst>
            <a:outerShdw sx="100000" sy="100000" kx="0" ky="0" algn="bl" rotWithShape="0" blurRad="101600" dist="25400" dir="5400000">
              <a:srgbClr val="0B3B38">
                <a:alpha val="16000"/>
              </a:srgbClr>
            </a:outerShdw>
          </a:effectLst>
        </p:spPr>
      </p:sp>
      <p:sp>
        <p:nvSpPr>
          <p:cNvPr id="35" name="Shape 31"/>
          <p:cNvSpPr/>
          <p:nvPr/>
        </p:nvSpPr>
        <p:spPr>
          <a:xfrm>
            <a:off x="6208776" y="1536192"/>
            <a:ext cx="384048" cy="384048"/>
          </a:xfrm>
          <a:prstGeom prst="ellipse">
            <a:avLst/>
          </a:prstGeom>
          <a:solidFill>
            <a:srgbClr val="0E8C86"/>
          </a:solidFill>
          <a:ln w="12700">
            <a:solidFill>
              <a:srgbClr val="0E8C86"/>
            </a:solidFill>
            <a:prstDash val="solid"/>
          </a:ln>
        </p:spPr>
      </p:sp>
      <p:pic>
        <p:nvPicPr>
          <p:cNvPr id="36" name="Image 2" descr="/home/runner/work/Desa-Marga-Mulya/Desa-Marga-Mulya/deck/assets/build/teal/icon-globe-w.png">    </p:cNvPr>
          <p:cNvPicPr>
            <a:picLocks noChangeAspect="1"/>
          </p:cNvPicPr>
          <p:nvPr/>
        </p:nvPicPr>
        <p:blipFill>
          <a:blip r:embed="rId4"/>
          <a:stretch>
            <a:fillRect/>
          </a:stretch>
        </p:blipFill>
        <p:spPr>
          <a:xfrm>
            <a:off x="6312469" y="1639885"/>
            <a:ext cx="176662" cy="176662"/>
          </a:xfrm>
          <a:prstGeom prst="rect">
            <a:avLst/>
          </a:prstGeom>
        </p:spPr>
      </p:pic>
      <p:sp>
        <p:nvSpPr>
          <p:cNvPr id="37" name="Text 32"/>
          <p:cNvSpPr/>
          <p:nvPr/>
        </p:nvSpPr>
        <p:spPr>
          <a:xfrm>
            <a:off x="6684264" y="1536192"/>
            <a:ext cx="1819656" cy="384048"/>
          </a:xfrm>
          <a:prstGeom prst="rect">
            <a:avLst/>
          </a:prstGeom>
          <a:noFill/>
          <a:ln/>
        </p:spPr>
        <p:txBody>
          <a:bodyPr wrap="square" lIns="0" tIns="0" rIns="0" bIns="0" rtlCol="0" anchor="ctr"/>
          <a:lstStyle/>
          <a:p>
            <a:pPr indent="0" marL="0">
              <a:buNone/>
            </a:pPr>
            <a:r>
              <a:rPr lang="en-US" sz="1100" b="1" dirty="0">
                <a:solidFill>
                  <a:srgbClr val="0E8C86"/>
                </a:solidFill>
                <a:latin typeface="Montserrat" pitchFamily="34" charset="0"/>
                <a:ea typeface="Montserrat" pitchFamily="34" charset="-122"/>
                <a:cs typeface="Montserrat" pitchFamily="34" charset="-120"/>
              </a:rPr>
              <a:t>PEOPLE OUTSIDE</a:t>
            </a:r>
            <a:endParaRPr lang="en-US" sz="1100" dirty="0"/>
          </a:p>
        </p:txBody>
      </p:sp>
      <p:sp>
        <p:nvSpPr>
          <p:cNvPr id="38" name="Text 33"/>
          <p:cNvSpPr/>
          <p:nvPr/>
        </p:nvSpPr>
        <p:spPr>
          <a:xfrm>
            <a:off x="6208776" y="2011680"/>
            <a:ext cx="2231136" cy="384048"/>
          </a:xfrm>
          <a:prstGeom prst="rect">
            <a:avLst/>
          </a:prstGeom>
          <a:noFill/>
          <a:ln/>
        </p:spPr>
        <p:txBody>
          <a:bodyPr wrap="square" lIns="0" tIns="0" rIns="0" bIns="0" rtlCol="0" anchor="t"/>
          <a:lstStyle/>
          <a:p>
            <a:pPr indent="0" marL="0">
              <a:buNone/>
            </a:pPr>
            <a:r>
              <a:rPr lang="en-US" sz="950" b="1" i="1" dirty="0">
                <a:solidFill>
                  <a:srgbClr val="0B3B38"/>
                </a:solidFill>
                <a:latin typeface="Montserrat" pitchFamily="34" charset="0"/>
                <a:ea typeface="Montserrat" pitchFamily="34" charset="-122"/>
                <a:cs typeface="Montserrat" pitchFamily="34" charset="-120"/>
              </a:rPr>
              <a:t>“I want to know and support the village.”</a:t>
            </a:r>
            <a:endParaRPr lang="en-US" sz="950" dirty="0"/>
          </a:p>
        </p:txBody>
      </p:sp>
      <p:sp>
        <p:nvSpPr>
          <p:cNvPr id="39" name="Shape 34"/>
          <p:cNvSpPr/>
          <p:nvPr/>
        </p:nvSpPr>
        <p:spPr>
          <a:xfrm>
            <a:off x="6227064" y="2523744"/>
            <a:ext cx="100584" cy="100584"/>
          </a:xfrm>
          <a:prstGeom prst="ellipse">
            <a:avLst/>
          </a:prstGeom>
          <a:solidFill>
            <a:srgbClr val="0E8C86"/>
          </a:solidFill>
          <a:ln w="12700">
            <a:solidFill>
              <a:srgbClr val="0E8C86"/>
            </a:solidFill>
            <a:prstDash val="solid"/>
          </a:ln>
        </p:spPr>
      </p:sp>
      <p:sp>
        <p:nvSpPr>
          <p:cNvPr id="40" name="Text 35"/>
          <p:cNvSpPr/>
          <p:nvPr/>
        </p:nvSpPr>
        <p:spPr>
          <a:xfrm>
            <a:off x="6409944" y="24688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Interactive map</a:t>
            </a:r>
            <a:endParaRPr lang="en-US" sz="950" dirty="0"/>
          </a:p>
        </p:txBody>
      </p:sp>
      <p:sp>
        <p:nvSpPr>
          <p:cNvPr id="41" name="Shape 36"/>
          <p:cNvSpPr/>
          <p:nvPr/>
        </p:nvSpPr>
        <p:spPr>
          <a:xfrm>
            <a:off x="6227064" y="2752344"/>
            <a:ext cx="100584" cy="100584"/>
          </a:xfrm>
          <a:prstGeom prst="ellipse">
            <a:avLst/>
          </a:prstGeom>
          <a:solidFill>
            <a:srgbClr val="FFFFFF"/>
          </a:solidFill>
          <a:ln w="12700">
            <a:solidFill>
              <a:srgbClr val="0E8C86"/>
            </a:solidFill>
            <a:prstDash val="solid"/>
          </a:ln>
        </p:spPr>
      </p:sp>
      <p:sp>
        <p:nvSpPr>
          <p:cNvPr id="42" name="Text 37"/>
          <p:cNvSpPr/>
          <p:nvPr/>
        </p:nvSpPr>
        <p:spPr>
          <a:xfrm>
            <a:off x="6409944" y="2697480"/>
            <a:ext cx="2048256" cy="210312"/>
          </a:xfrm>
          <a:prstGeom prst="rect">
            <a:avLst/>
          </a:prstGeom>
          <a:noFill/>
          <a:ln/>
        </p:spPr>
        <p:txBody>
          <a:bodyPr wrap="square" lIns="0" tIns="0" rIns="0" bIns="0" rtlCol="0" anchor="ctr"/>
          <a:lstStyle/>
          <a:p>
            <a:pPr indent="0" marL="0">
              <a:buNone/>
            </a:pPr>
            <a:r>
              <a:rPr lang="en-US" sz="950" dirty="0">
                <a:solidFill>
                  <a:srgbClr val="0B3B38"/>
                </a:solidFill>
                <a:latin typeface="Montserrat" pitchFamily="34" charset="0"/>
                <a:ea typeface="Montserrat" pitchFamily="34" charset="-122"/>
                <a:cs typeface="Montserrat" pitchFamily="34" charset="-120"/>
              </a:rPr>
              <a:t>Explore by category  (next)</a:t>
            </a:r>
            <a:endParaRPr lang="en-US" sz="950" dirty="0"/>
          </a:p>
        </p:txBody>
      </p:sp>
      <p:sp>
        <p:nvSpPr>
          <p:cNvPr id="43" name="Shape 38"/>
          <p:cNvSpPr/>
          <p:nvPr/>
        </p:nvSpPr>
        <p:spPr>
          <a:xfrm>
            <a:off x="6227064" y="2980944"/>
            <a:ext cx="100584" cy="100584"/>
          </a:xfrm>
          <a:prstGeom prst="ellipse">
            <a:avLst/>
          </a:prstGeom>
          <a:solidFill>
            <a:srgbClr val="0E8C86"/>
          </a:solidFill>
          <a:ln w="12700">
            <a:solidFill>
              <a:srgbClr val="0E8C86"/>
            </a:solidFill>
            <a:prstDash val="solid"/>
          </a:ln>
        </p:spPr>
      </p:sp>
      <p:sp>
        <p:nvSpPr>
          <p:cNvPr id="44" name="Text 39"/>
          <p:cNvSpPr/>
          <p:nvPr/>
        </p:nvSpPr>
        <p:spPr>
          <a:xfrm>
            <a:off x="6409944" y="29260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Open village data</a:t>
            </a:r>
            <a:endParaRPr lang="en-US" sz="950" dirty="0"/>
          </a:p>
        </p:txBody>
      </p:sp>
      <p:sp>
        <p:nvSpPr>
          <p:cNvPr id="45" name="Shape 40"/>
          <p:cNvSpPr/>
          <p:nvPr/>
        </p:nvSpPr>
        <p:spPr>
          <a:xfrm>
            <a:off x="6227064" y="3209544"/>
            <a:ext cx="100584" cy="100584"/>
          </a:xfrm>
          <a:prstGeom prst="ellipse">
            <a:avLst/>
          </a:prstGeom>
          <a:solidFill>
            <a:srgbClr val="0E8C86"/>
          </a:solidFill>
          <a:ln w="12700">
            <a:solidFill>
              <a:srgbClr val="0E8C86"/>
            </a:solidFill>
            <a:prstDash val="solid"/>
          </a:ln>
        </p:spPr>
      </p:sp>
      <p:sp>
        <p:nvSpPr>
          <p:cNvPr id="46" name="Text 41"/>
          <p:cNvSpPr/>
          <p:nvPr/>
        </p:nvSpPr>
        <p:spPr>
          <a:xfrm>
            <a:off x="6409944" y="3154680"/>
            <a:ext cx="2048256" cy="210312"/>
          </a:xfrm>
          <a:prstGeom prst="rect">
            <a:avLst/>
          </a:prstGeom>
          <a:noFill/>
          <a:ln/>
        </p:spPr>
        <p:txBody>
          <a:bodyPr wrap="square" lIns="0" tIns="0" rIns="0" bIns="0" rtlCol="0" anchor="ctr"/>
          <a:lstStyle/>
          <a:p>
            <a:pPr indent="0" marL="0">
              <a:buNone/>
            </a:pPr>
            <a:r>
              <a:rPr lang="en-US" sz="950" b="1" dirty="0">
                <a:solidFill>
                  <a:srgbClr val="0B3B38"/>
                </a:solidFill>
                <a:latin typeface="Montserrat" pitchFamily="34" charset="0"/>
                <a:ea typeface="Montserrat" pitchFamily="34" charset="-122"/>
                <a:cs typeface="Montserrat" pitchFamily="34" charset="-120"/>
              </a:rPr>
              <a:t>Local products</a:t>
            </a:r>
            <a:endParaRPr lang="en-US" sz="950" dirty="0"/>
          </a:p>
        </p:txBody>
      </p:sp>
      <p:sp>
        <p:nvSpPr>
          <p:cNvPr id="47" name="Text 42"/>
          <p:cNvSpPr/>
          <p:nvPr/>
        </p:nvSpPr>
        <p:spPr>
          <a:xfrm>
            <a:off x="502920" y="3611880"/>
            <a:ext cx="2743200" cy="182880"/>
          </a:xfrm>
          <a:prstGeom prst="rect">
            <a:avLst/>
          </a:prstGeom>
          <a:noFill/>
          <a:ln/>
        </p:spPr>
        <p:txBody>
          <a:bodyPr wrap="square" lIns="0" tIns="0" rIns="0" bIns="0" rtlCol="0" anchor="t"/>
          <a:lstStyle/>
          <a:p>
            <a:pPr indent="0" marL="0">
              <a:buNone/>
            </a:pPr>
            <a:r>
              <a:rPr lang="en-US" sz="800" b="1" dirty="0">
                <a:solidFill>
                  <a:srgbClr val="0E8C86"/>
                </a:solidFill>
                <a:latin typeface="Montserrat" pitchFamily="34" charset="0"/>
                <a:ea typeface="Montserrat" pitchFamily="34" charset="-122"/>
                <a:cs typeface="Montserrat" pitchFamily="34" charset="-120"/>
              </a:rPr>
              <a:t>FOUR PILLARS</a:t>
            </a:r>
            <a:endParaRPr lang="en-US" sz="800" dirty="0"/>
          </a:p>
        </p:txBody>
      </p:sp>
      <p:sp>
        <p:nvSpPr>
          <p:cNvPr id="48" name="Shape 43"/>
          <p:cNvSpPr/>
          <p:nvPr/>
        </p:nvSpPr>
        <p:spPr>
          <a:xfrm>
            <a:off x="502920" y="3840480"/>
            <a:ext cx="1938528" cy="713232"/>
          </a:xfrm>
          <a:prstGeom prst="roundRect">
            <a:avLst>
              <a:gd name="adj" fmla="val 12821"/>
            </a:avLst>
          </a:prstGeom>
          <a:solidFill>
            <a:srgbClr val="FFFFFF"/>
          </a:solidFill>
          <a:ln w="12700">
            <a:solidFill>
              <a:srgbClr val="0E8C86"/>
            </a:solidFill>
            <a:prstDash val="solid"/>
          </a:ln>
        </p:spPr>
      </p:sp>
      <p:sp>
        <p:nvSpPr>
          <p:cNvPr id="49" name="Shape 44"/>
          <p:cNvSpPr/>
          <p:nvPr/>
        </p:nvSpPr>
        <p:spPr>
          <a:xfrm>
            <a:off x="630936" y="3995928"/>
            <a:ext cx="402336" cy="402336"/>
          </a:xfrm>
          <a:prstGeom prst="ellipse">
            <a:avLst/>
          </a:prstGeom>
          <a:solidFill>
            <a:srgbClr val="0E8C86"/>
          </a:solidFill>
          <a:ln w="12700">
            <a:solidFill>
              <a:srgbClr val="0E8C86"/>
            </a:solidFill>
            <a:prstDash val="solid"/>
          </a:ln>
        </p:spPr>
      </p:sp>
      <p:pic>
        <p:nvPicPr>
          <p:cNvPr id="50" name="Image 3" descr="/home/runner/work/Desa-Marga-Mulya/Desa-Marga-Mulya/deck/assets/build/teal/icon-services-w.png">    </p:cNvPr>
          <p:cNvPicPr>
            <a:picLocks noChangeAspect="1"/>
          </p:cNvPicPr>
          <p:nvPr/>
        </p:nvPicPr>
        <p:blipFill>
          <a:blip r:embed="rId5"/>
          <a:stretch>
            <a:fillRect/>
          </a:stretch>
        </p:blipFill>
        <p:spPr>
          <a:xfrm>
            <a:off x="739567" y="4104559"/>
            <a:ext cx="185075" cy="185075"/>
          </a:xfrm>
          <a:prstGeom prst="rect">
            <a:avLst/>
          </a:prstGeom>
        </p:spPr>
      </p:pic>
      <p:sp>
        <p:nvSpPr>
          <p:cNvPr id="51" name="Text 45"/>
          <p:cNvSpPr/>
          <p:nvPr/>
        </p:nvSpPr>
        <p:spPr>
          <a:xfrm>
            <a:off x="1124712" y="3950208"/>
            <a:ext cx="1252728" cy="256032"/>
          </a:xfrm>
          <a:prstGeom prst="rect">
            <a:avLst/>
          </a:prstGeom>
          <a:noFill/>
          <a:ln/>
        </p:spPr>
        <p:txBody>
          <a:bodyPr wrap="square" lIns="0" tIns="0" rIns="0" bIns="0" rtlCol="0" anchor="t">
            <a:normAutofit/>
          </a:bodyPr>
          <a:lstStyle/>
          <a:p>
            <a:pPr indent="0" marL="0">
              <a:buNone/>
            </a:pPr>
            <a:r>
              <a:rPr lang="en-US" sz="1200" b="1" dirty="0">
                <a:solidFill>
                  <a:srgbClr val="0B3B38"/>
                </a:solidFill>
                <a:latin typeface="Montserrat" pitchFamily="34" charset="0"/>
                <a:ea typeface="Montserrat" pitchFamily="34" charset="-122"/>
                <a:cs typeface="Montserrat" pitchFamily="34" charset="-120"/>
              </a:rPr>
              <a:t>SERVE</a:t>
            </a:r>
            <a:endParaRPr lang="en-US" sz="1200" dirty="0"/>
          </a:p>
        </p:txBody>
      </p:sp>
      <p:sp>
        <p:nvSpPr>
          <p:cNvPr id="52" name="Shape 46"/>
          <p:cNvSpPr/>
          <p:nvPr/>
        </p:nvSpPr>
        <p:spPr>
          <a:xfrm>
            <a:off x="1124712" y="4279392"/>
            <a:ext cx="100584" cy="100584"/>
          </a:xfrm>
          <a:prstGeom prst="ellipse">
            <a:avLst/>
          </a:prstGeom>
          <a:solidFill>
            <a:srgbClr val="0E8C86"/>
          </a:solidFill>
          <a:ln w="12700">
            <a:solidFill>
              <a:srgbClr val="0E8C86"/>
            </a:solidFill>
            <a:prstDash val="solid"/>
          </a:ln>
        </p:spPr>
      </p:sp>
      <p:sp>
        <p:nvSpPr>
          <p:cNvPr id="53" name="Text 47"/>
          <p:cNvSpPr/>
          <p:nvPr/>
        </p:nvSpPr>
        <p:spPr>
          <a:xfrm>
            <a:off x="1271016" y="4242816"/>
            <a:ext cx="1097280" cy="164592"/>
          </a:xfrm>
          <a:prstGeom prst="rect">
            <a:avLst/>
          </a:prstGeom>
          <a:noFill/>
          <a:ln/>
        </p:spPr>
        <p:txBody>
          <a:bodyPr wrap="square" lIns="0" tIns="0" rIns="0" bIns="0" rtlCol="0" anchor="ctr"/>
          <a:lstStyle/>
          <a:p>
            <a:pPr indent="0" marL="0">
              <a:buNone/>
            </a:pPr>
            <a:r>
              <a:rPr lang="en-US" sz="800" b="1" dirty="0">
                <a:solidFill>
                  <a:srgbClr val="4B6360"/>
                </a:solidFill>
                <a:latin typeface="Montserrat" pitchFamily="34" charset="0"/>
                <a:ea typeface="Montserrat" pitchFamily="34" charset="-122"/>
                <a:cs typeface="Montserrat" pitchFamily="34" charset="-120"/>
              </a:rPr>
              <a:t>Live</a:t>
            </a:r>
            <a:endParaRPr lang="en-US" sz="800" dirty="0"/>
          </a:p>
        </p:txBody>
      </p:sp>
      <p:sp>
        <p:nvSpPr>
          <p:cNvPr id="54" name="Shape 48"/>
          <p:cNvSpPr/>
          <p:nvPr/>
        </p:nvSpPr>
        <p:spPr>
          <a:xfrm>
            <a:off x="2569464" y="3840480"/>
            <a:ext cx="1938528" cy="713232"/>
          </a:xfrm>
          <a:prstGeom prst="roundRect">
            <a:avLst>
              <a:gd name="adj" fmla="val 12821"/>
            </a:avLst>
          </a:prstGeom>
          <a:solidFill>
            <a:srgbClr val="FFFFFF"/>
          </a:solidFill>
          <a:ln w="12700">
            <a:solidFill>
              <a:srgbClr val="0E8C86"/>
            </a:solidFill>
            <a:prstDash val="solid"/>
          </a:ln>
        </p:spPr>
      </p:sp>
      <p:sp>
        <p:nvSpPr>
          <p:cNvPr id="55" name="Shape 49"/>
          <p:cNvSpPr/>
          <p:nvPr/>
        </p:nvSpPr>
        <p:spPr>
          <a:xfrm>
            <a:off x="2697480" y="3995928"/>
            <a:ext cx="402336" cy="402336"/>
          </a:xfrm>
          <a:prstGeom prst="ellipse">
            <a:avLst/>
          </a:prstGeom>
          <a:solidFill>
            <a:srgbClr val="0E8C86"/>
          </a:solidFill>
          <a:ln w="12700">
            <a:solidFill>
              <a:srgbClr val="0E8C86"/>
            </a:solidFill>
            <a:prstDash val="solid"/>
          </a:ln>
        </p:spPr>
      </p:sp>
      <p:pic>
        <p:nvPicPr>
          <p:cNvPr id="56" name="Image 4" descr="/home/runner/work/Desa-Marga-Mulya/Desa-Marga-Mulya/deck/assets/build/teal/icon-search-w.png">    </p:cNvPr>
          <p:cNvPicPr>
            <a:picLocks noChangeAspect="1"/>
          </p:cNvPicPr>
          <p:nvPr/>
        </p:nvPicPr>
        <p:blipFill>
          <a:blip r:embed="rId6"/>
          <a:stretch>
            <a:fillRect/>
          </a:stretch>
        </p:blipFill>
        <p:spPr>
          <a:xfrm>
            <a:off x="2806111" y="4104559"/>
            <a:ext cx="185075" cy="185075"/>
          </a:xfrm>
          <a:prstGeom prst="rect">
            <a:avLst/>
          </a:prstGeom>
        </p:spPr>
      </p:pic>
      <p:sp>
        <p:nvSpPr>
          <p:cNvPr id="57" name="Text 50"/>
          <p:cNvSpPr/>
          <p:nvPr/>
        </p:nvSpPr>
        <p:spPr>
          <a:xfrm>
            <a:off x="3191256" y="3950208"/>
            <a:ext cx="1252728" cy="256032"/>
          </a:xfrm>
          <a:prstGeom prst="rect">
            <a:avLst/>
          </a:prstGeom>
          <a:noFill/>
          <a:ln/>
        </p:spPr>
        <p:txBody>
          <a:bodyPr wrap="square" lIns="0" tIns="0" rIns="0" bIns="0" rtlCol="0" anchor="t">
            <a:normAutofit/>
          </a:bodyPr>
          <a:lstStyle/>
          <a:p>
            <a:pPr indent="0" marL="0">
              <a:buNone/>
            </a:pPr>
            <a:r>
              <a:rPr lang="en-US" sz="1200" b="1" dirty="0">
                <a:solidFill>
                  <a:srgbClr val="0B3B38"/>
                </a:solidFill>
                <a:latin typeface="Montserrat" pitchFamily="34" charset="0"/>
                <a:ea typeface="Montserrat" pitchFamily="34" charset="-122"/>
                <a:cs typeface="Montserrat" pitchFamily="34" charset="-120"/>
              </a:rPr>
              <a:t>DISCOVER</a:t>
            </a:r>
            <a:endParaRPr lang="en-US" sz="1200" dirty="0"/>
          </a:p>
        </p:txBody>
      </p:sp>
      <p:sp>
        <p:nvSpPr>
          <p:cNvPr id="58" name="Shape 51"/>
          <p:cNvSpPr/>
          <p:nvPr/>
        </p:nvSpPr>
        <p:spPr>
          <a:xfrm>
            <a:off x="3191256" y="4224528"/>
            <a:ext cx="100584" cy="100584"/>
          </a:xfrm>
          <a:prstGeom prst="ellipse">
            <a:avLst/>
          </a:prstGeom>
          <a:solidFill>
            <a:srgbClr val="0E8C86"/>
          </a:solidFill>
          <a:ln w="12700">
            <a:solidFill>
              <a:srgbClr val="0E8C86"/>
            </a:solidFill>
            <a:prstDash val="solid"/>
          </a:ln>
        </p:spPr>
      </p:sp>
      <p:sp>
        <p:nvSpPr>
          <p:cNvPr id="59" name="Text 52"/>
          <p:cNvSpPr/>
          <p:nvPr/>
        </p:nvSpPr>
        <p:spPr>
          <a:xfrm>
            <a:off x="3337560" y="4187952"/>
            <a:ext cx="1097280" cy="164592"/>
          </a:xfrm>
          <a:prstGeom prst="rect">
            <a:avLst/>
          </a:prstGeom>
          <a:noFill/>
          <a:ln/>
        </p:spPr>
        <p:txBody>
          <a:bodyPr wrap="square" lIns="0" tIns="0" rIns="0" bIns="0" rtlCol="0" anchor="ctr"/>
          <a:lstStyle/>
          <a:p>
            <a:pPr indent="0" marL="0">
              <a:buNone/>
            </a:pPr>
            <a:r>
              <a:rPr lang="en-US" sz="800" b="1" dirty="0">
                <a:solidFill>
                  <a:srgbClr val="4B6360"/>
                </a:solidFill>
                <a:latin typeface="Montserrat" pitchFamily="34" charset="0"/>
                <a:ea typeface="Montserrat" pitchFamily="34" charset="-122"/>
                <a:cs typeface="Montserrat" pitchFamily="34" charset="-120"/>
              </a:rPr>
              <a:t>Map live</a:t>
            </a:r>
            <a:endParaRPr lang="en-US" sz="800" dirty="0"/>
          </a:p>
        </p:txBody>
      </p:sp>
      <p:sp>
        <p:nvSpPr>
          <p:cNvPr id="60" name="Shape 53"/>
          <p:cNvSpPr/>
          <p:nvPr/>
        </p:nvSpPr>
        <p:spPr>
          <a:xfrm>
            <a:off x="3191256" y="4389120"/>
            <a:ext cx="100584" cy="100584"/>
          </a:xfrm>
          <a:prstGeom prst="ellipse">
            <a:avLst/>
          </a:prstGeom>
          <a:solidFill>
            <a:srgbClr val="FFFFFF"/>
          </a:solidFill>
          <a:ln w="12700">
            <a:solidFill>
              <a:srgbClr val="0E8C86"/>
            </a:solidFill>
            <a:prstDash val="solid"/>
          </a:ln>
        </p:spPr>
      </p:sp>
      <p:sp>
        <p:nvSpPr>
          <p:cNvPr id="61" name="Text 54"/>
          <p:cNvSpPr/>
          <p:nvPr/>
        </p:nvSpPr>
        <p:spPr>
          <a:xfrm>
            <a:off x="3337560" y="4352544"/>
            <a:ext cx="1097280" cy="164592"/>
          </a:xfrm>
          <a:prstGeom prst="rect">
            <a:avLst/>
          </a:prstGeom>
          <a:noFill/>
          <a:ln/>
        </p:spPr>
        <p:txBody>
          <a:bodyPr wrap="square" lIns="0" tIns="0" rIns="0" bIns="0" rtlCol="0" anchor="ctr"/>
          <a:lstStyle/>
          <a:p>
            <a:pPr indent="0" marL="0">
              <a:buNone/>
            </a:pPr>
            <a:r>
              <a:rPr lang="en-US" sz="800" b="1" dirty="0">
                <a:solidFill>
                  <a:srgbClr val="4B6360"/>
                </a:solidFill>
                <a:latin typeface="Montserrat" pitchFamily="34" charset="0"/>
                <a:ea typeface="Montserrat" pitchFamily="34" charset="-122"/>
                <a:cs typeface="Montserrat" pitchFamily="34" charset="-120"/>
              </a:rPr>
              <a:t>Categories next</a:t>
            </a:r>
            <a:endParaRPr lang="en-US" sz="800" dirty="0"/>
          </a:p>
        </p:txBody>
      </p:sp>
      <p:sp>
        <p:nvSpPr>
          <p:cNvPr id="62" name="Shape 55"/>
          <p:cNvSpPr/>
          <p:nvPr/>
        </p:nvSpPr>
        <p:spPr>
          <a:xfrm>
            <a:off x="4636008" y="3840480"/>
            <a:ext cx="1938528" cy="713232"/>
          </a:xfrm>
          <a:prstGeom prst="roundRect">
            <a:avLst>
              <a:gd name="adj" fmla="val 12821"/>
            </a:avLst>
          </a:prstGeom>
          <a:solidFill>
            <a:srgbClr val="FFFFFF"/>
          </a:solidFill>
          <a:ln w="12700">
            <a:solidFill>
              <a:srgbClr val="0E8C86"/>
            </a:solidFill>
            <a:prstDash val="solid"/>
          </a:ln>
        </p:spPr>
      </p:sp>
      <p:sp>
        <p:nvSpPr>
          <p:cNvPr id="63" name="Shape 56"/>
          <p:cNvSpPr/>
          <p:nvPr/>
        </p:nvSpPr>
        <p:spPr>
          <a:xfrm>
            <a:off x="4764024" y="3995928"/>
            <a:ext cx="402336" cy="402336"/>
          </a:xfrm>
          <a:prstGeom prst="ellipse">
            <a:avLst/>
          </a:prstGeom>
          <a:solidFill>
            <a:srgbClr val="0E8C86"/>
          </a:solidFill>
          <a:ln w="12700">
            <a:solidFill>
              <a:srgbClr val="0E8C86"/>
            </a:solidFill>
            <a:prstDash val="solid"/>
          </a:ln>
        </p:spPr>
      </p:sp>
      <p:pic>
        <p:nvPicPr>
          <p:cNvPr id="64" name="Image 5" descr="/home/runner/work/Desa-Marga-Mulya/Desa-Marga-Mulya/deck/assets/build/teal/icon-market-w.png">    </p:cNvPr>
          <p:cNvPicPr>
            <a:picLocks noChangeAspect="1"/>
          </p:cNvPicPr>
          <p:nvPr/>
        </p:nvPicPr>
        <p:blipFill>
          <a:blip r:embed="rId7"/>
          <a:stretch>
            <a:fillRect/>
          </a:stretch>
        </p:blipFill>
        <p:spPr>
          <a:xfrm>
            <a:off x="4872655" y="4104559"/>
            <a:ext cx="185075" cy="185075"/>
          </a:xfrm>
          <a:prstGeom prst="rect">
            <a:avLst/>
          </a:prstGeom>
        </p:spPr>
      </p:pic>
      <p:sp>
        <p:nvSpPr>
          <p:cNvPr id="65" name="Text 57"/>
          <p:cNvSpPr/>
          <p:nvPr/>
        </p:nvSpPr>
        <p:spPr>
          <a:xfrm>
            <a:off x="5257800" y="3950208"/>
            <a:ext cx="1252728" cy="256032"/>
          </a:xfrm>
          <a:prstGeom prst="rect">
            <a:avLst/>
          </a:prstGeom>
          <a:noFill/>
          <a:ln/>
        </p:spPr>
        <p:txBody>
          <a:bodyPr wrap="square" lIns="0" tIns="0" rIns="0" bIns="0" rtlCol="0" anchor="t">
            <a:normAutofit/>
          </a:bodyPr>
          <a:lstStyle/>
          <a:p>
            <a:pPr indent="0" marL="0">
              <a:buNone/>
            </a:pPr>
            <a:r>
              <a:rPr lang="en-US" sz="1200" b="1" dirty="0">
                <a:solidFill>
                  <a:srgbClr val="0B3B38"/>
                </a:solidFill>
                <a:latin typeface="Montserrat" pitchFamily="34" charset="0"/>
                <a:ea typeface="Montserrat" pitchFamily="34" charset="-122"/>
                <a:cs typeface="Montserrat" pitchFamily="34" charset="-120"/>
              </a:rPr>
              <a:t>BUY</a:t>
            </a:r>
            <a:endParaRPr lang="en-US" sz="1200" dirty="0"/>
          </a:p>
        </p:txBody>
      </p:sp>
      <p:sp>
        <p:nvSpPr>
          <p:cNvPr id="66" name="Shape 58"/>
          <p:cNvSpPr/>
          <p:nvPr/>
        </p:nvSpPr>
        <p:spPr>
          <a:xfrm>
            <a:off x="5257800" y="4279392"/>
            <a:ext cx="100584" cy="100584"/>
          </a:xfrm>
          <a:prstGeom prst="ellipse">
            <a:avLst/>
          </a:prstGeom>
          <a:solidFill>
            <a:srgbClr val="0E8C86"/>
          </a:solidFill>
          <a:ln w="12700">
            <a:solidFill>
              <a:srgbClr val="0E8C86"/>
            </a:solidFill>
            <a:prstDash val="solid"/>
          </a:ln>
        </p:spPr>
      </p:sp>
      <p:sp>
        <p:nvSpPr>
          <p:cNvPr id="67" name="Text 59"/>
          <p:cNvSpPr/>
          <p:nvPr/>
        </p:nvSpPr>
        <p:spPr>
          <a:xfrm>
            <a:off x="5404104" y="4242816"/>
            <a:ext cx="1097280" cy="164592"/>
          </a:xfrm>
          <a:prstGeom prst="rect">
            <a:avLst/>
          </a:prstGeom>
          <a:noFill/>
          <a:ln/>
        </p:spPr>
        <p:txBody>
          <a:bodyPr wrap="square" lIns="0" tIns="0" rIns="0" bIns="0" rtlCol="0" anchor="ctr"/>
          <a:lstStyle/>
          <a:p>
            <a:pPr indent="0" marL="0">
              <a:buNone/>
            </a:pPr>
            <a:r>
              <a:rPr lang="en-US" sz="800" b="1" dirty="0">
                <a:solidFill>
                  <a:srgbClr val="4B6360"/>
                </a:solidFill>
                <a:latin typeface="Montserrat" pitchFamily="34" charset="0"/>
                <a:ea typeface="Montserrat" pitchFamily="34" charset="-122"/>
                <a:cs typeface="Montserrat" pitchFamily="34" charset="-120"/>
              </a:rPr>
              <a:t>Live</a:t>
            </a:r>
            <a:endParaRPr lang="en-US" sz="800" dirty="0"/>
          </a:p>
        </p:txBody>
      </p:sp>
      <p:sp>
        <p:nvSpPr>
          <p:cNvPr id="68" name="Shape 60"/>
          <p:cNvSpPr/>
          <p:nvPr/>
        </p:nvSpPr>
        <p:spPr>
          <a:xfrm>
            <a:off x="6702552" y="3840480"/>
            <a:ext cx="1938528" cy="713232"/>
          </a:xfrm>
          <a:prstGeom prst="roundRect">
            <a:avLst>
              <a:gd name="adj" fmla="val 12821"/>
            </a:avLst>
          </a:prstGeom>
          <a:solidFill>
            <a:srgbClr val="FFFFFF"/>
          </a:solidFill>
          <a:ln w="12700">
            <a:solidFill>
              <a:srgbClr val="0E8C86"/>
            </a:solidFill>
            <a:prstDash val="solid"/>
          </a:ln>
        </p:spPr>
      </p:sp>
      <p:sp>
        <p:nvSpPr>
          <p:cNvPr id="69" name="Shape 61"/>
          <p:cNvSpPr/>
          <p:nvPr/>
        </p:nvSpPr>
        <p:spPr>
          <a:xfrm>
            <a:off x="6830568" y="3995928"/>
            <a:ext cx="402336" cy="402336"/>
          </a:xfrm>
          <a:prstGeom prst="ellipse">
            <a:avLst/>
          </a:prstGeom>
          <a:solidFill>
            <a:srgbClr val="0E8C86"/>
          </a:solidFill>
          <a:ln w="12700">
            <a:solidFill>
              <a:srgbClr val="0E8C86"/>
            </a:solidFill>
            <a:prstDash val="solid"/>
          </a:ln>
        </p:spPr>
      </p:sp>
      <p:pic>
        <p:nvPicPr>
          <p:cNvPr id="70" name="Image 6" descr="/home/runner/work/Desa-Marga-Mulya/Desa-Marga-Mulya/deck/assets/build/teal/icon-data-w.png">    </p:cNvPr>
          <p:cNvPicPr>
            <a:picLocks noChangeAspect="1"/>
          </p:cNvPicPr>
          <p:nvPr/>
        </p:nvPicPr>
        <p:blipFill>
          <a:blip r:embed="rId8"/>
          <a:stretch>
            <a:fillRect/>
          </a:stretch>
        </p:blipFill>
        <p:spPr>
          <a:xfrm>
            <a:off x="6939199" y="4104559"/>
            <a:ext cx="185075" cy="185075"/>
          </a:xfrm>
          <a:prstGeom prst="rect">
            <a:avLst/>
          </a:prstGeom>
        </p:spPr>
      </p:pic>
      <p:sp>
        <p:nvSpPr>
          <p:cNvPr id="71" name="Text 62"/>
          <p:cNvSpPr/>
          <p:nvPr/>
        </p:nvSpPr>
        <p:spPr>
          <a:xfrm>
            <a:off x="7324344" y="3950208"/>
            <a:ext cx="1252728" cy="256032"/>
          </a:xfrm>
          <a:prstGeom prst="rect">
            <a:avLst/>
          </a:prstGeom>
          <a:noFill/>
          <a:ln/>
        </p:spPr>
        <p:txBody>
          <a:bodyPr wrap="square" lIns="0" tIns="0" rIns="0" bIns="0" rtlCol="0" anchor="t">
            <a:normAutofit/>
          </a:bodyPr>
          <a:lstStyle/>
          <a:p>
            <a:pPr indent="0" marL="0">
              <a:buNone/>
            </a:pPr>
            <a:r>
              <a:rPr lang="en-US" sz="1200" b="1" dirty="0">
                <a:solidFill>
                  <a:srgbClr val="0B3B38"/>
                </a:solidFill>
                <a:latin typeface="Montserrat" pitchFamily="34" charset="0"/>
                <a:ea typeface="Montserrat" pitchFamily="34" charset="-122"/>
                <a:cs typeface="Montserrat" pitchFamily="34" charset="-120"/>
              </a:rPr>
              <a:t>UNDERSTAND</a:t>
            </a:r>
            <a:endParaRPr lang="en-US" sz="1200" dirty="0"/>
          </a:p>
        </p:txBody>
      </p:sp>
      <p:sp>
        <p:nvSpPr>
          <p:cNvPr id="72" name="Shape 63"/>
          <p:cNvSpPr/>
          <p:nvPr/>
        </p:nvSpPr>
        <p:spPr>
          <a:xfrm>
            <a:off x="7324344" y="4279392"/>
            <a:ext cx="100584" cy="100584"/>
          </a:xfrm>
          <a:prstGeom prst="ellipse">
            <a:avLst/>
          </a:prstGeom>
          <a:solidFill>
            <a:srgbClr val="0E8C86"/>
          </a:solidFill>
          <a:ln w="12700">
            <a:solidFill>
              <a:srgbClr val="0E8C86"/>
            </a:solidFill>
            <a:prstDash val="solid"/>
          </a:ln>
        </p:spPr>
      </p:sp>
      <p:sp>
        <p:nvSpPr>
          <p:cNvPr id="73" name="Text 64"/>
          <p:cNvSpPr/>
          <p:nvPr/>
        </p:nvSpPr>
        <p:spPr>
          <a:xfrm>
            <a:off x="7470648" y="4242816"/>
            <a:ext cx="1097280" cy="164592"/>
          </a:xfrm>
          <a:prstGeom prst="rect">
            <a:avLst/>
          </a:prstGeom>
          <a:noFill/>
          <a:ln/>
        </p:spPr>
        <p:txBody>
          <a:bodyPr wrap="square" lIns="0" tIns="0" rIns="0" bIns="0" rtlCol="0" anchor="ctr"/>
          <a:lstStyle/>
          <a:p>
            <a:pPr indent="0" marL="0">
              <a:buNone/>
            </a:pPr>
            <a:r>
              <a:rPr lang="en-US" sz="800" b="1" dirty="0">
                <a:solidFill>
                  <a:srgbClr val="4B6360"/>
                </a:solidFill>
                <a:latin typeface="Montserrat" pitchFamily="34" charset="0"/>
                <a:ea typeface="Montserrat" pitchFamily="34" charset="-122"/>
                <a:cs typeface="Montserrat" pitchFamily="34" charset="-120"/>
              </a:rPr>
              <a:t>Live</a:t>
            </a:r>
            <a:endParaRPr lang="en-US" sz="800" dirty="0"/>
          </a:p>
        </p:txBody>
      </p:sp>
      <p:sp>
        <p:nvSpPr>
          <p:cNvPr id="74" name="Shape 65"/>
          <p:cNvSpPr/>
          <p:nvPr/>
        </p:nvSpPr>
        <p:spPr>
          <a:xfrm>
            <a:off x="5989320" y="4846320"/>
            <a:ext cx="100584" cy="100584"/>
          </a:xfrm>
          <a:prstGeom prst="ellipse">
            <a:avLst/>
          </a:prstGeom>
          <a:solidFill>
            <a:srgbClr val="0E8C86"/>
          </a:solidFill>
          <a:ln w="12700">
            <a:solidFill>
              <a:srgbClr val="0E8C86"/>
            </a:solidFill>
            <a:prstDash val="solid"/>
          </a:ln>
        </p:spPr>
      </p:sp>
      <p:sp>
        <p:nvSpPr>
          <p:cNvPr id="75" name="Text 66"/>
          <p:cNvSpPr/>
          <p:nvPr/>
        </p:nvSpPr>
        <p:spPr>
          <a:xfrm>
            <a:off x="6144768" y="4800600"/>
            <a:ext cx="822960" cy="182880"/>
          </a:xfrm>
          <a:prstGeom prst="rect">
            <a:avLst/>
          </a:prstGeom>
          <a:noFill/>
          <a:ln/>
        </p:spPr>
        <p:txBody>
          <a:bodyPr wrap="square" lIns="0" tIns="0" rIns="0" bIns="0" rtlCol="0" anchor="ctr"/>
          <a:lstStyle/>
          <a:p>
            <a:pPr indent="0" marL="0">
              <a:buNone/>
            </a:pPr>
            <a:r>
              <a:rPr lang="en-US" sz="750" b="1" dirty="0">
                <a:solidFill>
                  <a:srgbClr val="4B6360"/>
                </a:solidFill>
                <a:latin typeface="Montserrat" pitchFamily="34" charset="0"/>
                <a:ea typeface="Montserrat" pitchFamily="34" charset="-122"/>
                <a:cs typeface="Montserrat" pitchFamily="34" charset="-120"/>
              </a:rPr>
              <a:t>Live now</a:t>
            </a:r>
            <a:endParaRPr lang="en-US" sz="750" dirty="0"/>
          </a:p>
        </p:txBody>
      </p:sp>
      <p:sp>
        <p:nvSpPr>
          <p:cNvPr id="76" name="Shape 67"/>
          <p:cNvSpPr/>
          <p:nvPr/>
        </p:nvSpPr>
        <p:spPr>
          <a:xfrm>
            <a:off x="7086600" y="4846320"/>
            <a:ext cx="100584" cy="100584"/>
          </a:xfrm>
          <a:prstGeom prst="ellipse">
            <a:avLst/>
          </a:prstGeom>
          <a:solidFill>
            <a:srgbClr val="FFFFFF"/>
          </a:solidFill>
          <a:ln w="12700">
            <a:solidFill>
              <a:srgbClr val="0E8C86"/>
            </a:solidFill>
            <a:prstDash val="solid"/>
          </a:ln>
        </p:spPr>
      </p:sp>
      <p:sp>
        <p:nvSpPr>
          <p:cNvPr id="77" name="Text 68"/>
          <p:cNvSpPr/>
          <p:nvPr/>
        </p:nvSpPr>
        <p:spPr>
          <a:xfrm>
            <a:off x="7242048" y="4800600"/>
            <a:ext cx="1463040" cy="182880"/>
          </a:xfrm>
          <a:prstGeom prst="rect">
            <a:avLst/>
          </a:prstGeom>
          <a:noFill/>
          <a:ln/>
        </p:spPr>
        <p:txBody>
          <a:bodyPr wrap="square" lIns="0" tIns="0" rIns="0" bIns="0" rtlCol="0" anchor="ctr"/>
          <a:lstStyle/>
          <a:p>
            <a:pPr indent="0" marL="0">
              <a:buNone/>
            </a:pPr>
            <a:r>
              <a:rPr lang="en-US" sz="750" b="1" dirty="0">
                <a:solidFill>
                  <a:srgbClr val="4B6360"/>
                </a:solidFill>
                <a:latin typeface="Montserrat" pitchFamily="34" charset="0"/>
                <a:ea typeface="Montserrat" pitchFamily="34" charset="-122"/>
                <a:cs typeface="Montserrat" pitchFamily="34" charset="-120"/>
              </a:rPr>
              <a:t>Planned next (not yet built)</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Overview</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Solution</a:t>
            </a:r>
            <a:endParaRPr lang="en-US" sz="900" dirty="0"/>
          </a:p>
        </p:txBody>
      </p:sp>
      <p:sp>
        <p:nvSpPr>
          <p:cNvPr id="5" name="Shape 3"/>
          <p:cNvSpPr/>
          <p:nvPr/>
        </p:nvSpPr>
        <p:spPr>
          <a:xfrm>
            <a:off x="5669280" y="91440"/>
            <a:ext cx="1097280" cy="32004"/>
          </a:xfrm>
          <a:prstGeom prst="rect">
            <a:avLst/>
          </a:prstGeom>
          <a:solidFill>
            <a:srgbClr val="0E8C86"/>
          </a:solidFill>
          <a:ln w="12700">
            <a:solidFill>
              <a:srgbClr val="0E8C86"/>
            </a:solidFill>
            <a:prstDash val="solid"/>
          </a:ln>
        </p:spPr>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0B3B38"/>
                </a:solidFill>
                <a:latin typeface="Montserrat" pitchFamily="34" charset="0"/>
                <a:ea typeface="Montserrat" pitchFamily="34" charset="-122"/>
                <a:cs typeface="Montserrat" pitchFamily="34" charset="-120"/>
              </a:rPr>
              <a:t>Built and Live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4B6360"/>
                </a:solidFill>
                <a:latin typeface="Montserrat" pitchFamily="34" charset="0"/>
                <a:ea typeface="Montserrat" pitchFamily="34" charset="-122"/>
                <a:cs typeface="Montserrat" pitchFamily="34" charset="-120"/>
              </a:rPr>
              <a:t>Live demo: desa-marga-mulya.vercel.app</a:t>
            </a:r>
            <a:endParaRPr lang="en-US" sz="1200" dirty="0"/>
          </a:p>
        </p:txBody>
      </p:sp>
      <p:sp>
        <p:nvSpPr>
          <p:cNvPr id="10" name="Shape 8"/>
          <p:cNvSpPr/>
          <p:nvPr/>
        </p:nvSpPr>
        <p:spPr>
          <a:xfrm>
            <a:off x="502920" y="1298448"/>
            <a:ext cx="1024128" cy="310896"/>
          </a:xfrm>
          <a:prstGeom prst="roundRect">
            <a:avLst>
              <a:gd name="adj" fmla="val 50000"/>
            </a:avLst>
          </a:prstGeom>
          <a:solidFill>
            <a:srgbClr val="0E8C86"/>
          </a:solidFill>
          <a:ln w="12700">
            <a:solidFill>
              <a:srgbClr val="0E8C86"/>
            </a:solidFill>
            <a:prstDash val="solid"/>
          </a:ln>
        </p:spPr>
      </p:sp>
      <p:sp>
        <p:nvSpPr>
          <p:cNvPr id="11" name="Text 9"/>
          <p:cNvSpPr/>
          <p:nvPr/>
        </p:nvSpPr>
        <p:spPr>
          <a:xfrm>
            <a:off x="50292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Home</a:t>
            </a:r>
            <a:endParaRPr lang="en-US" sz="800" dirty="0"/>
          </a:p>
        </p:txBody>
      </p:sp>
      <p:sp>
        <p:nvSpPr>
          <p:cNvPr id="12" name="Text 10"/>
          <p:cNvSpPr/>
          <p:nvPr/>
        </p:nvSpPr>
        <p:spPr>
          <a:xfrm>
            <a:off x="152704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13" name="Shape 11"/>
          <p:cNvSpPr/>
          <p:nvPr/>
        </p:nvSpPr>
        <p:spPr>
          <a:xfrm>
            <a:off x="1691640" y="1298448"/>
            <a:ext cx="1024128" cy="310896"/>
          </a:xfrm>
          <a:prstGeom prst="roundRect">
            <a:avLst>
              <a:gd name="adj" fmla="val 50000"/>
            </a:avLst>
          </a:prstGeom>
          <a:solidFill>
            <a:srgbClr val="FFFFFF"/>
          </a:solidFill>
          <a:ln w="12700">
            <a:solidFill>
              <a:srgbClr val="0E8C86"/>
            </a:solidFill>
            <a:prstDash val="solid"/>
          </a:ln>
        </p:spPr>
      </p:sp>
      <p:sp>
        <p:nvSpPr>
          <p:cNvPr id="14" name="Text 12"/>
          <p:cNvSpPr/>
          <p:nvPr/>
        </p:nvSpPr>
        <p:spPr>
          <a:xfrm>
            <a:off x="169164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0B3B38"/>
                </a:solidFill>
                <a:latin typeface="Montserrat" pitchFamily="34" charset="0"/>
                <a:ea typeface="Montserrat" pitchFamily="34" charset="-122"/>
                <a:cs typeface="Montserrat" pitchFamily="34" charset="-120"/>
              </a:rPr>
              <a:t>Service</a:t>
            </a:r>
            <a:endParaRPr lang="en-US" sz="800" dirty="0"/>
          </a:p>
        </p:txBody>
      </p:sp>
      <p:sp>
        <p:nvSpPr>
          <p:cNvPr id="15" name="Text 13"/>
          <p:cNvSpPr/>
          <p:nvPr/>
        </p:nvSpPr>
        <p:spPr>
          <a:xfrm>
            <a:off x="271576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16" name="Shape 14"/>
          <p:cNvSpPr/>
          <p:nvPr/>
        </p:nvSpPr>
        <p:spPr>
          <a:xfrm>
            <a:off x="2880360" y="1298448"/>
            <a:ext cx="1024128" cy="310896"/>
          </a:xfrm>
          <a:prstGeom prst="roundRect">
            <a:avLst>
              <a:gd name="adj" fmla="val 50000"/>
            </a:avLst>
          </a:prstGeom>
          <a:solidFill>
            <a:srgbClr val="FFFFFF"/>
          </a:solidFill>
          <a:ln w="12700">
            <a:solidFill>
              <a:srgbClr val="0E8C86"/>
            </a:solidFill>
            <a:prstDash val="solid"/>
          </a:ln>
        </p:spPr>
      </p:sp>
      <p:sp>
        <p:nvSpPr>
          <p:cNvPr id="17" name="Text 15"/>
          <p:cNvSpPr/>
          <p:nvPr/>
        </p:nvSpPr>
        <p:spPr>
          <a:xfrm>
            <a:off x="288036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0B3B38"/>
                </a:solidFill>
                <a:latin typeface="Montserrat" pitchFamily="34" charset="0"/>
                <a:ea typeface="Montserrat" pitchFamily="34" charset="-122"/>
                <a:cs typeface="Montserrat" pitchFamily="34" charset="-120"/>
              </a:rPr>
              <a:t>Pasar Desa</a:t>
            </a:r>
            <a:endParaRPr lang="en-US" sz="800" dirty="0"/>
          </a:p>
        </p:txBody>
      </p:sp>
      <p:sp>
        <p:nvSpPr>
          <p:cNvPr id="18" name="Text 16"/>
          <p:cNvSpPr/>
          <p:nvPr/>
        </p:nvSpPr>
        <p:spPr>
          <a:xfrm>
            <a:off x="390448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19" name="Shape 17"/>
          <p:cNvSpPr/>
          <p:nvPr/>
        </p:nvSpPr>
        <p:spPr>
          <a:xfrm>
            <a:off x="4069080" y="1298448"/>
            <a:ext cx="1024128" cy="310896"/>
          </a:xfrm>
          <a:prstGeom prst="roundRect">
            <a:avLst>
              <a:gd name="adj" fmla="val 50000"/>
            </a:avLst>
          </a:prstGeom>
          <a:solidFill>
            <a:srgbClr val="FFFFFF"/>
          </a:solidFill>
          <a:ln w="12700">
            <a:solidFill>
              <a:srgbClr val="0E8C86"/>
            </a:solidFill>
            <a:prstDash val="solid"/>
          </a:ln>
        </p:spPr>
      </p:sp>
      <p:sp>
        <p:nvSpPr>
          <p:cNvPr id="20" name="Text 18"/>
          <p:cNvSpPr/>
          <p:nvPr/>
        </p:nvSpPr>
        <p:spPr>
          <a:xfrm>
            <a:off x="406908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0B3B38"/>
                </a:solidFill>
                <a:latin typeface="Montserrat" pitchFamily="34" charset="0"/>
                <a:ea typeface="Montserrat" pitchFamily="34" charset="-122"/>
                <a:cs typeface="Montserrat" pitchFamily="34" charset="-120"/>
              </a:rPr>
              <a:t>Product</a:t>
            </a:r>
            <a:endParaRPr lang="en-US" sz="800" dirty="0"/>
          </a:p>
        </p:txBody>
      </p:sp>
      <p:sp>
        <p:nvSpPr>
          <p:cNvPr id="21" name="Text 19"/>
          <p:cNvSpPr/>
          <p:nvPr/>
        </p:nvSpPr>
        <p:spPr>
          <a:xfrm>
            <a:off x="509320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22" name="Shape 20"/>
          <p:cNvSpPr/>
          <p:nvPr/>
        </p:nvSpPr>
        <p:spPr>
          <a:xfrm>
            <a:off x="5257800" y="1298448"/>
            <a:ext cx="1024128" cy="310896"/>
          </a:xfrm>
          <a:prstGeom prst="roundRect">
            <a:avLst>
              <a:gd name="adj" fmla="val 50000"/>
            </a:avLst>
          </a:prstGeom>
          <a:solidFill>
            <a:srgbClr val="FFFFFF"/>
          </a:solidFill>
          <a:ln w="12700">
            <a:solidFill>
              <a:srgbClr val="0E8C86"/>
            </a:solidFill>
            <a:prstDash val="solid"/>
          </a:ln>
        </p:spPr>
      </p:sp>
      <p:sp>
        <p:nvSpPr>
          <p:cNvPr id="23" name="Text 21"/>
          <p:cNvSpPr/>
          <p:nvPr/>
        </p:nvSpPr>
        <p:spPr>
          <a:xfrm>
            <a:off x="525780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0B3B38"/>
                </a:solidFill>
                <a:latin typeface="Montserrat" pitchFamily="34" charset="0"/>
                <a:ea typeface="Montserrat" pitchFamily="34" charset="-122"/>
                <a:cs typeface="Montserrat" pitchFamily="34" charset="-120"/>
              </a:rPr>
              <a:t>Cart</a:t>
            </a:r>
            <a:endParaRPr lang="en-US" sz="800" dirty="0"/>
          </a:p>
        </p:txBody>
      </p:sp>
      <p:sp>
        <p:nvSpPr>
          <p:cNvPr id="24" name="Text 22"/>
          <p:cNvSpPr/>
          <p:nvPr/>
        </p:nvSpPr>
        <p:spPr>
          <a:xfrm>
            <a:off x="628192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25" name="Shape 23"/>
          <p:cNvSpPr/>
          <p:nvPr/>
        </p:nvSpPr>
        <p:spPr>
          <a:xfrm>
            <a:off x="6446520" y="1298448"/>
            <a:ext cx="1024128" cy="310896"/>
          </a:xfrm>
          <a:prstGeom prst="roundRect">
            <a:avLst>
              <a:gd name="adj" fmla="val 50000"/>
            </a:avLst>
          </a:prstGeom>
          <a:solidFill>
            <a:srgbClr val="FFFFFF"/>
          </a:solidFill>
          <a:ln w="12700">
            <a:solidFill>
              <a:srgbClr val="0E8C86"/>
            </a:solidFill>
            <a:prstDash val="solid"/>
          </a:ln>
        </p:spPr>
      </p:sp>
      <p:sp>
        <p:nvSpPr>
          <p:cNvPr id="26" name="Text 24"/>
          <p:cNvSpPr/>
          <p:nvPr/>
        </p:nvSpPr>
        <p:spPr>
          <a:xfrm>
            <a:off x="644652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0B3B38"/>
                </a:solidFill>
                <a:latin typeface="Montserrat" pitchFamily="34" charset="0"/>
                <a:ea typeface="Montserrat" pitchFamily="34" charset="-122"/>
                <a:cs typeface="Montserrat" pitchFamily="34" charset="-120"/>
              </a:rPr>
              <a:t>WhatsApp Order</a:t>
            </a:r>
            <a:endParaRPr lang="en-US" sz="800" dirty="0"/>
          </a:p>
        </p:txBody>
      </p:sp>
      <p:sp>
        <p:nvSpPr>
          <p:cNvPr id="27" name="Text 25"/>
          <p:cNvSpPr/>
          <p:nvPr/>
        </p:nvSpPr>
        <p:spPr>
          <a:xfrm>
            <a:off x="7470648" y="1280160"/>
            <a:ext cx="164592" cy="310896"/>
          </a:xfrm>
          <a:prstGeom prst="rect">
            <a:avLst/>
          </a:prstGeom>
          <a:noFill/>
          <a:ln/>
        </p:spPr>
        <p:txBody>
          <a:bodyPr wrap="square" lIns="0" tIns="0" rIns="0" bIns="0" rtlCol="0" anchor="ctr"/>
          <a:lstStyle/>
          <a:p>
            <a:pPr algn="ctr" indent="0" marL="0">
              <a:buNone/>
            </a:pPr>
            <a:r>
              <a:rPr lang="en-US" sz="1300" b="1" dirty="0">
                <a:solidFill>
                  <a:srgbClr val="0E8C86"/>
                </a:solidFill>
                <a:latin typeface="Montserrat" pitchFamily="34" charset="0"/>
                <a:ea typeface="Montserrat" pitchFamily="34" charset="-122"/>
                <a:cs typeface="Montserrat" pitchFamily="34" charset="-120"/>
              </a:rPr>
              <a:t>›</a:t>
            </a:r>
            <a:endParaRPr lang="en-US" sz="1300" dirty="0"/>
          </a:p>
        </p:txBody>
      </p:sp>
      <p:sp>
        <p:nvSpPr>
          <p:cNvPr id="28" name="Shape 26"/>
          <p:cNvSpPr/>
          <p:nvPr/>
        </p:nvSpPr>
        <p:spPr>
          <a:xfrm>
            <a:off x="7635240" y="1298448"/>
            <a:ext cx="1024128" cy="310896"/>
          </a:xfrm>
          <a:prstGeom prst="roundRect">
            <a:avLst>
              <a:gd name="adj" fmla="val 50000"/>
            </a:avLst>
          </a:prstGeom>
          <a:solidFill>
            <a:srgbClr val="0E8C86"/>
          </a:solidFill>
          <a:ln w="12700">
            <a:solidFill>
              <a:srgbClr val="0E8C86"/>
            </a:solidFill>
            <a:prstDash val="solid"/>
          </a:ln>
        </p:spPr>
      </p:sp>
      <p:sp>
        <p:nvSpPr>
          <p:cNvPr id="29" name="Text 27"/>
          <p:cNvSpPr/>
          <p:nvPr/>
        </p:nvSpPr>
        <p:spPr>
          <a:xfrm>
            <a:off x="7635240" y="1298448"/>
            <a:ext cx="1024128"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Seller Portal</a:t>
            </a:r>
            <a:endParaRPr lang="en-US" sz="800" dirty="0"/>
          </a:p>
        </p:txBody>
      </p:sp>
      <p:sp>
        <p:nvSpPr>
          <p:cNvPr id="30" name="Shape 28"/>
          <p:cNvSpPr/>
          <p:nvPr/>
        </p:nvSpPr>
        <p:spPr>
          <a:xfrm>
            <a:off x="502920" y="1810512"/>
            <a:ext cx="4023360" cy="2286000"/>
          </a:xfrm>
          <a:prstGeom prst="roundRect">
            <a:avLst>
              <a:gd name="adj" fmla="val 3200"/>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pic>
        <p:nvPicPr>
          <p:cNvPr id="31" name="Image 0" descr="/home/runner/work/Desa-Marga-Mulya/Desa-Marga-Mulya/deck/assets/build/shot-home.png">    </p:cNvPr>
          <p:cNvPicPr>
            <a:picLocks noChangeAspect="1"/>
          </p:cNvPicPr>
          <p:nvPr/>
        </p:nvPicPr>
        <p:blipFill>
          <a:blip r:embed="rId2"/>
          <a:srcRect l="0" r="0" t="0" b="0"/>
          <a:stretch/>
        </p:blipFill>
        <p:spPr>
          <a:xfrm>
            <a:off x="576072" y="1883664"/>
            <a:ext cx="3877056" cy="2139696"/>
          </a:xfrm>
          <a:prstGeom prst="rect">
            <a:avLst/>
          </a:prstGeom>
        </p:spPr>
      </p:pic>
      <p:sp>
        <p:nvSpPr>
          <p:cNvPr id="32" name="Shape 29"/>
          <p:cNvSpPr/>
          <p:nvPr/>
        </p:nvSpPr>
        <p:spPr>
          <a:xfrm>
            <a:off x="365760" y="4096512"/>
            <a:ext cx="4297680" cy="91440"/>
          </a:xfrm>
          <a:prstGeom prst="roundRect">
            <a:avLst>
              <a:gd name="adj" fmla="val 50000"/>
            </a:avLst>
          </a:prstGeom>
          <a:solidFill>
            <a:srgbClr val="BFCFCD"/>
          </a:solidFill>
          <a:ln w="12700">
            <a:solidFill>
              <a:srgbClr val="BFCFCD"/>
            </a:solidFill>
            <a:prstDash val="solid"/>
          </a:ln>
        </p:spPr>
      </p:sp>
      <p:sp>
        <p:nvSpPr>
          <p:cNvPr id="33" name="Text 30"/>
          <p:cNvSpPr/>
          <p:nvPr/>
        </p:nvSpPr>
        <p:spPr>
          <a:xfrm>
            <a:off x="502920" y="4261104"/>
            <a:ext cx="4023360" cy="201168"/>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Home — live office status &amp; services</a:t>
            </a:r>
            <a:endParaRPr lang="en-US" sz="900" dirty="0"/>
          </a:p>
        </p:txBody>
      </p:sp>
      <p:sp>
        <p:nvSpPr>
          <p:cNvPr id="34" name="Shape 31"/>
          <p:cNvSpPr/>
          <p:nvPr/>
        </p:nvSpPr>
        <p:spPr>
          <a:xfrm>
            <a:off x="4846320" y="1783080"/>
            <a:ext cx="1133856" cy="2377440"/>
          </a:xfrm>
          <a:prstGeom prst="roundRect">
            <a:avLst>
              <a:gd name="adj" fmla="val 12903"/>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pic>
        <p:nvPicPr>
          <p:cNvPr id="35" name="Image 1" descr="/home/runner/work/Desa-Marga-Mulya/Desa-Marga-Mulya/deck/assets/build/shot-cart.png">    </p:cNvPr>
          <p:cNvPicPr>
            <a:picLocks noChangeAspect="1"/>
          </p:cNvPicPr>
          <p:nvPr/>
        </p:nvPicPr>
        <p:blipFill>
          <a:blip r:embed="rId3"/>
          <a:srcRect l="0" r="0" t="0" b="0"/>
          <a:stretch/>
        </p:blipFill>
        <p:spPr>
          <a:xfrm>
            <a:off x="4901184" y="1837944"/>
            <a:ext cx="1024128" cy="2267712"/>
          </a:xfrm>
          <a:prstGeom prst="rect">
            <a:avLst/>
          </a:prstGeom>
        </p:spPr>
      </p:pic>
      <p:sp>
        <p:nvSpPr>
          <p:cNvPr id="36" name="Text 32"/>
          <p:cNvSpPr/>
          <p:nvPr/>
        </p:nvSpPr>
        <p:spPr>
          <a:xfrm>
            <a:off x="4754880" y="4261104"/>
            <a:ext cx="1316736" cy="201168"/>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Multi-seller cart</a:t>
            </a:r>
            <a:endParaRPr lang="en-US" sz="900" dirty="0"/>
          </a:p>
        </p:txBody>
      </p:sp>
      <p:sp>
        <p:nvSpPr>
          <p:cNvPr id="37" name="Shape 33"/>
          <p:cNvSpPr/>
          <p:nvPr/>
        </p:nvSpPr>
        <p:spPr>
          <a:xfrm>
            <a:off x="6144768" y="1783080"/>
            <a:ext cx="1133856" cy="2377440"/>
          </a:xfrm>
          <a:prstGeom prst="roundRect">
            <a:avLst>
              <a:gd name="adj" fmla="val 12903"/>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pic>
        <p:nvPicPr>
          <p:cNvPr id="38" name="Image 2" descr="/home/runner/work/Desa-Marga-Mulya/Desa-Marga-Mulya/deck/assets/build/shot-order.png">    </p:cNvPr>
          <p:cNvPicPr>
            <a:picLocks noChangeAspect="1"/>
          </p:cNvPicPr>
          <p:nvPr/>
        </p:nvPicPr>
        <p:blipFill>
          <a:blip r:embed="rId4"/>
          <a:srcRect l="0" r="0" t="0" b="0"/>
          <a:stretch/>
        </p:blipFill>
        <p:spPr>
          <a:xfrm>
            <a:off x="6199632" y="1837944"/>
            <a:ext cx="1024128" cy="2267712"/>
          </a:xfrm>
          <a:prstGeom prst="rect">
            <a:avLst/>
          </a:prstGeom>
        </p:spPr>
      </p:pic>
      <p:sp>
        <p:nvSpPr>
          <p:cNvPr id="39" name="Text 34"/>
          <p:cNvSpPr/>
          <p:nvPr/>
        </p:nvSpPr>
        <p:spPr>
          <a:xfrm>
            <a:off x="6053328" y="4261104"/>
            <a:ext cx="1316736" cy="201168"/>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WhatsApp order</a:t>
            </a:r>
            <a:endParaRPr lang="en-US" sz="900" dirty="0"/>
          </a:p>
        </p:txBody>
      </p:sp>
      <p:sp>
        <p:nvSpPr>
          <p:cNvPr id="40" name="Shape 35"/>
          <p:cNvSpPr/>
          <p:nvPr/>
        </p:nvSpPr>
        <p:spPr>
          <a:xfrm>
            <a:off x="7443216" y="1783080"/>
            <a:ext cx="1133856" cy="2377440"/>
          </a:xfrm>
          <a:prstGeom prst="roundRect">
            <a:avLst>
              <a:gd name="adj" fmla="val 12903"/>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pic>
        <p:nvPicPr>
          <p:cNvPr id="41" name="Image 3" descr="/home/runner/work/Desa-Marga-Mulya/Desa-Marga-Mulya/deck/assets/build/shot-seller.png">    </p:cNvPr>
          <p:cNvPicPr>
            <a:picLocks noChangeAspect="1"/>
          </p:cNvPicPr>
          <p:nvPr/>
        </p:nvPicPr>
        <p:blipFill>
          <a:blip r:embed="rId5"/>
          <a:srcRect l="0" r="0" t="0" b="0"/>
          <a:stretch/>
        </p:blipFill>
        <p:spPr>
          <a:xfrm>
            <a:off x="7498080" y="1837944"/>
            <a:ext cx="1024128" cy="2267712"/>
          </a:xfrm>
          <a:prstGeom prst="rect">
            <a:avLst/>
          </a:prstGeom>
        </p:spPr>
      </p:pic>
      <p:sp>
        <p:nvSpPr>
          <p:cNvPr id="42" name="Text 36"/>
          <p:cNvSpPr/>
          <p:nvPr/>
        </p:nvSpPr>
        <p:spPr>
          <a:xfrm>
            <a:off x="7351776" y="4261104"/>
            <a:ext cx="1316736" cy="201168"/>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Seller portal</a:t>
            </a:r>
            <a:endParaRPr lang="en-US" sz="900" dirty="0"/>
          </a:p>
        </p:txBody>
      </p:sp>
      <p:sp>
        <p:nvSpPr>
          <p:cNvPr id="43" name="Text 37"/>
          <p:cNvSpPr/>
          <p:nvPr/>
        </p:nvSpPr>
        <p:spPr>
          <a:xfrm>
            <a:off x="502920" y="4526280"/>
            <a:ext cx="8138160" cy="201168"/>
          </a:xfrm>
          <a:prstGeom prst="rect">
            <a:avLst/>
          </a:prstGeom>
          <a:noFill/>
          <a:ln/>
        </p:spPr>
        <p:txBody>
          <a:bodyPr wrap="square" lIns="0" tIns="0" rIns="0" bIns="0" rtlCol="0" anchor="ctr"/>
          <a:lstStyle/>
          <a:p>
            <a:pPr algn="ctr" indent="0" marL="0">
              <a:buNone/>
            </a:pPr>
            <a:r>
              <a:rPr lang="en-US" sz="850" b="1" dirty="0">
                <a:solidFill>
                  <a:srgbClr val="0E8C86"/>
                </a:solidFill>
                <a:latin typeface="Montserrat" pitchFamily="34" charset="0"/>
                <a:ea typeface="Montserrat" pitchFamily="34" charset="-122"/>
                <a:cs typeface="Montserrat" pitchFamily="34" charset="-120"/>
              </a:rPr>
              <a:t>Also live:  </a:t>
            </a:r>
            <a:pPr algn="ctr" indent="0" marL="0">
              <a:buNone/>
            </a:pPr>
            <a:r>
              <a:rPr lang="en-US" sz="850" dirty="0">
                <a:solidFill>
                  <a:srgbClr val="0B3B38"/>
                </a:solidFill>
                <a:latin typeface="Montserrat" pitchFamily="34" charset="0"/>
                <a:ea typeface="Montserrat" pitchFamily="34" charset="-122"/>
                <a:cs typeface="Montserrat" pitchFamily="34" charset="-120"/>
              </a:rPr>
              <a:t>service checklists  ·  Tanya Desa AI assistant  ·  42 open data tables with CSV  ·  interactive map  ·  CMS for village staff</a:t>
            </a:r>
            <a:endParaRPr lang="en-US" sz="850" dirty="0"/>
          </a:p>
        </p:txBody>
      </p:sp>
      <p:pic>
        <p:nvPicPr>
          <p:cNvPr id="44" name="Image 4" descr="/home/runner/work/Desa-Marga-Mulya/Desa-Marga-Mulya/deck/assets/build/teal/tech-SiNextdotjs.png">    </p:cNvPr>
          <p:cNvPicPr>
            <a:picLocks noChangeAspect="1"/>
          </p:cNvPicPr>
          <p:nvPr/>
        </p:nvPicPr>
        <p:blipFill>
          <a:blip r:embed="rId6"/>
          <a:stretch>
            <a:fillRect/>
          </a:stretch>
        </p:blipFill>
        <p:spPr>
          <a:xfrm>
            <a:off x="576072" y="4818888"/>
            <a:ext cx="146304" cy="146304"/>
          </a:xfrm>
          <a:prstGeom prst="rect">
            <a:avLst/>
          </a:prstGeom>
        </p:spPr>
      </p:pic>
      <p:sp>
        <p:nvSpPr>
          <p:cNvPr id="45" name="Text 38"/>
          <p:cNvSpPr/>
          <p:nvPr/>
        </p:nvSpPr>
        <p:spPr>
          <a:xfrm>
            <a:off x="75895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Next.js</a:t>
            </a:r>
            <a:endParaRPr lang="en-US" sz="700" dirty="0"/>
          </a:p>
        </p:txBody>
      </p:sp>
      <p:pic>
        <p:nvPicPr>
          <p:cNvPr id="46" name="Image 5" descr="/home/runner/work/Desa-Marga-Mulya/Desa-Marga-Mulya/deck/assets/build/teal/tech-SiReact.png">    </p:cNvPr>
          <p:cNvPicPr>
            <a:picLocks noChangeAspect="1"/>
          </p:cNvPicPr>
          <p:nvPr/>
        </p:nvPicPr>
        <p:blipFill>
          <a:blip r:embed="rId7"/>
          <a:stretch>
            <a:fillRect/>
          </a:stretch>
        </p:blipFill>
        <p:spPr>
          <a:xfrm>
            <a:off x="1480312" y="4818888"/>
            <a:ext cx="146304" cy="146304"/>
          </a:xfrm>
          <a:prstGeom prst="rect">
            <a:avLst/>
          </a:prstGeom>
        </p:spPr>
      </p:pic>
      <p:sp>
        <p:nvSpPr>
          <p:cNvPr id="47" name="Text 39"/>
          <p:cNvSpPr/>
          <p:nvPr/>
        </p:nvSpPr>
        <p:spPr>
          <a:xfrm>
            <a:off x="166319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React</a:t>
            </a:r>
            <a:endParaRPr lang="en-US" sz="700" dirty="0"/>
          </a:p>
        </p:txBody>
      </p:sp>
      <p:pic>
        <p:nvPicPr>
          <p:cNvPr id="48" name="Image 6" descr="/home/runner/work/Desa-Marga-Mulya/Desa-Marga-Mulya/deck/assets/build/teal/tech-SiTypescript.png">    </p:cNvPr>
          <p:cNvPicPr>
            <a:picLocks noChangeAspect="1"/>
          </p:cNvPicPr>
          <p:nvPr/>
        </p:nvPicPr>
        <p:blipFill>
          <a:blip r:embed="rId8"/>
          <a:stretch>
            <a:fillRect/>
          </a:stretch>
        </p:blipFill>
        <p:spPr>
          <a:xfrm>
            <a:off x="2384552" y="4818888"/>
            <a:ext cx="146304" cy="146304"/>
          </a:xfrm>
          <a:prstGeom prst="rect">
            <a:avLst/>
          </a:prstGeom>
        </p:spPr>
      </p:pic>
      <p:sp>
        <p:nvSpPr>
          <p:cNvPr id="49" name="Text 40"/>
          <p:cNvSpPr/>
          <p:nvPr/>
        </p:nvSpPr>
        <p:spPr>
          <a:xfrm>
            <a:off x="256743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TypeScript</a:t>
            </a:r>
            <a:endParaRPr lang="en-US" sz="700" dirty="0"/>
          </a:p>
        </p:txBody>
      </p:sp>
      <p:pic>
        <p:nvPicPr>
          <p:cNvPr id="50" name="Image 7" descr="/home/runner/work/Desa-Marga-Mulya/Desa-Marga-Mulya/deck/assets/build/teal/tech-SiTailwindcss.png">    </p:cNvPr>
          <p:cNvPicPr>
            <a:picLocks noChangeAspect="1"/>
          </p:cNvPicPr>
          <p:nvPr/>
        </p:nvPicPr>
        <p:blipFill>
          <a:blip r:embed="rId9"/>
          <a:stretch>
            <a:fillRect/>
          </a:stretch>
        </p:blipFill>
        <p:spPr>
          <a:xfrm>
            <a:off x="3288792" y="4818888"/>
            <a:ext cx="146304" cy="146304"/>
          </a:xfrm>
          <a:prstGeom prst="rect">
            <a:avLst/>
          </a:prstGeom>
        </p:spPr>
      </p:pic>
      <p:sp>
        <p:nvSpPr>
          <p:cNvPr id="51" name="Text 41"/>
          <p:cNvSpPr/>
          <p:nvPr/>
        </p:nvSpPr>
        <p:spPr>
          <a:xfrm>
            <a:off x="347167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Tailwind</a:t>
            </a:r>
            <a:endParaRPr lang="en-US" sz="700" dirty="0"/>
          </a:p>
        </p:txBody>
      </p:sp>
      <p:pic>
        <p:nvPicPr>
          <p:cNvPr id="52" name="Image 8" descr="/home/runner/work/Desa-Marga-Mulya/Desa-Marga-Mulya/deck/assets/build/teal/tech-SiPostgresql.png">    </p:cNvPr>
          <p:cNvPicPr>
            <a:picLocks noChangeAspect="1"/>
          </p:cNvPicPr>
          <p:nvPr/>
        </p:nvPicPr>
        <p:blipFill>
          <a:blip r:embed="rId10"/>
          <a:stretch>
            <a:fillRect/>
          </a:stretch>
        </p:blipFill>
        <p:spPr>
          <a:xfrm>
            <a:off x="4193032" y="4818888"/>
            <a:ext cx="146304" cy="146304"/>
          </a:xfrm>
          <a:prstGeom prst="rect">
            <a:avLst/>
          </a:prstGeom>
        </p:spPr>
      </p:pic>
      <p:sp>
        <p:nvSpPr>
          <p:cNvPr id="53" name="Text 42"/>
          <p:cNvSpPr/>
          <p:nvPr/>
        </p:nvSpPr>
        <p:spPr>
          <a:xfrm>
            <a:off x="437591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PostgreSQL</a:t>
            </a:r>
            <a:endParaRPr lang="en-US" sz="700" dirty="0"/>
          </a:p>
        </p:txBody>
      </p:sp>
      <p:pic>
        <p:nvPicPr>
          <p:cNvPr id="54" name="Image 9" descr="/home/runner/work/Desa-Marga-Mulya/Desa-Marga-Mulya/deck/assets/build/teal/tech-SiVercel.png">    </p:cNvPr>
          <p:cNvPicPr>
            <a:picLocks noChangeAspect="1"/>
          </p:cNvPicPr>
          <p:nvPr/>
        </p:nvPicPr>
        <p:blipFill>
          <a:blip r:embed="rId11"/>
          <a:stretch>
            <a:fillRect/>
          </a:stretch>
        </p:blipFill>
        <p:spPr>
          <a:xfrm>
            <a:off x="5097272" y="4818888"/>
            <a:ext cx="146304" cy="146304"/>
          </a:xfrm>
          <a:prstGeom prst="rect">
            <a:avLst/>
          </a:prstGeom>
        </p:spPr>
      </p:pic>
      <p:sp>
        <p:nvSpPr>
          <p:cNvPr id="55" name="Text 43"/>
          <p:cNvSpPr/>
          <p:nvPr/>
        </p:nvSpPr>
        <p:spPr>
          <a:xfrm>
            <a:off x="528015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Vercel</a:t>
            </a:r>
            <a:endParaRPr lang="en-US" sz="700" dirty="0"/>
          </a:p>
        </p:txBody>
      </p:sp>
      <p:pic>
        <p:nvPicPr>
          <p:cNvPr id="56" name="Image 10" descr="/home/runner/work/Desa-Marga-Mulya/Desa-Marga-Mulya/deck/assets/build/teal/tech-SiGooglegemini.png">    </p:cNvPr>
          <p:cNvPicPr>
            <a:picLocks noChangeAspect="1"/>
          </p:cNvPicPr>
          <p:nvPr/>
        </p:nvPicPr>
        <p:blipFill>
          <a:blip r:embed="rId12"/>
          <a:stretch>
            <a:fillRect/>
          </a:stretch>
        </p:blipFill>
        <p:spPr>
          <a:xfrm>
            <a:off x="6001512" y="4818888"/>
            <a:ext cx="146304" cy="146304"/>
          </a:xfrm>
          <a:prstGeom prst="rect">
            <a:avLst/>
          </a:prstGeom>
        </p:spPr>
      </p:pic>
      <p:sp>
        <p:nvSpPr>
          <p:cNvPr id="57" name="Text 44"/>
          <p:cNvSpPr/>
          <p:nvPr/>
        </p:nvSpPr>
        <p:spPr>
          <a:xfrm>
            <a:off x="618439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Gemini AI</a:t>
            </a:r>
            <a:endParaRPr lang="en-US" sz="700" dirty="0"/>
          </a:p>
        </p:txBody>
      </p:sp>
      <p:pic>
        <p:nvPicPr>
          <p:cNvPr id="58" name="Image 11" descr="/home/runner/work/Desa-Marga-Mulya/Desa-Marga-Mulya/deck/assets/build/teal/tech-SiLeaflet.png">    </p:cNvPr>
          <p:cNvPicPr>
            <a:picLocks noChangeAspect="1"/>
          </p:cNvPicPr>
          <p:nvPr/>
        </p:nvPicPr>
        <p:blipFill>
          <a:blip r:embed="rId13"/>
          <a:stretch>
            <a:fillRect/>
          </a:stretch>
        </p:blipFill>
        <p:spPr>
          <a:xfrm>
            <a:off x="6905752" y="4818888"/>
            <a:ext cx="146304" cy="146304"/>
          </a:xfrm>
          <a:prstGeom prst="rect">
            <a:avLst/>
          </a:prstGeom>
        </p:spPr>
      </p:pic>
      <p:sp>
        <p:nvSpPr>
          <p:cNvPr id="59" name="Text 45"/>
          <p:cNvSpPr/>
          <p:nvPr/>
        </p:nvSpPr>
        <p:spPr>
          <a:xfrm>
            <a:off x="708863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Leaflet</a:t>
            </a:r>
            <a:endParaRPr lang="en-US" sz="700" dirty="0"/>
          </a:p>
        </p:txBody>
      </p:sp>
      <p:pic>
        <p:nvPicPr>
          <p:cNvPr id="60" name="Image 12" descr="/home/runner/work/Desa-Marga-Mulya/Desa-Marga-Mulya/deck/assets/build/teal/tech-SiGithubactions.png">    </p:cNvPr>
          <p:cNvPicPr>
            <a:picLocks noChangeAspect="1"/>
          </p:cNvPicPr>
          <p:nvPr/>
        </p:nvPicPr>
        <p:blipFill>
          <a:blip r:embed="rId14"/>
          <a:stretch>
            <a:fillRect/>
          </a:stretch>
        </p:blipFill>
        <p:spPr>
          <a:xfrm>
            <a:off x="7809992" y="4818888"/>
            <a:ext cx="146304" cy="146304"/>
          </a:xfrm>
          <a:prstGeom prst="rect">
            <a:avLst/>
          </a:prstGeom>
        </p:spPr>
      </p:pic>
      <p:sp>
        <p:nvSpPr>
          <p:cNvPr id="61" name="Text 46"/>
          <p:cNvSpPr/>
          <p:nvPr/>
        </p:nvSpPr>
        <p:spPr>
          <a:xfrm>
            <a:off x="7992872" y="4800600"/>
            <a:ext cx="629920" cy="182880"/>
          </a:xfrm>
          <a:prstGeom prst="rect">
            <a:avLst/>
          </a:prstGeom>
          <a:noFill/>
          <a:ln/>
        </p:spPr>
        <p:txBody>
          <a:bodyPr wrap="square" lIns="0" tIns="0" rIns="0" bIns="0" rtlCol="0" anchor="ctr"/>
          <a:lstStyle/>
          <a:p>
            <a:pPr indent="0" marL="0">
              <a:buNone/>
            </a:pPr>
            <a:r>
              <a:rPr lang="en-US" sz="700" dirty="0">
                <a:solidFill>
                  <a:srgbClr val="4B6360"/>
                </a:solidFill>
                <a:latin typeface="Montserrat" pitchFamily="34" charset="0"/>
                <a:ea typeface="Montserrat" pitchFamily="34" charset="-122"/>
                <a:cs typeface="Montserrat" pitchFamily="34" charset="-120"/>
              </a:rPr>
              <a:t>CI tests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Overview</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Solution</a:t>
            </a:r>
            <a:endParaRPr lang="en-US" sz="900" dirty="0"/>
          </a:p>
        </p:txBody>
      </p:sp>
      <p:sp>
        <p:nvSpPr>
          <p:cNvPr id="5" name="Text 3"/>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9AA7A4"/>
                </a:solidFill>
                <a:latin typeface="Montserrat" pitchFamily="34" charset="0"/>
                <a:ea typeface="Montserrat" pitchFamily="34" charset="-122"/>
                <a:cs typeface="Montserrat" pitchFamily="34" charset="-120"/>
              </a:rPr>
              <a:t>Demo</a:t>
            </a:r>
            <a:endParaRPr lang="en-US" sz="900" dirty="0"/>
          </a:p>
        </p:txBody>
      </p:sp>
      <p:sp>
        <p:nvSpPr>
          <p:cNvPr id="6" name="Shape 4"/>
          <p:cNvSpPr/>
          <p:nvPr/>
        </p:nvSpPr>
        <p:spPr>
          <a:xfrm>
            <a:off x="7315200" y="91440"/>
            <a:ext cx="1097280" cy="32004"/>
          </a:xfrm>
          <a:prstGeom prst="rect">
            <a:avLst/>
          </a:prstGeom>
          <a:solidFill>
            <a:srgbClr val="0E8C86"/>
          </a:solidFill>
          <a:ln w="12700">
            <a:solidFill>
              <a:srgbClr val="0E8C86"/>
            </a:solidFill>
            <a:prstDash val="solid"/>
          </a:ln>
        </p:spPr>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b="1" dirty="0">
                <a:solidFill>
                  <a:srgbClr val="0B3B38"/>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0B3B38"/>
                </a:solidFill>
                <a:latin typeface="Montserrat" pitchFamily="34" charset="0"/>
                <a:ea typeface="Montserrat" pitchFamily="34" charset="-122"/>
                <a:cs typeface="Montserrat" pitchFamily="34" charset="-120"/>
              </a:rPr>
              <a:t>A Practical Win-Win-Win</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4B6360"/>
                </a:solidFill>
                <a:latin typeface="Montserrat" pitchFamily="34" charset="0"/>
                <a:ea typeface="Montserrat" pitchFamily="34" charset="-122"/>
                <a:cs typeface="Montserrat" pitchFamily="34" charset="-120"/>
              </a:rPr>
              <a:t>Impact &amp; implementation feasibility</a:t>
            </a:r>
            <a:endParaRPr lang="en-US" sz="1200" dirty="0"/>
          </a:p>
        </p:txBody>
      </p:sp>
      <p:sp>
        <p:nvSpPr>
          <p:cNvPr id="10" name="Shape 8"/>
          <p:cNvSpPr/>
          <p:nvPr/>
        </p:nvSpPr>
        <p:spPr>
          <a:xfrm>
            <a:off x="502920" y="1371600"/>
            <a:ext cx="2596896" cy="2212848"/>
          </a:xfrm>
          <a:prstGeom prst="roundRect">
            <a:avLst>
              <a:gd name="adj" fmla="val 4132"/>
            </a:avLst>
          </a:prstGeom>
          <a:solidFill>
            <a:srgbClr val="FFFFFF"/>
          </a:solidFill>
          <a:ln w="12700">
            <a:solidFill>
              <a:srgbClr val="0E8C86"/>
            </a:solidFill>
            <a:prstDash val="solid"/>
          </a:ln>
          <a:effectLst>
            <a:outerShdw sx="100000" sy="100000" kx="0" ky="0" algn="bl" rotWithShape="0" blurRad="101600" dist="25400" dir="5400000">
              <a:srgbClr val="0B3B38">
                <a:alpha val="16000"/>
              </a:srgbClr>
            </a:outerShdw>
          </a:effectLst>
        </p:spPr>
      </p:sp>
      <p:sp>
        <p:nvSpPr>
          <p:cNvPr id="11" name="Shape 9"/>
          <p:cNvSpPr/>
          <p:nvPr/>
        </p:nvSpPr>
        <p:spPr>
          <a:xfrm>
            <a:off x="685800" y="1536192"/>
            <a:ext cx="384048" cy="384048"/>
          </a:xfrm>
          <a:prstGeom prst="ellipse">
            <a:avLst/>
          </a:prstGeom>
          <a:solidFill>
            <a:srgbClr val="0E8C86"/>
          </a:solidFill>
          <a:ln w="12700">
            <a:solidFill>
              <a:srgbClr val="0E8C86"/>
            </a:solidFill>
            <a:prstDash val="solid"/>
          </a:ln>
        </p:spPr>
      </p:sp>
      <p:pic>
        <p:nvPicPr>
          <p:cNvPr id="12" name="Image 0" descr="/home/runner/work/Desa-Marga-Mulya/Desa-Marga-Mulya/deck/assets/build/teal/icon-home-w.png">    </p:cNvPr>
          <p:cNvPicPr>
            <a:picLocks noChangeAspect="1"/>
          </p:cNvPicPr>
          <p:nvPr/>
        </p:nvPicPr>
        <p:blipFill>
          <a:blip r:embed="rId2"/>
          <a:stretch>
            <a:fillRect/>
          </a:stretch>
        </p:blipFill>
        <p:spPr>
          <a:xfrm>
            <a:off x="789493" y="1639885"/>
            <a:ext cx="176662" cy="176662"/>
          </a:xfrm>
          <a:prstGeom prst="rect">
            <a:avLst/>
          </a:prstGeom>
        </p:spPr>
      </p:pic>
      <p:sp>
        <p:nvSpPr>
          <p:cNvPr id="13" name="Text 10"/>
          <p:cNvSpPr/>
          <p:nvPr/>
        </p:nvSpPr>
        <p:spPr>
          <a:xfrm>
            <a:off x="1161288" y="1536192"/>
            <a:ext cx="1819656" cy="384048"/>
          </a:xfrm>
          <a:prstGeom prst="rect">
            <a:avLst/>
          </a:prstGeom>
          <a:noFill/>
          <a:ln/>
        </p:spPr>
        <p:txBody>
          <a:bodyPr wrap="square" lIns="0" tIns="0" rIns="0" bIns="0" rtlCol="0" anchor="ctr"/>
          <a:lstStyle/>
          <a:p>
            <a:pPr indent="0" marL="0">
              <a:buNone/>
            </a:pPr>
            <a:r>
              <a:rPr lang="en-US" sz="1100" b="1" dirty="0">
                <a:solidFill>
                  <a:srgbClr val="0E8C86"/>
                </a:solidFill>
                <a:latin typeface="Montserrat" pitchFamily="34" charset="0"/>
                <a:ea typeface="Montserrat" pitchFamily="34" charset="-122"/>
                <a:cs typeface="Montserrat" pitchFamily="34" charset="-120"/>
              </a:rPr>
              <a:t>RESIDENTS</a:t>
            </a:r>
            <a:endParaRPr lang="en-US" sz="1100" dirty="0"/>
          </a:p>
        </p:txBody>
      </p:sp>
      <p:sp>
        <p:nvSpPr>
          <p:cNvPr id="14" name="Text 11"/>
          <p:cNvSpPr/>
          <p:nvPr/>
        </p:nvSpPr>
        <p:spPr>
          <a:xfrm>
            <a:off x="685800" y="1993392"/>
            <a:ext cx="1051560" cy="502920"/>
          </a:xfrm>
          <a:prstGeom prst="rect">
            <a:avLst/>
          </a:prstGeom>
          <a:noFill/>
          <a:ln/>
        </p:spPr>
        <p:txBody>
          <a:bodyPr wrap="square" lIns="0" tIns="0" rIns="0" bIns="0" rtlCol="0" anchor="ctr"/>
          <a:lstStyle/>
          <a:p>
            <a:pPr indent="0" marL="0">
              <a:buNone/>
            </a:pPr>
            <a:r>
              <a:rPr lang="en-US" sz="2800" b="1" dirty="0">
                <a:solidFill>
                  <a:srgbClr val="0E8C86"/>
                </a:solidFill>
                <a:latin typeface="Montserrat" pitchFamily="34" charset="0"/>
                <a:ea typeface="Montserrat" pitchFamily="34" charset="-122"/>
                <a:cs typeface="Montserrat" pitchFamily="34" charset="-120"/>
              </a:rPr>
              <a:t>24/7</a:t>
            </a:r>
            <a:endParaRPr lang="en-US" sz="2800" dirty="0"/>
          </a:p>
        </p:txBody>
      </p:sp>
      <p:sp>
        <p:nvSpPr>
          <p:cNvPr id="15" name="Text 12"/>
          <p:cNvSpPr/>
          <p:nvPr/>
        </p:nvSpPr>
        <p:spPr>
          <a:xfrm>
            <a:off x="1874520" y="1993392"/>
            <a:ext cx="1088136" cy="502920"/>
          </a:xfrm>
          <a:prstGeom prst="rect">
            <a:avLst/>
          </a:prstGeom>
          <a:noFill/>
          <a:ln/>
        </p:spPr>
        <p:txBody>
          <a:bodyPr wrap="square" lIns="0" tIns="0" rIns="0" bIns="0" rtlCol="0" anchor="ctr"/>
          <a:lstStyle/>
          <a:p>
            <a:pPr indent="0" marL="0">
              <a:buNone/>
            </a:pPr>
            <a:r>
              <a:rPr lang="en-US" sz="900" b="1" dirty="0">
                <a:solidFill>
                  <a:srgbClr val="4B6360"/>
                </a:solidFill>
                <a:latin typeface="Montserrat" pitchFamily="34" charset="0"/>
                <a:ea typeface="Montserrat" pitchFamily="34" charset="-122"/>
                <a:cs typeface="Montserrat" pitchFamily="34" charset="-120"/>
              </a:rPr>
              <a:t>information access</a:t>
            </a:r>
            <a:endParaRPr lang="en-US" sz="900" dirty="0"/>
          </a:p>
        </p:txBody>
      </p:sp>
      <p:pic>
        <p:nvPicPr>
          <p:cNvPr id="16" name="Image 1" descr="/home/runner/work/Desa-Marga-Mulya/Desa-Marga-Mulya/deck/assets/build/teal/icon-check-p.png">    </p:cNvPr>
          <p:cNvPicPr>
            <a:picLocks noChangeAspect="1"/>
          </p:cNvPicPr>
          <p:nvPr/>
        </p:nvPicPr>
        <p:blipFill>
          <a:blip r:embed="rId3"/>
          <a:stretch>
            <a:fillRect/>
          </a:stretch>
        </p:blipFill>
        <p:spPr>
          <a:xfrm>
            <a:off x="704088" y="2706624"/>
            <a:ext cx="146304" cy="146304"/>
          </a:xfrm>
          <a:prstGeom prst="rect">
            <a:avLst/>
          </a:prstGeom>
        </p:spPr>
      </p:pic>
      <p:sp>
        <p:nvSpPr>
          <p:cNvPr id="17" name="Text 13"/>
          <p:cNvSpPr/>
          <p:nvPr/>
        </p:nvSpPr>
        <p:spPr>
          <a:xfrm>
            <a:off x="941832" y="267004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Easier access to services</a:t>
            </a:r>
            <a:endParaRPr lang="en-US" sz="1000" dirty="0"/>
          </a:p>
        </p:txBody>
      </p:sp>
      <p:pic>
        <p:nvPicPr>
          <p:cNvPr id="18" name="Image 2" descr="/home/runner/work/Desa-Marga-Mulya/Desa-Marga-Mulya/deck/assets/build/teal/icon-check-p.png">    </p:cNvPr>
          <p:cNvPicPr>
            <a:picLocks noChangeAspect="1"/>
          </p:cNvPicPr>
          <p:nvPr/>
        </p:nvPicPr>
        <p:blipFill>
          <a:blip r:embed="rId4"/>
          <a:stretch>
            <a:fillRect/>
          </a:stretch>
        </p:blipFill>
        <p:spPr>
          <a:xfrm>
            <a:off x="704088" y="2980944"/>
            <a:ext cx="146304" cy="146304"/>
          </a:xfrm>
          <a:prstGeom prst="rect">
            <a:avLst/>
          </a:prstGeom>
        </p:spPr>
      </p:pic>
      <p:sp>
        <p:nvSpPr>
          <p:cNvPr id="19" name="Text 14"/>
          <p:cNvSpPr/>
          <p:nvPr/>
        </p:nvSpPr>
        <p:spPr>
          <a:xfrm>
            <a:off x="941832" y="294436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Fewer unnecessary trips</a:t>
            </a:r>
            <a:endParaRPr lang="en-US" sz="1000" dirty="0"/>
          </a:p>
        </p:txBody>
      </p:sp>
      <p:pic>
        <p:nvPicPr>
          <p:cNvPr id="20" name="Image 3" descr="/home/runner/work/Desa-Marga-Mulya/Desa-Marga-Mulya/deck/assets/build/teal/icon-check-p.png">    </p:cNvPr>
          <p:cNvPicPr>
            <a:picLocks noChangeAspect="1"/>
          </p:cNvPicPr>
          <p:nvPr/>
        </p:nvPicPr>
        <p:blipFill>
          <a:blip r:embed="rId5"/>
          <a:stretch>
            <a:fillRect/>
          </a:stretch>
        </p:blipFill>
        <p:spPr>
          <a:xfrm>
            <a:off x="704088" y="3255264"/>
            <a:ext cx="146304" cy="146304"/>
          </a:xfrm>
          <a:prstGeom prst="rect">
            <a:avLst/>
          </a:prstGeom>
        </p:spPr>
      </p:pic>
      <p:sp>
        <p:nvSpPr>
          <p:cNvPr id="21" name="Text 15"/>
          <p:cNvSpPr/>
          <p:nvPr/>
        </p:nvSpPr>
        <p:spPr>
          <a:xfrm>
            <a:off x="941832" y="321868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24/7 information access</a:t>
            </a:r>
            <a:endParaRPr lang="en-US" sz="1000" dirty="0"/>
          </a:p>
        </p:txBody>
      </p:sp>
      <p:sp>
        <p:nvSpPr>
          <p:cNvPr id="22" name="Shape 16"/>
          <p:cNvSpPr/>
          <p:nvPr/>
        </p:nvSpPr>
        <p:spPr>
          <a:xfrm>
            <a:off x="3264408" y="1371600"/>
            <a:ext cx="2596896" cy="2212848"/>
          </a:xfrm>
          <a:prstGeom prst="roundRect">
            <a:avLst>
              <a:gd name="adj" fmla="val 4132"/>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sp>
        <p:nvSpPr>
          <p:cNvPr id="23" name="Shape 17"/>
          <p:cNvSpPr/>
          <p:nvPr/>
        </p:nvSpPr>
        <p:spPr>
          <a:xfrm>
            <a:off x="3447288" y="1536192"/>
            <a:ext cx="384048" cy="384048"/>
          </a:xfrm>
          <a:prstGeom prst="ellipse">
            <a:avLst/>
          </a:prstGeom>
          <a:solidFill>
            <a:srgbClr val="7FE3D8"/>
          </a:solidFill>
          <a:ln w="12700">
            <a:solidFill>
              <a:srgbClr val="7FE3D8"/>
            </a:solidFill>
            <a:prstDash val="solid"/>
          </a:ln>
        </p:spPr>
      </p:sp>
      <p:pic>
        <p:nvPicPr>
          <p:cNvPr id="24" name="Image 4" descr="/home/runner/work/Desa-Marga-Mulya/Desa-Marga-Mulya/deck/assets/build/teal/icon-market-d.png">    </p:cNvPr>
          <p:cNvPicPr>
            <a:picLocks noChangeAspect="1"/>
          </p:cNvPicPr>
          <p:nvPr/>
        </p:nvPicPr>
        <p:blipFill>
          <a:blip r:embed="rId6"/>
          <a:stretch>
            <a:fillRect/>
          </a:stretch>
        </p:blipFill>
        <p:spPr>
          <a:xfrm>
            <a:off x="3550981" y="1639885"/>
            <a:ext cx="176662" cy="176662"/>
          </a:xfrm>
          <a:prstGeom prst="rect">
            <a:avLst/>
          </a:prstGeom>
        </p:spPr>
      </p:pic>
      <p:sp>
        <p:nvSpPr>
          <p:cNvPr id="25" name="Text 18"/>
          <p:cNvSpPr/>
          <p:nvPr/>
        </p:nvSpPr>
        <p:spPr>
          <a:xfrm>
            <a:off x="3922776" y="1536192"/>
            <a:ext cx="1819656" cy="384048"/>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BUSINESSES</a:t>
            </a:r>
            <a:endParaRPr lang="en-US" sz="1100" dirty="0"/>
          </a:p>
        </p:txBody>
      </p:sp>
      <p:sp>
        <p:nvSpPr>
          <p:cNvPr id="26" name="Text 19"/>
          <p:cNvSpPr/>
          <p:nvPr/>
        </p:nvSpPr>
        <p:spPr>
          <a:xfrm>
            <a:off x="3447288" y="1993392"/>
            <a:ext cx="658368" cy="502920"/>
          </a:xfrm>
          <a:prstGeom prst="rect">
            <a:avLst/>
          </a:prstGeom>
          <a:noFill/>
          <a:ln/>
        </p:spPr>
        <p:txBody>
          <a:bodyPr wrap="square" lIns="0" tIns="0" rIns="0" bIns="0" rtlCol="0" anchor="ctr"/>
          <a:lstStyle/>
          <a:p>
            <a:pPr indent="0" marL="0">
              <a:buNone/>
            </a:pPr>
            <a:r>
              <a:rPr lang="en-US" sz="2800" b="1" dirty="0">
                <a:solidFill>
                  <a:srgbClr val="7FE3D8"/>
                </a:solidFill>
                <a:latin typeface="Montserrat" pitchFamily="34" charset="0"/>
                <a:ea typeface="Montserrat" pitchFamily="34" charset="-122"/>
                <a:cs typeface="Montserrat" pitchFamily="34" charset="-120"/>
              </a:rPr>
              <a:t>0%</a:t>
            </a:r>
            <a:endParaRPr lang="en-US" sz="2800" dirty="0"/>
          </a:p>
        </p:txBody>
      </p:sp>
      <p:sp>
        <p:nvSpPr>
          <p:cNvPr id="27" name="Text 20"/>
          <p:cNvSpPr/>
          <p:nvPr/>
        </p:nvSpPr>
        <p:spPr>
          <a:xfrm>
            <a:off x="4242816" y="1993392"/>
            <a:ext cx="1481328" cy="502920"/>
          </a:xfrm>
          <a:prstGeom prst="rect">
            <a:avLst/>
          </a:prstGeom>
          <a:noFill/>
          <a:ln/>
        </p:spPr>
        <p:txBody>
          <a:bodyPr wrap="square" lIns="0" tIns="0" rIns="0" bIns="0" rtlCol="0" anchor="ctr"/>
          <a:lstStyle/>
          <a:p>
            <a:pPr indent="0" marL="0">
              <a:buNone/>
            </a:pPr>
            <a:r>
              <a:rPr lang="en-US" sz="900" b="1" dirty="0">
                <a:solidFill>
                  <a:srgbClr val="E6F2F0"/>
                </a:solidFill>
                <a:latin typeface="Montserrat" pitchFamily="34" charset="0"/>
                <a:ea typeface="Montserrat" pitchFamily="34" charset="-122"/>
                <a:cs typeface="Montserrat" pitchFamily="34" charset="-120"/>
              </a:rPr>
              <a:t>platform commission</a:t>
            </a:r>
            <a:endParaRPr lang="en-US" sz="900" dirty="0"/>
          </a:p>
        </p:txBody>
      </p:sp>
      <p:pic>
        <p:nvPicPr>
          <p:cNvPr id="28" name="Image 5" descr="/home/runner/work/Desa-Marga-Mulya/Desa-Marga-Mulya/deck/assets/build/teal/icon-check-h.png">    </p:cNvPr>
          <p:cNvPicPr>
            <a:picLocks noChangeAspect="1"/>
          </p:cNvPicPr>
          <p:nvPr/>
        </p:nvPicPr>
        <p:blipFill>
          <a:blip r:embed="rId7"/>
          <a:stretch>
            <a:fillRect/>
          </a:stretch>
        </p:blipFill>
        <p:spPr>
          <a:xfrm>
            <a:off x="3465576" y="2706624"/>
            <a:ext cx="146304" cy="146304"/>
          </a:xfrm>
          <a:prstGeom prst="rect">
            <a:avLst/>
          </a:prstGeom>
        </p:spPr>
      </p:pic>
      <p:sp>
        <p:nvSpPr>
          <p:cNvPr id="29" name="Text 21"/>
          <p:cNvSpPr/>
          <p:nvPr/>
        </p:nvSpPr>
        <p:spPr>
          <a:xfrm>
            <a:off x="3703320" y="2670048"/>
            <a:ext cx="2002536" cy="219456"/>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0% platform commission</a:t>
            </a:r>
            <a:endParaRPr lang="en-US" sz="1000" dirty="0"/>
          </a:p>
        </p:txBody>
      </p:sp>
      <p:pic>
        <p:nvPicPr>
          <p:cNvPr id="30" name="Image 6" descr="/home/runner/work/Desa-Marga-Mulya/Desa-Marga-Mulya/deck/assets/build/teal/icon-check-h.png">    </p:cNvPr>
          <p:cNvPicPr>
            <a:picLocks noChangeAspect="1"/>
          </p:cNvPicPr>
          <p:nvPr/>
        </p:nvPicPr>
        <p:blipFill>
          <a:blip r:embed="rId8"/>
          <a:stretch>
            <a:fillRect/>
          </a:stretch>
        </p:blipFill>
        <p:spPr>
          <a:xfrm>
            <a:off x="3465576" y="2980944"/>
            <a:ext cx="146304" cy="146304"/>
          </a:xfrm>
          <a:prstGeom prst="rect">
            <a:avLst/>
          </a:prstGeom>
        </p:spPr>
      </p:pic>
      <p:sp>
        <p:nvSpPr>
          <p:cNvPr id="31" name="Text 22"/>
          <p:cNvSpPr/>
          <p:nvPr/>
        </p:nvSpPr>
        <p:spPr>
          <a:xfrm>
            <a:off x="3703320" y="2944368"/>
            <a:ext cx="2002536" cy="219456"/>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Digital visibility</a:t>
            </a:r>
            <a:endParaRPr lang="en-US" sz="1000" dirty="0"/>
          </a:p>
        </p:txBody>
      </p:sp>
      <p:pic>
        <p:nvPicPr>
          <p:cNvPr id="32" name="Image 7" descr="/home/runner/work/Desa-Marga-Mulya/Desa-Marga-Mulya/deck/assets/build/teal/icon-check-h.png">    </p:cNvPr>
          <p:cNvPicPr>
            <a:picLocks noChangeAspect="1"/>
          </p:cNvPicPr>
          <p:nvPr/>
        </p:nvPicPr>
        <p:blipFill>
          <a:blip r:embed="rId9"/>
          <a:stretch>
            <a:fillRect/>
          </a:stretch>
        </p:blipFill>
        <p:spPr>
          <a:xfrm>
            <a:off x="3465576" y="3255264"/>
            <a:ext cx="146304" cy="146304"/>
          </a:xfrm>
          <a:prstGeom prst="rect">
            <a:avLst/>
          </a:prstGeom>
        </p:spPr>
      </p:pic>
      <p:sp>
        <p:nvSpPr>
          <p:cNvPr id="33" name="Text 23"/>
          <p:cNvSpPr/>
          <p:nvPr/>
        </p:nvSpPr>
        <p:spPr>
          <a:xfrm>
            <a:off x="3703320" y="3218688"/>
            <a:ext cx="2002536" cy="219456"/>
          </a:xfrm>
          <a:prstGeom prst="rect">
            <a:avLst/>
          </a:prstGeom>
          <a:noFill/>
          <a:ln/>
        </p:spPr>
        <p:txBody>
          <a:bodyPr wrap="square" lIns="0" tIns="0" rIns="0" bIns="0" rtlCol="0" anchor="ctr"/>
          <a:lstStyle/>
          <a:p>
            <a:pPr indent="0" marL="0">
              <a:buNone/>
            </a:pPr>
            <a:r>
              <a:rPr lang="en-US" sz="1000" b="1" dirty="0">
                <a:solidFill>
                  <a:srgbClr val="FFFFFF"/>
                </a:solidFill>
                <a:latin typeface="Montserrat" pitchFamily="34" charset="0"/>
                <a:ea typeface="Montserrat" pitchFamily="34" charset="-122"/>
                <a:cs typeface="Montserrat" pitchFamily="34" charset="-120"/>
              </a:rPr>
              <a:t>Simple WhatsApp ordering</a:t>
            </a:r>
            <a:endParaRPr lang="en-US" sz="1000" dirty="0"/>
          </a:p>
        </p:txBody>
      </p:sp>
      <p:sp>
        <p:nvSpPr>
          <p:cNvPr id="34" name="Shape 24"/>
          <p:cNvSpPr/>
          <p:nvPr/>
        </p:nvSpPr>
        <p:spPr>
          <a:xfrm>
            <a:off x="6025896" y="1371600"/>
            <a:ext cx="2596896" cy="2212848"/>
          </a:xfrm>
          <a:prstGeom prst="roundRect">
            <a:avLst>
              <a:gd name="adj" fmla="val 4132"/>
            </a:avLst>
          </a:prstGeom>
          <a:solidFill>
            <a:srgbClr val="FFFFFF"/>
          </a:solidFill>
          <a:ln w="12700">
            <a:solidFill>
              <a:srgbClr val="0E8C86"/>
            </a:solidFill>
            <a:prstDash val="solid"/>
          </a:ln>
          <a:effectLst>
            <a:outerShdw sx="100000" sy="100000" kx="0" ky="0" algn="bl" rotWithShape="0" blurRad="101600" dist="25400" dir="5400000">
              <a:srgbClr val="0B3B38">
                <a:alpha val="16000"/>
              </a:srgbClr>
            </a:outerShdw>
          </a:effectLst>
        </p:spPr>
      </p:sp>
      <p:sp>
        <p:nvSpPr>
          <p:cNvPr id="35" name="Shape 25"/>
          <p:cNvSpPr/>
          <p:nvPr/>
        </p:nvSpPr>
        <p:spPr>
          <a:xfrm>
            <a:off x="6208776" y="1536192"/>
            <a:ext cx="384048" cy="384048"/>
          </a:xfrm>
          <a:prstGeom prst="ellipse">
            <a:avLst/>
          </a:prstGeom>
          <a:solidFill>
            <a:srgbClr val="0E8C86"/>
          </a:solidFill>
          <a:ln w="12700">
            <a:solidFill>
              <a:srgbClr val="0E8C86"/>
            </a:solidFill>
            <a:prstDash val="solid"/>
          </a:ln>
        </p:spPr>
      </p:sp>
      <p:pic>
        <p:nvPicPr>
          <p:cNvPr id="36" name="Image 8" descr="/home/runner/work/Desa-Marga-Mulya/Desa-Marga-Mulya/deck/assets/build/teal/icon-users-w.png">    </p:cNvPr>
          <p:cNvPicPr>
            <a:picLocks noChangeAspect="1"/>
          </p:cNvPicPr>
          <p:nvPr/>
        </p:nvPicPr>
        <p:blipFill>
          <a:blip r:embed="rId10"/>
          <a:stretch>
            <a:fillRect/>
          </a:stretch>
        </p:blipFill>
        <p:spPr>
          <a:xfrm>
            <a:off x="6312469" y="1639885"/>
            <a:ext cx="176662" cy="176662"/>
          </a:xfrm>
          <a:prstGeom prst="rect">
            <a:avLst/>
          </a:prstGeom>
        </p:spPr>
      </p:pic>
      <p:sp>
        <p:nvSpPr>
          <p:cNvPr id="37" name="Text 26"/>
          <p:cNvSpPr/>
          <p:nvPr/>
        </p:nvSpPr>
        <p:spPr>
          <a:xfrm>
            <a:off x="6684264" y="1536192"/>
            <a:ext cx="1819656" cy="384048"/>
          </a:xfrm>
          <a:prstGeom prst="rect">
            <a:avLst/>
          </a:prstGeom>
          <a:noFill/>
          <a:ln/>
        </p:spPr>
        <p:txBody>
          <a:bodyPr wrap="square" lIns="0" tIns="0" rIns="0" bIns="0" rtlCol="0" anchor="ctr"/>
          <a:lstStyle/>
          <a:p>
            <a:pPr indent="0" marL="0">
              <a:buNone/>
            </a:pPr>
            <a:r>
              <a:rPr lang="en-US" sz="1100" b="1" dirty="0">
                <a:solidFill>
                  <a:srgbClr val="0E8C86"/>
                </a:solidFill>
                <a:latin typeface="Montserrat" pitchFamily="34" charset="0"/>
                <a:ea typeface="Montserrat" pitchFamily="34" charset="-122"/>
                <a:cs typeface="Montserrat" pitchFamily="34" charset="-120"/>
              </a:rPr>
              <a:t>VILLAGE</a:t>
            </a:r>
            <a:endParaRPr lang="en-US" sz="1100" dirty="0"/>
          </a:p>
        </p:txBody>
      </p:sp>
      <p:sp>
        <p:nvSpPr>
          <p:cNvPr id="38" name="Text 27"/>
          <p:cNvSpPr/>
          <p:nvPr/>
        </p:nvSpPr>
        <p:spPr>
          <a:xfrm>
            <a:off x="6208776" y="1993392"/>
            <a:ext cx="292608" cy="502920"/>
          </a:xfrm>
          <a:prstGeom prst="rect">
            <a:avLst/>
          </a:prstGeom>
          <a:noFill/>
          <a:ln/>
        </p:spPr>
        <p:txBody>
          <a:bodyPr wrap="square" lIns="0" tIns="0" rIns="0" bIns="0" rtlCol="0" anchor="ctr"/>
          <a:lstStyle/>
          <a:p>
            <a:pPr indent="0" marL="0">
              <a:buNone/>
            </a:pPr>
            <a:r>
              <a:rPr lang="en-US" sz="2800" b="1" dirty="0">
                <a:solidFill>
                  <a:srgbClr val="0E8C86"/>
                </a:solidFill>
                <a:latin typeface="Montserrat" pitchFamily="34" charset="0"/>
                <a:ea typeface="Montserrat" pitchFamily="34" charset="-122"/>
                <a:cs typeface="Montserrat" pitchFamily="34" charset="-120"/>
              </a:rPr>
              <a:t>1</a:t>
            </a:r>
            <a:endParaRPr lang="en-US" sz="2800" dirty="0"/>
          </a:p>
        </p:txBody>
      </p:sp>
      <p:sp>
        <p:nvSpPr>
          <p:cNvPr id="39" name="Text 28"/>
          <p:cNvSpPr/>
          <p:nvPr/>
        </p:nvSpPr>
        <p:spPr>
          <a:xfrm>
            <a:off x="6638544" y="1993392"/>
            <a:ext cx="1847088" cy="502920"/>
          </a:xfrm>
          <a:prstGeom prst="rect">
            <a:avLst/>
          </a:prstGeom>
          <a:noFill/>
          <a:ln/>
        </p:spPr>
        <p:txBody>
          <a:bodyPr wrap="square" lIns="0" tIns="0" rIns="0" bIns="0" rtlCol="0" anchor="ctr"/>
          <a:lstStyle/>
          <a:p>
            <a:pPr indent="0" marL="0">
              <a:buNone/>
            </a:pPr>
            <a:r>
              <a:rPr lang="en-US" sz="900" b="1" dirty="0">
                <a:solidFill>
                  <a:srgbClr val="4B6360"/>
                </a:solidFill>
                <a:latin typeface="Montserrat" pitchFamily="34" charset="0"/>
                <a:ea typeface="Montserrat" pitchFamily="34" charset="-122"/>
                <a:cs typeface="Montserrat" pitchFamily="34" charset="-120"/>
              </a:rPr>
              <a:t>hub for village information</a:t>
            </a:r>
            <a:endParaRPr lang="en-US" sz="900" dirty="0"/>
          </a:p>
        </p:txBody>
      </p:sp>
      <p:pic>
        <p:nvPicPr>
          <p:cNvPr id="40" name="Image 9" descr="/home/runner/work/Desa-Marga-Mulya/Desa-Marga-Mulya/deck/assets/build/teal/icon-check-p.png">    </p:cNvPr>
          <p:cNvPicPr>
            <a:picLocks noChangeAspect="1"/>
          </p:cNvPicPr>
          <p:nvPr/>
        </p:nvPicPr>
        <p:blipFill>
          <a:blip r:embed="rId11"/>
          <a:stretch>
            <a:fillRect/>
          </a:stretch>
        </p:blipFill>
        <p:spPr>
          <a:xfrm>
            <a:off x="6227064" y="2706624"/>
            <a:ext cx="146304" cy="146304"/>
          </a:xfrm>
          <a:prstGeom prst="rect">
            <a:avLst/>
          </a:prstGeom>
        </p:spPr>
      </p:pic>
      <p:sp>
        <p:nvSpPr>
          <p:cNvPr id="41" name="Text 29"/>
          <p:cNvSpPr/>
          <p:nvPr/>
        </p:nvSpPr>
        <p:spPr>
          <a:xfrm>
            <a:off x="6464808" y="267004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Centralized information</a:t>
            </a:r>
            <a:endParaRPr lang="en-US" sz="1000" dirty="0"/>
          </a:p>
        </p:txBody>
      </p:sp>
      <p:pic>
        <p:nvPicPr>
          <p:cNvPr id="42" name="Image 10" descr="/home/runner/work/Desa-Marga-Mulya/Desa-Marga-Mulya/deck/assets/build/teal/icon-check-p.png">    </p:cNvPr>
          <p:cNvPicPr>
            <a:picLocks noChangeAspect="1"/>
          </p:cNvPicPr>
          <p:nvPr/>
        </p:nvPicPr>
        <p:blipFill>
          <a:blip r:embed="rId12"/>
          <a:stretch>
            <a:fillRect/>
          </a:stretch>
        </p:blipFill>
        <p:spPr>
          <a:xfrm>
            <a:off x="6227064" y="2980944"/>
            <a:ext cx="146304" cy="146304"/>
          </a:xfrm>
          <a:prstGeom prst="rect">
            <a:avLst/>
          </a:prstGeom>
        </p:spPr>
      </p:pic>
      <p:sp>
        <p:nvSpPr>
          <p:cNvPr id="43" name="Text 30"/>
          <p:cNvSpPr/>
          <p:nvPr/>
        </p:nvSpPr>
        <p:spPr>
          <a:xfrm>
            <a:off x="6464808" y="294436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CMS-managed content</a:t>
            </a:r>
            <a:endParaRPr lang="en-US" sz="1000" dirty="0"/>
          </a:p>
        </p:txBody>
      </p:sp>
      <p:pic>
        <p:nvPicPr>
          <p:cNvPr id="44" name="Image 11" descr="/home/runner/work/Desa-Marga-Mulya/Desa-Marga-Mulya/deck/assets/build/teal/icon-check-p.png">    </p:cNvPr>
          <p:cNvPicPr>
            <a:picLocks noChangeAspect="1"/>
          </p:cNvPicPr>
          <p:nvPr/>
        </p:nvPicPr>
        <p:blipFill>
          <a:blip r:embed="rId13"/>
          <a:stretch>
            <a:fillRect/>
          </a:stretch>
        </p:blipFill>
        <p:spPr>
          <a:xfrm>
            <a:off x="6227064" y="3255264"/>
            <a:ext cx="146304" cy="146304"/>
          </a:xfrm>
          <a:prstGeom prst="rect">
            <a:avLst/>
          </a:prstGeom>
        </p:spPr>
      </p:pic>
      <p:sp>
        <p:nvSpPr>
          <p:cNvPr id="45" name="Text 31"/>
          <p:cNvSpPr/>
          <p:nvPr/>
        </p:nvSpPr>
        <p:spPr>
          <a:xfrm>
            <a:off x="6464808" y="3218688"/>
            <a:ext cx="2002536" cy="219456"/>
          </a:xfrm>
          <a:prstGeom prst="rect">
            <a:avLst/>
          </a:prstGeom>
          <a:noFill/>
          <a:ln/>
        </p:spPr>
        <p:txBody>
          <a:bodyPr wrap="square" lIns="0" tIns="0" rIns="0" bIns="0" rtlCol="0" anchor="ctr"/>
          <a:lstStyle/>
          <a:p>
            <a:pPr indent="0" marL="0">
              <a:buNone/>
            </a:pPr>
            <a:r>
              <a:rPr lang="en-US" sz="1000" b="1" dirty="0">
                <a:solidFill>
                  <a:srgbClr val="0B3B38"/>
                </a:solidFill>
                <a:latin typeface="Montserrat" pitchFamily="34" charset="0"/>
                <a:ea typeface="Montserrat" pitchFamily="34" charset="-122"/>
                <a:cs typeface="Montserrat" pitchFamily="34" charset="-120"/>
              </a:rPr>
              <a:t>Open village data</a:t>
            </a:r>
            <a:endParaRPr lang="en-US" sz="1000" dirty="0"/>
          </a:p>
        </p:txBody>
      </p:sp>
      <p:sp>
        <p:nvSpPr>
          <p:cNvPr id="46" name="Shape 32"/>
          <p:cNvSpPr/>
          <p:nvPr/>
        </p:nvSpPr>
        <p:spPr>
          <a:xfrm>
            <a:off x="502920" y="3749040"/>
            <a:ext cx="8138160" cy="914400"/>
          </a:xfrm>
          <a:prstGeom prst="roundRect">
            <a:avLst>
              <a:gd name="adj" fmla="val 14000"/>
            </a:avLst>
          </a:prstGeom>
          <a:solidFill>
            <a:srgbClr val="FFFFFF"/>
          </a:solidFill>
          <a:ln w="12700">
            <a:solidFill>
              <a:srgbClr val="0E8C86"/>
            </a:solidFill>
            <a:prstDash val="sysDot"/>
          </a:ln>
        </p:spPr>
      </p:sp>
      <p:sp>
        <p:nvSpPr>
          <p:cNvPr id="47" name="Text 33"/>
          <p:cNvSpPr/>
          <p:nvPr/>
        </p:nvSpPr>
        <p:spPr>
          <a:xfrm>
            <a:off x="685800" y="3749040"/>
            <a:ext cx="1005840" cy="914400"/>
          </a:xfrm>
          <a:prstGeom prst="rect">
            <a:avLst/>
          </a:prstGeom>
          <a:noFill/>
          <a:ln/>
        </p:spPr>
        <p:txBody>
          <a:bodyPr wrap="square" lIns="0" tIns="0" rIns="0" bIns="0" rtlCol="0" anchor="ctr"/>
          <a:lstStyle/>
          <a:p>
            <a:pPr indent="0" marL="0">
              <a:buNone/>
            </a:pPr>
            <a:r>
              <a:rPr lang="en-US" sz="1300" b="1" dirty="0">
                <a:solidFill>
                  <a:srgbClr val="0E8C86"/>
                </a:solidFill>
                <a:latin typeface="Montserrat" pitchFamily="34" charset="0"/>
                <a:ea typeface="Montserrat" pitchFamily="34" charset="-122"/>
                <a:cs typeface="Montserrat" pitchFamily="34" charset="-120"/>
              </a:rPr>
              <a:t>Feasible</a:t>
            </a:r>
            <a:endParaRPr lang="en-US" sz="1300" dirty="0"/>
          </a:p>
          <a:p>
            <a:pPr indent="0" marL="0">
              <a:buNone/>
            </a:pPr>
            <a:r>
              <a:rPr lang="en-US" sz="1300" b="1" dirty="0">
                <a:solidFill>
                  <a:srgbClr val="0E8C86"/>
                </a:solidFill>
                <a:latin typeface="Montserrat" pitchFamily="34" charset="0"/>
                <a:ea typeface="Montserrat" pitchFamily="34" charset="-122"/>
                <a:cs typeface="Montserrat" pitchFamily="34" charset="-120"/>
              </a:rPr>
              <a:t>today</a:t>
            </a:r>
            <a:endParaRPr lang="en-US" sz="1300" dirty="0"/>
          </a:p>
        </p:txBody>
      </p:sp>
      <p:pic>
        <p:nvPicPr>
          <p:cNvPr id="48" name="Image 12" descr="/home/runner/work/Desa-Marga-Mulya/Desa-Marga-Mulya/deck/assets/build/teal/icon-server-p.png">    </p:cNvPr>
          <p:cNvPicPr>
            <a:picLocks noChangeAspect="1"/>
          </p:cNvPicPr>
          <p:nvPr/>
        </p:nvPicPr>
        <p:blipFill>
          <a:blip r:embed="rId14"/>
          <a:stretch>
            <a:fillRect/>
          </a:stretch>
        </p:blipFill>
        <p:spPr>
          <a:xfrm>
            <a:off x="1783080" y="3931920"/>
            <a:ext cx="237744" cy="237744"/>
          </a:xfrm>
          <a:prstGeom prst="rect">
            <a:avLst/>
          </a:prstGeom>
        </p:spPr>
      </p:pic>
      <p:sp>
        <p:nvSpPr>
          <p:cNvPr id="49" name="Text 34"/>
          <p:cNvSpPr/>
          <p:nvPr/>
        </p:nvSpPr>
        <p:spPr>
          <a:xfrm>
            <a:off x="2093976" y="3895344"/>
            <a:ext cx="1325880" cy="310896"/>
          </a:xfrm>
          <a:prstGeom prst="rect">
            <a:avLst/>
          </a:prstGeom>
          <a:noFill/>
          <a:ln/>
        </p:spPr>
        <p:txBody>
          <a:bodyPr wrap="square" lIns="0" tIns="0" rIns="0" bIns="0" rtlCol="0" anchor="ctr">
            <a:normAutofit/>
          </a:bodyPr>
          <a:lstStyle/>
          <a:p>
            <a:pPr indent="0" marL="0">
              <a:buNone/>
            </a:pPr>
            <a:r>
              <a:rPr lang="en-US" sz="1400" b="1" dirty="0">
                <a:solidFill>
                  <a:srgbClr val="0B3B38"/>
                </a:solidFill>
                <a:latin typeface="Montserrat" pitchFamily="34" charset="0"/>
                <a:ea typeface="Montserrat" pitchFamily="34" charset="-122"/>
                <a:cs typeface="Montserrat" pitchFamily="34" charset="-120"/>
              </a:rPr>
              <a:t>Rp 0</a:t>
            </a:r>
            <a:endParaRPr lang="en-US" sz="1400" dirty="0"/>
          </a:p>
        </p:txBody>
      </p:sp>
      <p:sp>
        <p:nvSpPr>
          <p:cNvPr id="50" name="Text 35"/>
          <p:cNvSpPr/>
          <p:nvPr/>
        </p:nvSpPr>
        <p:spPr>
          <a:xfrm>
            <a:off x="1783080" y="4242816"/>
            <a:ext cx="1600200" cy="365760"/>
          </a:xfrm>
          <a:prstGeom prst="rect">
            <a:avLst/>
          </a:prstGeom>
          <a:noFill/>
          <a:ln/>
        </p:spPr>
        <p:txBody>
          <a:bodyPr wrap="square" lIns="0" tIns="0" rIns="0" bIns="0" rtlCol="0" anchor="t"/>
          <a:lstStyle/>
          <a:p>
            <a:pPr indent="0" marL="0">
              <a:buNone/>
            </a:pPr>
            <a:r>
              <a:rPr lang="en-US" sz="800" dirty="0">
                <a:solidFill>
                  <a:srgbClr val="4B6360"/>
                </a:solidFill>
                <a:latin typeface="Montserrat" pitchFamily="34" charset="0"/>
                <a:ea typeface="Montserrat" pitchFamily="34" charset="-122"/>
                <a:cs typeface="Montserrat" pitchFamily="34" charset="-120"/>
              </a:rPr>
              <a:t>monthly hosting on the current free-tier setup</a:t>
            </a:r>
            <a:endParaRPr lang="en-US" sz="800" dirty="0"/>
          </a:p>
        </p:txBody>
      </p:sp>
      <p:pic>
        <p:nvPicPr>
          <p:cNvPr id="51" name="Image 13" descr="/home/runner/work/Desa-Marga-Mulya/Desa-Marga-Mulya/deck/assets/build/teal/icon-db-p.png">    </p:cNvPr>
          <p:cNvPicPr>
            <a:picLocks noChangeAspect="1"/>
          </p:cNvPicPr>
          <p:nvPr/>
        </p:nvPicPr>
        <p:blipFill>
          <a:blip r:embed="rId15"/>
          <a:stretch>
            <a:fillRect/>
          </a:stretch>
        </p:blipFill>
        <p:spPr>
          <a:xfrm>
            <a:off x="3502152" y="3931920"/>
            <a:ext cx="237744" cy="237744"/>
          </a:xfrm>
          <a:prstGeom prst="rect">
            <a:avLst/>
          </a:prstGeom>
        </p:spPr>
      </p:pic>
      <p:sp>
        <p:nvSpPr>
          <p:cNvPr id="52" name="Text 36"/>
          <p:cNvSpPr/>
          <p:nvPr/>
        </p:nvSpPr>
        <p:spPr>
          <a:xfrm>
            <a:off x="3813048" y="3895344"/>
            <a:ext cx="1325880" cy="310896"/>
          </a:xfrm>
          <a:prstGeom prst="rect">
            <a:avLst/>
          </a:prstGeom>
          <a:noFill/>
          <a:ln/>
        </p:spPr>
        <p:txBody>
          <a:bodyPr wrap="square" lIns="0" tIns="0" rIns="0" bIns="0" rtlCol="0" anchor="ctr">
            <a:normAutofit/>
          </a:bodyPr>
          <a:lstStyle/>
          <a:p>
            <a:pPr indent="0" marL="0">
              <a:buNone/>
            </a:pPr>
            <a:r>
              <a:rPr lang="en-US" sz="1400" b="1" dirty="0">
                <a:solidFill>
                  <a:srgbClr val="0B3B38"/>
                </a:solidFill>
                <a:latin typeface="Montserrat" pitchFamily="34" charset="0"/>
                <a:ea typeface="Montserrat" pitchFamily="34" charset="-122"/>
                <a:cs typeface="Montserrat" pitchFamily="34" charset="-120"/>
              </a:rPr>
              <a:t>PostgreSQL</a:t>
            </a:r>
            <a:endParaRPr lang="en-US" sz="1400" dirty="0"/>
          </a:p>
        </p:txBody>
      </p:sp>
      <p:sp>
        <p:nvSpPr>
          <p:cNvPr id="53" name="Text 37"/>
          <p:cNvSpPr/>
          <p:nvPr/>
        </p:nvSpPr>
        <p:spPr>
          <a:xfrm>
            <a:off x="3502152" y="4242816"/>
            <a:ext cx="1600200" cy="365760"/>
          </a:xfrm>
          <a:prstGeom prst="rect">
            <a:avLst/>
          </a:prstGeom>
          <a:noFill/>
          <a:ln/>
        </p:spPr>
        <p:txBody>
          <a:bodyPr wrap="square" lIns="0" tIns="0" rIns="0" bIns="0" rtlCol="0" anchor="t"/>
          <a:lstStyle/>
          <a:p>
            <a:pPr indent="0" marL="0">
              <a:buNone/>
            </a:pPr>
            <a:r>
              <a:rPr lang="en-US" sz="800" dirty="0">
                <a:solidFill>
                  <a:srgbClr val="4B6360"/>
                </a:solidFill>
                <a:latin typeface="Montserrat" pitchFamily="34" charset="0"/>
                <a:ea typeface="Montserrat" pitchFamily="34" charset="-122"/>
                <a:cs typeface="Montserrat" pitchFamily="34" charset="-120"/>
              </a:rPr>
              <a:t>reliable, managed database</a:t>
            </a:r>
            <a:endParaRPr lang="en-US" sz="800" dirty="0"/>
          </a:p>
        </p:txBody>
      </p:sp>
      <p:pic>
        <p:nvPicPr>
          <p:cNvPr id="54" name="Image 14" descr="/home/runner/work/Desa-Marga-Mulya/Desa-Marga-Mulya/deck/assets/build/teal/icon-cms-p.png">    </p:cNvPr>
          <p:cNvPicPr>
            <a:picLocks noChangeAspect="1"/>
          </p:cNvPicPr>
          <p:nvPr/>
        </p:nvPicPr>
        <p:blipFill>
          <a:blip r:embed="rId16"/>
          <a:stretch>
            <a:fillRect/>
          </a:stretch>
        </p:blipFill>
        <p:spPr>
          <a:xfrm>
            <a:off x="5221224" y="3931920"/>
            <a:ext cx="237744" cy="237744"/>
          </a:xfrm>
          <a:prstGeom prst="rect">
            <a:avLst/>
          </a:prstGeom>
        </p:spPr>
      </p:pic>
      <p:sp>
        <p:nvSpPr>
          <p:cNvPr id="55" name="Text 38"/>
          <p:cNvSpPr/>
          <p:nvPr/>
        </p:nvSpPr>
        <p:spPr>
          <a:xfrm>
            <a:off x="5532120" y="3895344"/>
            <a:ext cx="1325880" cy="310896"/>
          </a:xfrm>
          <a:prstGeom prst="rect">
            <a:avLst/>
          </a:prstGeom>
          <a:noFill/>
          <a:ln/>
        </p:spPr>
        <p:txBody>
          <a:bodyPr wrap="square" lIns="0" tIns="0" rIns="0" bIns="0" rtlCol="0" anchor="ctr">
            <a:normAutofit/>
          </a:bodyPr>
          <a:lstStyle/>
          <a:p>
            <a:pPr indent="0" marL="0">
              <a:buNone/>
            </a:pPr>
            <a:r>
              <a:rPr lang="en-US" sz="1400" b="1" dirty="0">
                <a:solidFill>
                  <a:srgbClr val="0B3B38"/>
                </a:solidFill>
                <a:latin typeface="Montserrat" pitchFamily="34" charset="0"/>
                <a:ea typeface="Montserrat" pitchFamily="34" charset="-122"/>
                <a:cs typeface="Montserrat" pitchFamily="34" charset="-120"/>
              </a:rPr>
              <a:t>CMS</a:t>
            </a:r>
            <a:endParaRPr lang="en-US" sz="1400" dirty="0"/>
          </a:p>
        </p:txBody>
      </p:sp>
      <p:sp>
        <p:nvSpPr>
          <p:cNvPr id="56" name="Text 39"/>
          <p:cNvSpPr/>
          <p:nvPr/>
        </p:nvSpPr>
        <p:spPr>
          <a:xfrm>
            <a:off x="5221224" y="4242816"/>
            <a:ext cx="1600200" cy="365760"/>
          </a:xfrm>
          <a:prstGeom prst="rect">
            <a:avLst/>
          </a:prstGeom>
          <a:noFill/>
          <a:ln/>
        </p:spPr>
        <p:txBody>
          <a:bodyPr wrap="square" lIns="0" tIns="0" rIns="0" bIns="0" rtlCol="0" anchor="t"/>
          <a:lstStyle/>
          <a:p>
            <a:pPr indent="0" marL="0">
              <a:buNone/>
            </a:pPr>
            <a:r>
              <a:rPr lang="en-US" sz="800" dirty="0">
                <a:solidFill>
                  <a:srgbClr val="4B6360"/>
                </a:solidFill>
                <a:latin typeface="Montserrat" pitchFamily="34" charset="0"/>
                <a:ea typeface="Montserrat" pitchFamily="34" charset="-122"/>
                <a:cs typeface="Montserrat" pitchFamily="34" charset="-120"/>
              </a:rPr>
              <a:t>11 content collections, no coding needed</a:t>
            </a:r>
            <a:endParaRPr lang="en-US" sz="800" dirty="0"/>
          </a:p>
        </p:txBody>
      </p:sp>
      <p:pic>
        <p:nvPicPr>
          <p:cNvPr id="57" name="Image 15" descr="/home/runner/work/Desa-Marga-Mulya/Desa-Marga-Mulya/deck/assets/build/teal/icon-shield-p.png">    </p:cNvPr>
          <p:cNvPicPr>
            <a:picLocks noChangeAspect="1"/>
          </p:cNvPicPr>
          <p:nvPr/>
        </p:nvPicPr>
        <p:blipFill>
          <a:blip r:embed="rId17"/>
          <a:stretch>
            <a:fillRect/>
          </a:stretch>
        </p:blipFill>
        <p:spPr>
          <a:xfrm>
            <a:off x="6940296" y="3931920"/>
            <a:ext cx="237744" cy="237744"/>
          </a:xfrm>
          <a:prstGeom prst="rect">
            <a:avLst/>
          </a:prstGeom>
        </p:spPr>
      </p:pic>
      <p:sp>
        <p:nvSpPr>
          <p:cNvPr id="58" name="Text 40"/>
          <p:cNvSpPr/>
          <p:nvPr/>
        </p:nvSpPr>
        <p:spPr>
          <a:xfrm>
            <a:off x="7251192" y="3895344"/>
            <a:ext cx="1325880" cy="310896"/>
          </a:xfrm>
          <a:prstGeom prst="rect">
            <a:avLst/>
          </a:prstGeom>
          <a:noFill/>
          <a:ln/>
        </p:spPr>
        <p:txBody>
          <a:bodyPr wrap="square" lIns="0" tIns="0" rIns="0" bIns="0" rtlCol="0" anchor="ctr">
            <a:normAutofit/>
          </a:bodyPr>
          <a:lstStyle/>
          <a:p>
            <a:pPr indent="0" marL="0">
              <a:buNone/>
            </a:pPr>
            <a:r>
              <a:rPr lang="en-US" sz="1400" b="1" dirty="0">
                <a:solidFill>
                  <a:srgbClr val="0B3B38"/>
                </a:solidFill>
                <a:latin typeface="Montserrat" pitchFamily="34" charset="0"/>
                <a:ea typeface="Montserrat" pitchFamily="34" charset="-122"/>
                <a:cs typeface="Montserrat" pitchFamily="34" charset="-120"/>
              </a:rPr>
              <a:t>109</a:t>
            </a:r>
            <a:endParaRPr lang="en-US" sz="1400" dirty="0"/>
          </a:p>
        </p:txBody>
      </p:sp>
      <p:sp>
        <p:nvSpPr>
          <p:cNvPr id="59" name="Text 41"/>
          <p:cNvSpPr/>
          <p:nvPr/>
        </p:nvSpPr>
        <p:spPr>
          <a:xfrm>
            <a:off x="6940296" y="4242816"/>
            <a:ext cx="1600200" cy="365760"/>
          </a:xfrm>
          <a:prstGeom prst="rect">
            <a:avLst/>
          </a:prstGeom>
          <a:noFill/>
          <a:ln/>
        </p:spPr>
        <p:txBody>
          <a:bodyPr wrap="square" lIns="0" tIns="0" rIns="0" bIns="0" rtlCol="0" anchor="t"/>
          <a:lstStyle/>
          <a:p>
            <a:pPr indent="0" marL="0">
              <a:buNone/>
            </a:pPr>
            <a:r>
              <a:rPr lang="en-US" sz="800" dirty="0">
                <a:solidFill>
                  <a:srgbClr val="4B6360"/>
                </a:solidFill>
                <a:latin typeface="Montserrat" pitchFamily="34" charset="0"/>
                <a:ea typeface="Montserrat" pitchFamily="34" charset="-122"/>
                <a:cs typeface="Montserrat" pitchFamily="34" charset="-120"/>
              </a:rPr>
              <a:t>automated checks, all passing</a:t>
            </a:r>
            <a:endParaRPr lang="en-US" sz="800" dirty="0"/>
          </a:p>
        </p:txBody>
      </p:sp>
      <p:sp>
        <p:nvSpPr>
          <p:cNvPr id="60" name="Text 42"/>
          <p:cNvSpPr/>
          <p:nvPr/>
        </p:nvSpPr>
        <p:spPr>
          <a:xfrm>
            <a:off x="502920" y="4846320"/>
            <a:ext cx="8138160" cy="182880"/>
          </a:xfrm>
          <a:prstGeom prst="rect">
            <a:avLst/>
          </a:prstGeom>
          <a:noFill/>
          <a:ln/>
        </p:spPr>
        <p:txBody>
          <a:bodyPr wrap="square" lIns="0" tIns="0" rIns="0" bIns="0" rtlCol="0" anchor="t"/>
          <a:lstStyle/>
          <a:p>
            <a:pPr indent="0" marL="0">
              <a:buNone/>
            </a:pPr>
            <a:r>
              <a:rPr lang="en-US" sz="700" i="1" dirty="0">
                <a:solidFill>
                  <a:srgbClr val="4B6360"/>
                </a:solidFill>
                <a:latin typeface="Montserrat" pitchFamily="34" charset="0"/>
                <a:ea typeface="Montserrat" pitchFamily="34" charset="-122"/>
                <a:cs typeface="Montserrat" pitchFamily="34" charset="-120"/>
              </a:rPr>
              <a:t>Hosting cost reflects the current free-tier setup; it may change as usage grows.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91440"/>
            <a:ext cx="1097280" cy="384048"/>
          </a:xfrm>
          <a:prstGeom prst="rect">
            <a:avLst/>
          </a:prstGeom>
          <a:solidFill>
            <a:srgbClr val="0B3B38"/>
          </a:solidFill>
          <a:ln w="9525">
            <a:solidFill>
              <a:srgbClr val="FFFFFF"/>
            </a:solidFill>
            <a:prstDash val="dash"/>
          </a:ln>
        </p:spPr>
      </p:sp>
      <p:sp>
        <p:nvSpPr>
          <p:cNvPr id="3" name="Text 1"/>
          <p:cNvSpPr/>
          <p:nvPr/>
        </p:nvSpPr>
        <p:spPr>
          <a:xfrm>
            <a:off x="118872" y="91440"/>
            <a:ext cx="1097280" cy="384048"/>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sp>
        <p:nvSpPr>
          <p:cNvPr id="4" name="Text 2"/>
          <p:cNvSpPr/>
          <p:nvPr/>
        </p:nvSpPr>
        <p:spPr>
          <a:xfrm>
            <a:off x="640080" y="960120"/>
            <a:ext cx="5212080" cy="914400"/>
          </a:xfrm>
          <a:prstGeom prst="rect">
            <a:avLst/>
          </a:prstGeom>
          <a:noFill/>
          <a:ln/>
        </p:spPr>
        <p:txBody>
          <a:bodyPr wrap="square" lIns="0" tIns="0" rIns="0" bIns="0" rtlCol="0" anchor="ctr"/>
          <a:lstStyle/>
          <a:p>
            <a:pPr indent="0" marL="0">
              <a:buNone/>
            </a:pPr>
            <a:r>
              <a:rPr lang="en-US" sz="2800" b="1" dirty="0">
                <a:solidFill>
                  <a:srgbClr val="0B3B38"/>
                </a:solidFill>
                <a:latin typeface="Montserrat" pitchFamily="34" charset="0"/>
                <a:ea typeface="Montserrat" pitchFamily="34" charset="-122"/>
                <a:cs typeface="Montserrat" pitchFamily="34" charset="-120"/>
              </a:rPr>
              <a:t>One Gateway for the Whole Village</a:t>
            </a:r>
            <a:endParaRPr lang="en-US" sz="2800" dirty="0"/>
          </a:p>
        </p:txBody>
      </p:sp>
      <p:sp>
        <p:nvSpPr>
          <p:cNvPr id="5" name="Shape 3"/>
          <p:cNvSpPr/>
          <p:nvPr/>
        </p:nvSpPr>
        <p:spPr>
          <a:xfrm>
            <a:off x="640080" y="2011680"/>
            <a:ext cx="292608" cy="292608"/>
          </a:xfrm>
          <a:prstGeom prst="ellipse">
            <a:avLst/>
          </a:prstGeom>
          <a:solidFill>
            <a:srgbClr val="0E8C86"/>
          </a:solidFill>
          <a:ln w="12700">
            <a:solidFill>
              <a:srgbClr val="0E8C86"/>
            </a:solidFill>
            <a:prstDash val="solid"/>
          </a:ln>
        </p:spPr>
      </p:sp>
      <p:pic>
        <p:nvPicPr>
          <p:cNvPr id="6" name="Image 0" descr="/home/runner/work/Desa-Marga-Mulya/Desa-Marga-Mulya/deck/assets/build/teal/icon-home-w.png">    </p:cNvPr>
          <p:cNvPicPr>
            <a:picLocks noChangeAspect="1"/>
          </p:cNvPicPr>
          <p:nvPr/>
        </p:nvPicPr>
        <p:blipFill>
          <a:blip r:embed="rId2"/>
          <a:stretch>
            <a:fillRect/>
          </a:stretch>
        </p:blipFill>
        <p:spPr>
          <a:xfrm>
            <a:off x="719084" y="2090684"/>
            <a:ext cx="134600" cy="134600"/>
          </a:xfrm>
          <a:prstGeom prst="rect">
            <a:avLst/>
          </a:prstGeom>
        </p:spPr>
      </p:pic>
      <p:sp>
        <p:nvSpPr>
          <p:cNvPr id="7" name="Text 4"/>
          <p:cNvSpPr/>
          <p:nvPr/>
        </p:nvSpPr>
        <p:spPr>
          <a:xfrm>
            <a:off x="1051560" y="2011680"/>
            <a:ext cx="4846320" cy="292608"/>
          </a:xfrm>
          <a:prstGeom prst="rect">
            <a:avLst/>
          </a:prstGeom>
          <a:noFill/>
          <a:ln/>
        </p:spPr>
        <p:txBody>
          <a:bodyPr wrap="square" lIns="0" tIns="0" rIns="0" bIns="0" rtlCol="0" anchor="ctr"/>
          <a:lstStyle/>
          <a:p>
            <a:pPr indent="0" marL="0">
              <a:buNone/>
            </a:pPr>
            <a:r>
              <a:rPr lang="en-US" sz="1200" b="1" dirty="0">
                <a:solidFill>
                  <a:srgbClr val="0B3B38"/>
                </a:solidFill>
                <a:latin typeface="Montserrat" pitchFamily="34" charset="0"/>
                <a:ea typeface="Montserrat" pitchFamily="34" charset="-122"/>
                <a:cs typeface="Montserrat" pitchFamily="34" charset="-120"/>
              </a:rPr>
              <a:t>Residents access services.</a:t>
            </a:r>
            <a:endParaRPr lang="en-US" sz="1200" dirty="0"/>
          </a:p>
        </p:txBody>
      </p:sp>
      <p:sp>
        <p:nvSpPr>
          <p:cNvPr id="8" name="Shape 5"/>
          <p:cNvSpPr/>
          <p:nvPr/>
        </p:nvSpPr>
        <p:spPr>
          <a:xfrm>
            <a:off x="640080" y="2395728"/>
            <a:ext cx="292608" cy="292608"/>
          </a:xfrm>
          <a:prstGeom prst="ellipse">
            <a:avLst/>
          </a:prstGeom>
          <a:solidFill>
            <a:srgbClr val="0E8C86"/>
          </a:solidFill>
          <a:ln w="12700">
            <a:solidFill>
              <a:srgbClr val="0E8C86"/>
            </a:solidFill>
            <a:prstDash val="solid"/>
          </a:ln>
        </p:spPr>
      </p:sp>
      <p:pic>
        <p:nvPicPr>
          <p:cNvPr id="9" name="Image 1" descr="/home/runner/work/Desa-Marga-Mulya/Desa-Marga-Mulya/deck/assets/build/teal/icon-market-w.png">    </p:cNvPr>
          <p:cNvPicPr>
            <a:picLocks noChangeAspect="1"/>
          </p:cNvPicPr>
          <p:nvPr/>
        </p:nvPicPr>
        <p:blipFill>
          <a:blip r:embed="rId3"/>
          <a:stretch>
            <a:fillRect/>
          </a:stretch>
        </p:blipFill>
        <p:spPr>
          <a:xfrm>
            <a:off x="719084" y="2474732"/>
            <a:ext cx="134600" cy="134600"/>
          </a:xfrm>
          <a:prstGeom prst="rect">
            <a:avLst/>
          </a:prstGeom>
        </p:spPr>
      </p:pic>
      <p:sp>
        <p:nvSpPr>
          <p:cNvPr id="10" name="Text 6"/>
          <p:cNvSpPr/>
          <p:nvPr/>
        </p:nvSpPr>
        <p:spPr>
          <a:xfrm>
            <a:off x="1051560" y="2395728"/>
            <a:ext cx="4846320" cy="292608"/>
          </a:xfrm>
          <a:prstGeom prst="rect">
            <a:avLst/>
          </a:prstGeom>
          <a:noFill/>
          <a:ln/>
        </p:spPr>
        <p:txBody>
          <a:bodyPr wrap="square" lIns="0" tIns="0" rIns="0" bIns="0" rtlCol="0" anchor="ctr"/>
          <a:lstStyle/>
          <a:p>
            <a:pPr indent="0" marL="0">
              <a:buNone/>
            </a:pPr>
            <a:r>
              <a:rPr lang="en-US" sz="1200" b="1" dirty="0">
                <a:solidFill>
                  <a:srgbClr val="0B3B38"/>
                </a:solidFill>
                <a:latin typeface="Montserrat" pitchFamily="34" charset="0"/>
                <a:ea typeface="Montserrat" pitchFamily="34" charset="-122"/>
                <a:cs typeface="Montserrat" pitchFamily="34" charset="-120"/>
              </a:rPr>
              <a:t>Businesses reach customers.</a:t>
            </a:r>
            <a:endParaRPr lang="en-US" sz="1200" dirty="0"/>
          </a:p>
        </p:txBody>
      </p:sp>
      <p:sp>
        <p:nvSpPr>
          <p:cNvPr id="11" name="Shape 7"/>
          <p:cNvSpPr/>
          <p:nvPr/>
        </p:nvSpPr>
        <p:spPr>
          <a:xfrm>
            <a:off x="640080" y="2779776"/>
            <a:ext cx="292608" cy="292608"/>
          </a:xfrm>
          <a:prstGeom prst="ellipse">
            <a:avLst/>
          </a:prstGeom>
          <a:solidFill>
            <a:srgbClr val="0E8C86"/>
          </a:solidFill>
          <a:ln w="12700">
            <a:solidFill>
              <a:srgbClr val="0E8C86"/>
            </a:solidFill>
            <a:prstDash val="solid"/>
          </a:ln>
        </p:spPr>
      </p:sp>
      <p:pic>
        <p:nvPicPr>
          <p:cNvPr id="12" name="Image 2" descr="/home/runner/work/Desa-Marga-Mulya/Desa-Marga-Mulya/deck/assets/build/teal/icon-globe-w.png">    </p:cNvPr>
          <p:cNvPicPr>
            <a:picLocks noChangeAspect="1"/>
          </p:cNvPicPr>
          <p:nvPr/>
        </p:nvPicPr>
        <p:blipFill>
          <a:blip r:embed="rId4"/>
          <a:stretch>
            <a:fillRect/>
          </a:stretch>
        </p:blipFill>
        <p:spPr>
          <a:xfrm>
            <a:off x="719084" y="2858780"/>
            <a:ext cx="134600" cy="134600"/>
          </a:xfrm>
          <a:prstGeom prst="rect">
            <a:avLst/>
          </a:prstGeom>
        </p:spPr>
      </p:pic>
      <p:sp>
        <p:nvSpPr>
          <p:cNvPr id="13" name="Text 8"/>
          <p:cNvSpPr/>
          <p:nvPr/>
        </p:nvSpPr>
        <p:spPr>
          <a:xfrm>
            <a:off x="1051560" y="2779776"/>
            <a:ext cx="4846320" cy="292608"/>
          </a:xfrm>
          <a:prstGeom prst="rect">
            <a:avLst/>
          </a:prstGeom>
          <a:noFill/>
          <a:ln/>
        </p:spPr>
        <p:txBody>
          <a:bodyPr wrap="square" lIns="0" tIns="0" rIns="0" bIns="0" rtlCol="0" anchor="ctr"/>
          <a:lstStyle/>
          <a:p>
            <a:pPr indent="0" marL="0">
              <a:buNone/>
            </a:pPr>
            <a:r>
              <a:rPr lang="en-US" sz="1200" b="1" dirty="0">
                <a:solidFill>
                  <a:srgbClr val="0B3B38"/>
                </a:solidFill>
                <a:latin typeface="Montserrat" pitchFamily="34" charset="0"/>
                <a:ea typeface="Montserrat" pitchFamily="34" charset="-122"/>
                <a:cs typeface="Montserrat" pitchFamily="34" charset="-120"/>
              </a:rPr>
              <a:t>People outside discover and support Marga Mulya.</a:t>
            </a:r>
            <a:endParaRPr lang="en-US" sz="1200" dirty="0"/>
          </a:p>
        </p:txBody>
      </p:sp>
      <p:sp>
        <p:nvSpPr>
          <p:cNvPr id="14" name="Shape 9"/>
          <p:cNvSpPr/>
          <p:nvPr/>
        </p:nvSpPr>
        <p:spPr>
          <a:xfrm>
            <a:off x="640080" y="3291840"/>
            <a:ext cx="5212080" cy="548640"/>
          </a:xfrm>
          <a:prstGeom prst="roundRect">
            <a:avLst>
              <a:gd name="adj" fmla="val 23333"/>
            </a:avLst>
          </a:prstGeom>
          <a:solidFill>
            <a:srgbClr val="0B3B38"/>
          </a:solidFill>
          <a:ln w="12700">
            <a:solidFill>
              <a:srgbClr val="0B3B38"/>
            </a:solidFill>
            <a:prstDash val="solid"/>
          </a:ln>
          <a:effectLst>
            <a:outerShdw sx="100000" sy="100000" kx="0" ky="0" algn="bl" rotWithShape="0" blurRad="101600" dist="25400" dir="5400000">
              <a:srgbClr val="0B3B38">
                <a:alpha val="16000"/>
              </a:srgbClr>
            </a:outerShdw>
          </a:effectLst>
        </p:spPr>
      </p:sp>
      <p:sp>
        <p:nvSpPr>
          <p:cNvPr id="15" name="Text 10"/>
          <p:cNvSpPr/>
          <p:nvPr/>
        </p:nvSpPr>
        <p:spPr>
          <a:xfrm>
            <a:off x="640080" y="3291840"/>
            <a:ext cx="5212080" cy="548640"/>
          </a:xfrm>
          <a:prstGeom prst="rect">
            <a:avLst/>
          </a:prstGeom>
          <a:noFill/>
          <a:ln/>
        </p:spPr>
        <p:txBody>
          <a:bodyPr wrap="square" lIns="0" tIns="0" rIns="0" bIns="0" rtlCol="0" anchor="ctr">
            <a:normAutofit/>
          </a:bodyPr>
          <a:lstStyle/>
          <a:p>
            <a:pPr algn="ctr" indent="0" marL="0">
              <a:buNone/>
            </a:pPr>
            <a:r>
              <a:rPr lang="en-US" sz="1300" b="1" i="1" dirty="0">
                <a:solidFill>
                  <a:srgbClr val="7FE3D8"/>
                </a:solidFill>
                <a:latin typeface="Montserrat" pitchFamily="34" charset="0"/>
                <a:ea typeface="Montserrat" pitchFamily="34" charset="-122"/>
                <a:cs typeface="Montserrat" pitchFamily="34" charset="-120"/>
              </a:rPr>
              <a:t>Kenali desanya. Akses layanannya. Dukung ekonominya.</a:t>
            </a:r>
            <a:endParaRPr lang="en-US" sz="1300" dirty="0"/>
          </a:p>
        </p:txBody>
      </p:sp>
      <p:sp>
        <p:nvSpPr>
          <p:cNvPr id="16" name="Text 11"/>
          <p:cNvSpPr/>
          <p:nvPr/>
        </p:nvSpPr>
        <p:spPr>
          <a:xfrm>
            <a:off x="640080" y="4041648"/>
            <a:ext cx="1554480" cy="457200"/>
          </a:xfrm>
          <a:prstGeom prst="rect">
            <a:avLst/>
          </a:prstGeom>
          <a:noFill/>
          <a:ln/>
        </p:spPr>
        <p:txBody>
          <a:bodyPr wrap="square" lIns="0" tIns="0" rIns="0" bIns="0" rtlCol="0" anchor="t"/>
          <a:lstStyle/>
          <a:p>
            <a:pPr indent="0" marL="0">
              <a:buNone/>
            </a:pPr>
            <a:r>
              <a:rPr lang="en-US" sz="2600" b="1" dirty="0">
                <a:solidFill>
                  <a:srgbClr val="0E8C86"/>
                </a:solidFill>
                <a:latin typeface="Montserrat" pitchFamily="34" charset="0"/>
                <a:ea typeface="Montserrat" pitchFamily="34" charset="-122"/>
                <a:cs typeface="Montserrat" pitchFamily="34" charset="-120"/>
              </a:rPr>
              <a:t>10</a:t>
            </a:r>
            <a:endParaRPr lang="en-US" sz="2600" dirty="0"/>
          </a:p>
        </p:txBody>
      </p:sp>
      <p:sp>
        <p:nvSpPr>
          <p:cNvPr id="17" name="Text 12"/>
          <p:cNvSpPr/>
          <p:nvPr/>
        </p:nvSpPr>
        <p:spPr>
          <a:xfrm>
            <a:off x="640080" y="4498848"/>
            <a:ext cx="1554480"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public pages</a:t>
            </a:r>
            <a:endParaRPr lang="en-US" sz="900" dirty="0"/>
          </a:p>
        </p:txBody>
      </p:sp>
      <p:sp>
        <p:nvSpPr>
          <p:cNvPr id="18" name="Text 13"/>
          <p:cNvSpPr/>
          <p:nvPr/>
        </p:nvSpPr>
        <p:spPr>
          <a:xfrm>
            <a:off x="2377440" y="4041648"/>
            <a:ext cx="1554480" cy="457200"/>
          </a:xfrm>
          <a:prstGeom prst="rect">
            <a:avLst/>
          </a:prstGeom>
          <a:noFill/>
          <a:ln/>
        </p:spPr>
        <p:txBody>
          <a:bodyPr wrap="square" lIns="0" tIns="0" rIns="0" bIns="0" rtlCol="0" anchor="t"/>
          <a:lstStyle/>
          <a:p>
            <a:pPr indent="0" marL="0">
              <a:buNone/>
            </a:pPr>
            <a:r>
              <a:rPr lang="en-US" sz="2600" b="1" dirty="0">
                <a:solidFill>
                  <a:srgbClr val="0E8C86"/>
                </a:solidFill>
                <a:latin typeface="Montserrat" pitchFamily="34" charset="0"/>
                <a:ea typeface="Montserrat" pitchFamily="34" charset="-122"/>
                <a:cs typeface="Montserrat" pitchFamily="34" charset="-120"/>
              </a:rPr>
              <a:t>42</a:t>
            </a:r>
            <a:endParaRPr lang="en-US" sz="2600" dirty="0"/>
          </a:p>
        </p:txBody>
      </p:sp>
      <p:sp>
        <p:nvSpPr>
          <p:cNvPr id="19" name="Text 14"/>
          <p:cNvSpPr/>
          <p:nvPr/>
        </p:nvSpPr>
        <p:spPr>
          <a:xfrm>
            <a:off x="2377440" y="4498848"/>
            <a:ext cx="1554480"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data tables</a:t>
            </a:r>
            <a:endParaRPr lang="en-US" sz="900" dirty="0"/>
          </a:p>
        </p:txBody>
      </p:sp>
      <p:sp>
        <p:nvSpPr>
          <p:cNvPr id="20" name="Text 15"/>
          <p:cNvSpPr/>
          <p:nvPr/>
        </p:nvSpPr>
        <p:spPr>
          <a:xfrm>
            <a:off x="4114800" y="4041648"/>
            <a:ext cx="1554480" cy="457200"/>
          </a:xfrm>
          <a:prstGeom prst="rect">
            <a:avLst/>
          </a:prstGeom>
          <a:noFill/>
          <a:ln/>
        </p:spPr>
        <p:txBody>
          <a:bodyPr wrap="square" lIns="0" tIns="0" rIns="0" bIns="0" rtlCol="0" anchor="t"/>
          <a:lstStyle/>
          <a:p>
            <a:pPr indent="0" marL="0">
              <a:buNone/>
            </a:pPr>
            <a:r>
              <a:rPr lang="en-US" sz="2600" b="1" dirty="0">
                <a:solidFill>
                  <a:srgbClr val="0E8C86"/>
                </a:solidFill>
                <a:latin typeface="Montserrat" pitchFamily="34" charset="0"/>
                <a:ea typeface="Montserrat" pitchFamily="34" charset="-122"/>
                <a:cs typeface="Montserrat" pitchFamily="34" charset="-120"/>
              </a:rPr>
              <a:t>16</a:t>
            </a:r>
            <a:endParaRPr lang="en-US" sz="2600" dirty="0"/>
          </a:p>
        </p:txBody>
      </p:sp>
      <p:sp>
        <p:nvSpPr>
          <p:cNvPr id="21" name="Text 16"/>
          <p:cNvSpPr/>
          <p:nvPr/>
        </p:nvSpPr>
        <p:spPr>
          <a:xfrm>
            <a:off x="4114800" y="4498848"/>
            <a:ext cx="1554480" cy="201168"/>
          </a:xfrm>
          <a:prstGeom prst="rect">
            <a:avLst/>
          </a:prstGeom>
          <a:noFill/>
          <a:ln/>
        </p:spPr>
        <p:txBody>
          <a:bodyPr wrap="square" lIns="0" tIns="0" rIns="0" bIns="0" rtlCol="0" anchor="t"/>
          <a:lstStyle/>
          <a:p>
            <a:pPr indent="0" marL="0">
              <a:buNone/>
            </a:pPr>
            <a:r>
              <a:rPr lang="en-US" sz="900" b="1" dirty="0">
                <a:solidFill>
                  <a:srgbClr val="4B6360"/>
                </a:solidFill>
                <a:latin typeface="Montserrat" pitchFamily="34" charset="0"/>
                <a:ea typeface="Montserrat" pitchFamily="34" charset="-122"/>
                <a:cs typeface="Montserrat" pitchFamily="34" charset="-120"/>
              </a:rPr>
              <a:t>local products</a:t>
            </a:r>
            <a:endParaRPr lang="en-US" sz="900" dirty="0"/>
          </a:p>
        </p:txBody>
      </p:sp>
      <p:sp>
        <p:nvSpPr>
          <p:cNvPr id="22" name="Shape 17"/>
          <p:cNvSpPr/>
          <p:nvPr/>
        </p:nvSpPr>
        <p:spPr>
          <a:xfrm>
            <a:off x="6263640" y="1005840"/>
            <a:ext cx="2286000" cy="292608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B38">
                <a:alpha val="16000"/>
              </a:srgbClr>
            </a:outerShdw>
          </a:effectLst>
        </p:spPr>
      </p:sp>
      <p:pic>
        <p:nvPicPr>
          <p:cNvPr id="23" name="Image 3" descr="/home/runner/work/Desa-Marga-Mulya/Desa-Marga-Mulya/deck/assets/build/qr.png">    </p:cNvPr>
          <p:cNvPicPr>
            <a:picLocks noChangeAspect="1"/>
          </p:cNvPicPr>
          <p:nvPr/>
        </p:nvPicPr>
        <p:blipFill>
          <a:blip r:embed="rId5"/>
          <a:stretch>
            <a:fillRect/>
          </a:stretch>
        </p:blipFill>
        <p:spPr>
          <a:xfrm>
            <a:off x="6537960" y="1234440"/>
            <a:ext cx="1737360" cy="1737360"/>
          </a:xfrm>
          <a:prstGeom prst="rect">
            <a:avLst/>
          </a:prstGeom>
        </p:spPr>
      </p:pic>
      <p:sp>
        <p:nvSpPr>
          <p:cNvPr id="24" name="Text 18"/>
          <p:cNvSpPr/>
          <p:nvPr/>
        </p:nvSpPr>
        <p:spPr>
          <a:xfrm>
            <a:off x="6263640" y="3090672"/>
            <a:ext cx="2286000" cy="274320"/>
          </a:xfrm>
          <a:prstGeom prst="rect">
            <a:avLst/>
          </a:prstGeom>
          <a:noFill/>
          <a:ln/>
        </p:spPr>
        <p:txBody>
          <a:bodyPr wrap="square" lIns="0" tIns="0" rIns="0" bIns="0" rtlCol="0" anchor="t"/>
          <a:lstStyle/>
          <a:p>
            <a:pPr algn="ctr" indent="0" marL="0">
              <a:buNone/>
            </a:pPr>
            <a:r>
              <a:rPr lang="en-US" sz="1050" b="1" dirty="0">
                <a:solidFill>
                  <a:srgbClr val="0B3B38"/>
                </a:solidFill>
                <a:latin typeface="Montserrat" pitchFamily="34" charset="0"/>
                <a:ea typeface="Montserrat" pitchFamily="34" charset="-122"/>
                <a:cs typeface="Montserrat" pitchFamily="34" charset="-120"/>
              </a:rPr>
              <a:t>Scan to try the live demo</a:t>
            </a:r>
            <a:endParaRPr lang="en-US" sz="1050" dirty="0"/>
          </a:p>
        </p:txBody>
      </p:sp>
      <p:sp>
        <p:nvSpPr>
          <p:cNvPr id="25" name="Text 19"/>
          <p:cNvSpPr/>
          <p:nvPr/>
        </p:nvSpPr>
        <p:spPr>
          <a:xfrm>
            <a:off x="6263640" y="3383280"/>
            <a:ext cx="2286000" cy="274320"/>
          </a:xfrm>
          <a:prstGeom prst="rect">
            <a:avLst/>
          </a:prstGeom>
          <a:noFill/>
          <a:ln/>
        </p:spPr>
        <p:txBody>
          <a:bodyPr wrap="square" lIns="0" tIns="0" rIns="0" bIns="0" rtlCol="0" anchor="t">
            <a:normAutofit/>
          </a:bodyPr>
          <a:lstStyle/>
          <a:p>
            <a:pPr algn="ctr" indent="0" marL="0">
              <a:buNone/>
            </a:pPr>
            <a:r>
              <a:rPr lang="en-US" sz="800" dirty="0">
                <a:solidFill>
                  <a:srgbClr val="4B6360"/>
                </a:solidFill>
                <a:latin typeface="Montserrat" pitchFamily="34" charset="0"/>
                <a:ea typeface="Montserrat" pitchFamily="34" charset="-122"/>
                <a:cs typeface="Montserrat" pitchFamily="34" charset="-120"/>
              </a:rPr>
              <a:t>desa-marga-mulya.vercel.app</a:t>
            </a:r>
            <a:endParaRPr lang="en-US" sz="800" dirty="0"/>
          </a:p>
        </p:txBody>
      </p:sp>
      <p:sp>
        <p:nvSpPr>
          <p:cNvPr id="26" name="Text 20"/>
          <p:cNvSpPr/>
          <p:nvPr/>
        </p:nvSpPr>
        <p:spPr>
          <a:xfrm>
            <a:off x="6263640" y="4114800"/>
            <a:ext cx="2286000" cy="411480"/>
          </a:xfrm>
          <a:prstGeom prst="rect">
            <a:avLst/>
          </a:prstGeom>
          <a:noFill/>
          <a:ln/>
        </p:spPr>
        <p:txBody>
          <a:bodyPr wrap="square" lIns="0" tIns="0" rIns="0" bIns="0" rtlCol="0" anchor="t"/>
          <a:lstStyle/>
          <a:p>
            <a:pPr algn="ctr" indent="0" marL="0">
              <a:buNone/>
            </a:pPr>
            <a:r>
              <a:rPr lang="en-US" sz="2000" b="1" dirty="0">
                <a:solidFill>
                  <a:srgbClr val="0B3B38"/>
                </a:solidFill>
                <a:latin typeface="Montserrat" pitchFamily="34" charset="0"/>
                <a:ea typeface="Montserrat" pitchFamily="34" charset="-122"/>
                <a:cs typeface="Montserrat"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 Marga Mulya — The Digital Gateway for a Village (EcoQuest IIT Challenge 2026)</dc:title>
  <dc:subject>PptxGenJS Presentation</dc:subject>
  <dc:creator>PptxGenJS</dc:creator>
  <cp:lastModifiedBy>PptxGenJS</cp:lastModifiedBy>
  <cp:revision>1</cp:revision>
  <dcterms:created xsi:type="dcterms:W3CDTF">2026-10-01T10:57:46Z</dcterms:created>
  <dcterms:modified xsi:type="dcterms:W3CDTF">2026-10-01T10:57:46Z</dcterms:modified>
</cp:coreProperties>
</file>