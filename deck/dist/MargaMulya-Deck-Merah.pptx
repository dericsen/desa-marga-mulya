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2.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pieChart>
        <c:varyColors val="1"/>
        <c:ser>
          <c:idx val="0"/>
          <c:order val="0"/>
          <c:tx>
            <c:strRef>
              <c:f>Sheet1!$B$1</c:f>
              <c:strCache>
                <c:ptCount val="1"/>
                <c:pt idx="0">
                  <c:v>Rural</c:v>
                </c:pt>
              </c:strCache>
            </c:strRef>
          </c:tx>
          <c:spPr>
            <a:solidFill>
              <a:schemeClr val="accent1"/>
            </a:solidFill>
            <a:ln w="9525" cap="flat">
              <a:solidFill>
                <a:srgbClr val="F9F9F9"/>
              </a:solidFill>
              <a:prstDash val="solid"/>
              <a:round/>
            </a:ln>
            <a:effectLst/>
          </c:spPr>
          <c:dPt>
            <c:idx val="0"/>
            <c:bubble3D val="0"/>
            <c:spPr>
              <a:solidFill>
                <a:srgbClr val="111111"/>
              </a:solidFill>
              <a:ln w="12700" cap="flat">
                <a:solidFill>
                  <a:srgbClr val="FFFFFF"/>
                </a:solidFill>
                <a:prstDash val="solid"/>
                <a:round/>
              </a:ln>
              <a:effectLst/>
            </c:spPr>
          </c:dPt>
          <c:dPt>
            <c:idx val="1"/>
            <c:bubble3D val="0"/>
            <c:spPr>
              <a:solidFill>
                <a:srgbClr val="D9D9D9"/>
              </a:solidFill>
              <a:ln w="12700" cap="flat">
                <a:solidFill>
                  <a:srgbClr val="FFFFFF"/>
                </a:solidFill>
                <a:prstDash val="solid"/>
                <a:round/>
              </a:ln>
              <a:effectLst/>
            </c:spPr>
          </c:dPt>
          <c:dLbls>
            <c:dLbl>
              <c:idx val="0"/>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1"/>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dLblPos val="ctr"/>
            <c:showLegendKey val="0"/>
            <c:showVal val="0"/>
            <c:showCatName val="1"/>
            <c:showSerName val="0"/>
            <c:showPercent val="1"/>
            <c:showBubbleSize val="0"/>
            <c:showLeaderLines val="0"/>
          </c:dLbls>
          <c:cat>
            <c:strRef>
              <c:f>Sheet1!$A$2:$A$3</c:f>
              <c:strCache>
                <c:ptCount val="2"/>
                <c:pt idx="0">
                  <c:v>Online</c:v>
                </c:pt>
                <c:pt idx="1">
                  <c:v>Offline</c:v>
                </c:pt>
              </c:strCache>
            </c:strRef>
          </c:cat>
          <c:val>
            <c:numRef>
              <c:f>Sheet1!$B$2:$B$3</c:f>
              <c:numCache>
                <c:ptCount val="2"/>
                <c:pt idx="0">
                  <c:v>74</c:v>
                </c:pt>
                <c:pt idx="1">
                  <c:v>26</c:v>
                </c:pt>
              </c:numCache>
            </c:numRef>
          </c:val>
        </c:ser>
        <c:firstSliceAng val="0"/>
      </c:pieChart>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We are presenting the official website for Desa Marga Mulya in Mauk, Tangerang: village services, open data, and a local marketplace in one place, all managed through a CMS.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Marga Mulya sits on the north coast of Tangerang. More than half of its land is rice fields and fish ponds, and about four in ten workers farm or fish. Village figures follow the competition's data structure and can be replaced with official data in the CMS.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80 percent of Indonesians are online, and 74 percent of rural residents too, yet rural areas generate only 30 percent of internet use. When we searched for Desa Marga Mulya we found no official website. Six in ten small businesses are still offline, even though they generate 61 percent of GDP and 97 percent of jobs.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Village information systems give data but no trade. Marketplaces give trade but take fees and know nothing about the village. Our website does both: live office status with service checklists, 42 open data tables, a commission-free village market, and an AI assistant that answers from the village's own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live site. Residents see whether the office is open right now. In the Pasar Desa, one cart can hold products from several sellers and becomes one WhatsApp order per seller. Sellers manage price and stock from their phone, and new products are reviewed by the admin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Residents get answers without a trip to the office. The village office pays nothing per month on free tiers and updates everything through the CMS, backed by 109 automated checks. Sellers keep all their income and take orders in three steps. This supports SDGs 8, 9, 11, and 16.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 up: residents get answers without a trip, local businesses get a commission-free market, and the village gets a website its own staff can run. Scan the code to try it.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2" Type="http://schemas.openxmlformats.org/officeDocument/2006/relationships/chart" Target="/ppt/charts/chart2.xml"/><Relationship Id="rId1" Type="http://schemas.openxmlformats.org/officeDocument/2006/relationships/image" Target="../media/Slide-3-image-1.png"/><Relationship Id="rId3" Type="http://schemas.openxmlformats.org/officeDocument/2006/relationships/image" Target="../media/image-3-2.png"/><Relationship Id="rId4" Type="http://schemas.openxmlformats.org/officeDocument/2006/relationships/image" Target="../media/image-3-2.png"/><Relationship Id="rId5" Type="http://schemas.openxmlformats.org/officeDocument/2006/relationships/image" Target="../media/image-3-2.png"/><Relationship Id="rId6" Type="http://schemas.openxmlformats.org/officeDocument/2006/relationships/image" Target="../media/image-3-2.png"/><Relationship Id="rId7" Type="http://schemas.openxmlformats.org/officeDocument/2006/relationships/image" Target="../media/image-3-2.png"/><Relationship Id="rId8" Type="http://schemas.openxmlformats.org/officeDocument/2006/relationships/image" Target="../media/image-3-2.png"/><Relationship Id="rId9" Type="http://schemas.openxmlformats.org/officeDocument/2006/relationships/image" Target="../media/image-3-8.png"/><Relationship Id="rId10" Type="http://schemas.openxmlformats.org/officeDocument/2006/relationships/image" Target="../media/image-3-8.png"/><Relationship Id="rId11" Type="http://schemas.openxmlformats.org/officeDocument/2006/relationships/image" Target="../media/image-3-8.png"/><Relationship Id="rId12" Type="http://schemas.openxmlformats.org/officeDocument/2006/relationships/image" Target="../media/image-3-8.png"/><Relationship Id="rId13" Type="http://schemas.openxmlformats.org/officeDocument/2006/relationships/slideLayout" Target="../slideLayouts/slideLayout1.xml"/><Relationship Id="rId1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image" Target="../media/image-5-2.png"/><Relationship Id="rId3" Type="http://schemas.openxmlformats.org/officeDocument/2006/relationships/image" Target="../media/image-5-2.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image" Target="../media/image-5-9.png"/><Relationship Id="rId10" Type="http://schemas.openxmlformats.org/officeDocument/2006/relationships/image" Target="../media/image-5-10.png"/><Relationship Id="rId11" Type="http://schemas.openxmlformats.org/officeDocument/2006/relationships/image" Target="../media/image-5-11.png"/><Relationship Id="rId12" Type="http://schemas.openxmlformats.org/officeDocument/2006/relationships/image" Target="../media/image-5-12.png"/><Relationship Id="rId13" Type="http://schemas.openxmlformats.org/officeDocument/2006/relationships/image" Target="../media/image-5-13.png"/><Relationship Id="rId14" Type="http://schemas.openxmlformats.org/officeDocument/2006/relationships/image" Target="../media/image-5-14.png"/><Relationship Id="rId15" Type="http://schemas.openxmlformats.org/officeDocument/2006/relationships/image" Target="../media/image-5-15.png"/><Relationship Id="rId16" Type="http://schemas.openxmlformats.org/officeDocument/2006/relationships/slideLayout" Target="../slideLayouts/slideLayout1.xml"/><Relationship Id="rId1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18872" y="137160"/>
            <a:ext cx="1234440" cy="502920"/>
          </a:xfrm>
          <a:prstGeom prst="rect">
            <a:avLst/>
          </a:prstGeom>
          <a:solidFill>
            <a:srgbClr val="000000"/>
          </a:solidFill>
          <a:ln w="9525">
            <a:solidFill>
              <a:srgbClr val="FFFFFF"/>
            </a:solidFill>
            <a:prstDash val="dash"/>
          </a:ln>
        </p:spPr>
      </p:sp>
      <p:sp>
        <p:nvSpPr>
          <p:cNvPr id="3" name="Text 1"/>
          <p:cNvSpPr/>
          <p:nvPr/>
        </p:nvSpPr>
        <p:spPr>
          <a:xfrm>
            <a:off x="118872" y="137160"/>
            <a:ext cx="1234440" cy="502920"/>
          </a:xfrm>
          <a:prstGeom prst="rect">
            <a:avLst/>
          </a:prstGeom>
          <a:noFill/>
          <a:ln/>
        </p:spPr>
        <p:txBody>
          <a:bodyPr wrap="square" lIns="0" tIns="0" rIns="0" bIns="0" rtlCol="0" anchor="ctr"/>
          <a:lstStyle/>
          <a:p>
            <a:pPr algn="ctr" indent="0" marL="0">
              <a:buNone/>
            </a:pPr>
            <a:r>
              <a:rPr lang="en-US" sz="800" dirty="0">
                <a:solidFill>
                  <a:srgbClr val="FFFFFF"/>
                </a:solidFill>
                <a:latin typeface="Montserrat" pitchFamily="34" charset="0"/>
                <a:ea typeface="Montserrat" pitchFamily="34" charset="-122"/>
                <a:cs typeface="Montserrat" pitchFamily="34" charset="-120"/>
              </a:rPr>
              <a:t>IIT Challenge logo</a:t>
            </a:r>
            <a:endParaRPr lang="en-US" sz="800" dirty="0"/>
          </a:p>
        </p:txBody>
      </p:sp>
      <p:pic>
        <p:nvPicPr>
          <p:cNvPr id="4" name="Image 0" descr="/home/runner/work/Desa-Marga-Mulya/Desa-Marga-Mulya/deck/assets/build/logo.png">    </p:cNvPr>
          <p:cNvPicPr>
            <a:picLocks noChangeAspect="1"/>
          </p:cNvPicPr>
          <p:nvPr/>
        </p:nvPicPr>
        <p:blipFill>
          <a:blip r:embed="rId2"/>
          <a:stretch>
            <a:fillRect/>
          </a:stretch>
        </p:blipFill>
        <p:spPr>
          <a:xfrm>
            <a:off x="1188720" y="1371600"/>
            <a:ext cx="777240" cy="777240"/>
          </a:xfrm>
          <a:prstGeom prst="rect">
            <a:avLst/>
          </a:prstGeom>
        </p:spPr>
      </p:pic>
      <p:sp>
        <p:nvSpPr>
          <p:cNvPr id="5" name="Text 2"/>
          <p:cNvSpPr/>
          <p:nvPr/>
        </p:nvSpPr>
        <p:spPr>
          <a:xfrm>
            <a:off x="2103120" y="1325880"/>
            <a:ext cx="6035040" cy="868680"/>
          </a:xfrm>
          <a:prstGeom prst="rect">
            <a:avLst/>
          </a:prstGeom>
          <a:noFill/>
          <a:ln/>
        </p:spPr>
        <p:txBody>
          <a:bodyPr wrap="square" lIns="0" tIns="0" rIns="0" bIns="0" rtlCol="0" anchor="ctr">
            <a:normAutofit/>
          </a:bodyPr>
          <a:lstStyle/>
          <a:p>
            <a:pPr indent="0" marL="0">
              <a:buNone/>
            </a:pPr>
            <a:r>
              <a:rPr lang="en-US" sz="4000" b="1" dirty="0">
                <a:solidFill>
                  <a:srgbClr val="111111"/>
                </a:solidFill>
                <a:latin typeface="Montserrat" pitchFamily="34" charset="0"/>
                <a:ea typeface="Montserrat" pitchFamily="34" charset="-122"/>
                <a:cs typeface="Montserrat" pitchFamily="34" charset="-120"/>
              </a:rPr>
              <a:t>Desa </a:t>
            </a:r>
            <a:pPr indent="0" marL="0">
              <a:buNone/>
            </a:pPr>
            <a:r>
              <a:rPr lang="en-US" sz="4000" b="1" dirty="0">
                <a:solidFill>
                  <a:srgbClr val="404040"/>
                </a:solidFill>
                <a:latin typeface="Montserrat" pitchFamily="34" charset="0"/>
                <a:ea typeface="Montserrat" pitchFamily="34" charset="-122"/>
                <a:cs typeface="Montserrat" pitchFamily="34" charset="-120"/>
              </a:rPr>
              <a:t>Marga Mulya</a:t>
            </a:r>
            <a:endParaRPr lang="en-US" sz="4000" dirty="0"/>
          </a:p>
        </p:txBody>
      </p:sp>
      <p:sp>
        <p:nvSpPr>
          <p:cNvPr id="6" name="Text 3"/>
          <p:cNvSpPr/>
          <p:nvPr/>
        </p:nvSpPr>
        <p:spPr>
          <a:xfrm>
            <a:off x="914400" y="2395728"/>
            <a:ext cx="7315200" cy="365760"/>
          </a:xfrm>
          <a:prstGeom prst="rect">
            <a:avLst/>
          </a:prstGeom>
          <a:noFill/>
          <a:ln/>
        </p:spPr>
        <p:txBody>
          <a:bodyPr wrap="square" lIns="0" tIns="0" rIns="0" bIns="0" rtlCol="0" anchor="t"/>
          <a:lstStyle/>
          <a:p>
            <a:pPr algn="ctr" indent="0" marL="0">
              <a:buNone/>
            </a:pPr>
            <a:r>
              <a:rPr lang="en-US" sz="1800" b="1" dirty="0">
                <a:solidFill>
                  <a:srgbClr val="111111"/>
                </a:solidFill>
                <a:latin typeface="Montserrat" pitchFamily="34" charset="0"/>
                <a:ea typeface="Montserrat" pitchFamily="34" charset="-122"/>
                <a:cs typeface="Montserrat" pitchFamily="34" charset="-120"/>
              </a:rPr>
              <a:t>Village Services, Open Data &amp; Local Trade in One Website</a:t>
            </a:r>
            <a:endParaRPr lang="en-US" sz="1800" dirty="0"/>
          </a:p>
        </p:txBody>
      </p:sp>
      <p:sp>
        <p:nvSpPr>
          <p:cNvPr id="7" name="Text 4"/>
          <p:cNvSpPr/>
          <p:nvPr/>
        </p:nvSpPr>
        <p:spPr>
          <a:xfrm>
            <a:off x="914400" y="2816352"/>
            <a:ext cx="7315200" cy="274320"/>
          </a:xfrm>
          <a:prstGeom prst="rect">
            <a:avLst/>
          </a:prstGeom>
          <a:noFill/>
          <a:ln/>
        </p:spPr>
        <p:txBody>
          <a:bodyPr wrap="square" lIns="0" tIns="0" rIns="0" bIns="0" rtlCol="0" anchor="t"/>
          <a:lstStyle/>
          <a:p>
            <a:pPr algn="ctr" indent="0" marL="0">
              <a:buNone/>
            </a:pPr>
            <a:r>
              <a:rPr lang="en-US" sz="1100" dirty="0">
                <a:solidFill>
                  <a:srgbClr val="555555"/>
                </a:solidFill>
                <a:latin typeface="Montserrat" pitchFamily="34" charset="0"/>
                <a:ea typeface="Montserrat" pitchFamily="34" charset="-122"/>
                <a:cs typeface="Montserrat" pitchFamily="34" charset="-120"/>
              </a:rPr>
              <a:t>EcoQuest Web Application  |  IIT Challenge 2026</a:t>
            </a:r>
            <a:endParaRPr lang="en-US" sz="1100" dirty="0"/>
          </a:p>
        </p:txBody>
      </p:sp>
      <p:sp>
        <p:nvSpPr>
          <p:cNvPr id="8" name="Shape 5"/>
          <p:cNvSpPr/>
          <p:nvPr/>
        </p:nvSpPr>
        <p:spPr>
          <a:xfrm>
            <a:off x="548640" y="3703320"/>
            <a:ext cx="3566160" cy="1188720"/>
          </a:xfrm>
          <a:prstGeom prst="roundRect">
            <a:avLst>
              <a:gd name="adj" fmla="val 9231"/>
            </a:avLst>
          </a:prstGeom>
          <a:solidFill>
            <a:srgbClr val="FFFFFF">
              <a:alpha val="70000"/>
            </a:srgbClr>
          </a:solidFill>
          <a:ln w="9525">
            <a:solidFill>
              <a:srgbClr val="111111"/>
            </a:solidFill>
            <a:prstDash val="solid"/>
          </a:ln>
        </p:spPr>
      </p:sp>
      <p:sp>
        <p:nvSpPr>
          <p:cNvPr id="9" name="Shape 6"/>
          <p:cNvSpPr/>
          <p:nvPr/>
        </p:nvSpPr>
        <p:spPr>
          <a:xfrm>
            <a:off x="914400" y="3822192"/>
            <a:ext cx="640080" cy="640080"/>
          </a:xfrm>
          <a:prstGeom prst="ellipse">
            <a:avLst/>
          </a:prstGeom>
          <a:solidFill>
            <a:srgbClr val="D9D9D9"/>
          </a:solidFill>
          <a:ln w="9525">
            <a:solidFill>
              <a:srgbClr val="111111"/>
            </a:solidFill>
            <a:prstDash val="solid"/>
          </a:ln>
        </p:spPr>
      </p:sp>
      <p:sp>
        <p:nvSpPr>
          <p:cNvPr id="10" name="Text 7"/>
          <p:cNvSpPr/>
          <p:nvPr/>
        </p:nvSpPr>
        <p:spPr>
          <a:xfrm>
            <a:off x="777240" y="4526280"/>
            <a:ext cx="914400" cy="228600"/>
          </a:xfrm>
          <a:prstGeom prst="rect">
            <a:avLst/>
          </a:prstGeom>
          <a:noFill/>
          <a:ln/>
        </p:spPr>
        <p:txBody>
          <a:bodyPr wrap="square" lIns="0" tIns="0" rIns="0" bIns="0" rtlCol="0" anchor="t"/>
          <a:lstStyle/>
          <a:p>
            <a:pPr algn="ctr" indent="0" marL="0">
              <a:buNone/>
            </a:pPr>
            <a:r>
              <a:rPr lang="en-US" sz="900" b="1" dirty="0">
                <a:solidFill>
                  <a:srgbClr val="111111"/>
                </a:solidFill>
                <a:latin typeface="Montserrat" pitchFamily="34" charset="0"/>
                <a:ea typeface="Montserrat" pitchFamily="34" charset="-122"/>
                <a:cs typeface="Montserrat" pitchFamily="34" charset="-120"/>
              </a:rPr>
              <a:t>Member 1</a:t>
            </a:r>
            <a:endParaRPr lang="en-US" sz="900" dirty="0"/>
          </a:p>
        </p:txBody>
      </p:sp>
      <p:sp>
        <p:nvSpPr>
          <p:cNvPr id="11" name="Shape 8"/>
          <p:cNvSpPr/>
          <p:nvPr/>
        </p:nvSpPr>
        <p:spPr>
          <a:xfrm>
            <a:off x="2057400" y="3822192"/>
            <a:ext cx="640080" cy="640080"/>
          </a:xfrm>
          <a:prstGeom prst="ellipse">
            <a:avLst/>
          </a:prstGeom>
          <a:solidFill>
            <a:srgbClr val="D9D9D9"/>
          </a:solidFill>
          <a:ln w="9525">
            <a:solidFill>
              <a:srgbClr val="111111"/>
            </a:solidFill>
            <a:prstDash val="solid"/>
          </a:ln>
        </p:spPr>
      </p:sp>
      <p:sp>
        <p:nvSpPr>
          <p:cNvPr id="12" name="Text 9"/>
          <p:cNvSpPr/>
          <p:nvPr/>
        </p:nvSpPr>
        <p:spPr>
          <a:xfrm>
            <a:off x="1920240" y="4526280"/>
            <a:ext cx="914400" cy="228600"/>
          </a:xfrm>
          <a:prstGeom prst="rect">
            <a:avLst/>
          </a:prstGeom>
          <a:noFill/>
          <a:ln/>
        </p:spPr>
        <p:txBody>
          <a:bodyPr wrap="square" lIns="0" tIns="0" rIns="0" bIns="0" rtlCol="0" anchor="t"/>
          <a:lstStyle/>
          <a:p>
            <a:pPr algn="ctr" indent="0" marL="0">
              <a:buNone/>
            </a:pPr>
            <a:r>
              <a:rPr lang="en-US" sz="900" b="1" dirty="0">
                <a:solidFill>
                  <a:srgbClr val="111111"/>
                </a:solidFill>
                <a:latin typeface="Montserrat" pitchFamily="34" charset="0"/>
                <a:ea typeface="Montserrat" pitchFamily="34" charset="-122"/>
                <a:cs typeface="Montserrat" pitchFamily="34" charset="-120"/>
              </a:rPr>
              <a:t>Member 2</a:t>
            </a:r>
            <a:endParaRPr lang="en-US" sz="900" dirty="0"/>
          </a:p>
        </p:txBody>
      </p:sp>
      <p:sp>
        <p:nvSpPr>
          <p:cNvPr id="13" name="Shape 10"/>
          <p:cNvSpPr/>
          <p:nvPr/>
        </p:nvSpPr>
        <p:spPr>
          <a:xfrm>
            <a:off x="3200400" y="3822192"/>
            <a:ext cx="640080" cy="640080"/>
          </a:xfrm>
          <a:prstGeom prst="ellipse">
            <a:avLst/>
          </a:prstGeom>
          <a:solidFill>
            <a:srgbClr val="D9D9D9"/>
          </a:solidFill>
          <a:ln w="9525">
            <a:solidFill>
              <a:srgbClr val="111111"/>
            </a:solidFill>
            <a:prstDash val="solid"/>
          </a:ln>
        </p:spPr>
      </p:sp>
      <p:sp>
        <p:nvSpPr>
          <p:cNvPr id="14" name="Text 11"/>
          <p:cNvSpPr/>
          <p:nvPr/>
        </p:nvSpPr>
        <p:spPr>
          <a:xfrm>
            <a:off x="3063240" y="4526280"/>
            <a:ext cx="914400" cy="228600"/>
          </a:xfrm>
          <a:prstGeom prst="rect">
            <a:avLst/>
          </a:prstGeom>
          <a:noFill/>
          <a:ln/>
        </p:spPr>
        <p:txBody>
          <a:bodyPr wrap="square" lIns="0" tIns="0" rIns="0" bIns="0" rtlCol="0" anchor="t"/>
          <a:lstStyle/>
          <a:p>
            <a:pPr algn="ctr" indent="0" marL="0">
              <a:buNone/>
            </a:pPr>
            <a:r>
              <a:rPr lang="en-US" sz="900" b="1" dirty="0">
                <a:solidFill>
                  <a:srgbClr val="111111"/>
                </a:solidFill>
                <a:latin typeface="Montserrat" pitchFamily="34" charset="0"/>
                <a:ea typeface="Montserrat" pitchFamily="34" charset="-122"/>
                <a:cs typeface="Montserrat" pitchFamily="34" charset="-120"/>
              </a:rPr>
              <a:t>Member 3</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731520" y="91440"/>
            <a:ext cx="1097280" cy="32004"/>
          </a:xfrm>
          <a:prstGeom prst="rect">
            <a:avLst/>
          </a:prstGeom>
          <a:solidFill>
            <a:srgbClr val="111111"/>
          </a:solidFill>
          <a:ln w="12700">
            <a:solidFill>
              <a:srgbClr val="111111"/>
            </a:solidFill>
            <a:prstDash val="solid"/>
          </a:ln>
        </p:spPr>
      </p:sp>
      <p:sp>
        <p:nvSpPr>
          <p:cNvPr id="3" name="Text 1"/>
          <p:cNvSpPr/>
          <p:nvPr/>
        </p:nvSpPr>
        <p:spPr>
          <a:xfrm>
            <a:off x="457200" y="146304"/>
            <a:ext cx="1645920" cy="228600"/>
          </a:xfrm>
          <a:prstGeom prst="rect">
            <a:avLst/>
          </a:prstGeom>
          <a:noFill/>
          <a:ln/>
        </p:spPr>
        <p:txBody>
          <a:bodyPr wrap="square" lIns="0" tIns="0" rIns="0" bIns="0" rtlCol="0" anchor="t"/>
          <a:lstStyle/>
          <a:p>
            <a:pPr algn="ctr" indent="0" marL="0">
              <a:buNone/>
            </a:pPr>
            <a:r>
              <a:rPr lang="en-US" sz="900" b="1" dirty="0">
                <a:solidFill>
                  <a:srgbClr val="111111"/>
                </a:solidFill>
                <a:latin typeface="Montserrat" pitchFamily="34" charset="0"/>
                <a:ea typeface="Montserrat" pitchFamily="34" charset="-122"/>
                <a:cs typeface="Montserrat" pitchFamily="34" charset="-120"/>
              </a:rPr>
              <a:t>Village</a:t>
            </a:r>
            <a:endParaRPr lang="en-US" sz="900" dirty="0"/>
          </a:p>
        </p:txBody>
      </p:sp>
      <p:sp>
        <p:nvSpPr>
          <p:cNvPr id="4" name="Text 2"/>
          <p:cNvSpPr/>
          <p:nvPr/>
        </p:nvSpPr>
        <p:spPr>
          <a:xfrm>
            <a:off x="2103120" y="146304"/>
            <a:ext cx="1645920" cy="228600"/>
          </a:xfrm>
          <a:prstGeom prst="rect">
            <a:avLst/>
          </a:prstGeom>
          <a:noFill/>
          <a:ln/>
        </p:spPr>
        <p:txBody>
          <a:bodyPr wrap="square" lIns="0" tIns="0" rIns="0" bIns="0" rtlCol="0" anchor="t"/>
          <a:lstStyle/>
          <a:p>
            <a:pPr algn="ctr" indent="0" marL="0">
              <a:buNone/>
            </a:pPr>
            <a:r>
              <a:rPr lang="en-US" sz="900" dirty="0">
                <a:solidFill>
                  <a:srgbClr val="8C8C8C"/>
                </a:solidFill>
                <a:latin typeface="Montserrat" pitchFamily="34" charset="0"/>
                <a:ea typeface="Montserrat" pitchFamily="34" charset="-122"/>
                <a:cs typeface="Montserrat" pitchFamily="34" charset="-120"/>
              </a:rPr>
              <a:t>Problem</a:t>
            </a:r>
            <a:endParaRPr lang="en-US" sz="900" dirty="0"/>
          </a:p>
        </p:txBody>
      </p:sp>
      <p:sp>
        <p:nvSpPr>
          <p:cNvPr id="5" name="Text 3"/>
          <p:cNvSpPr/>
          <p:nvPr/>
        </p:nvSpPr>
        <p:spPr>
          <a:xfrm>
            <a:off x="3749040" y="146304"/>
            <a:ext cx="1645920" cy="228600"/>
          </a:xfrm>
          <a:prstGeom prst="rect">
            <a:avLst/>
          </a:prstGeom>
          <a:noFill/>
          <a:ln/>
        </p:spPr>
        <p:txBody>
          <a:bodyPr wrap="square" lIns="0" tIns="0" rIns="0" bIns="0" rtlCol="0" anchor="t"/>
          <a:lstStyle/>
          <a:p>
            <a:pPr algn="ctr" indent="0" marL="0">
              <a:buNone/>
            </a:pPr>
            <a:r>
              <a:rPr lang="en-US" sz="900" dirty="0">
                <a:solidFill>
                  <a:srgbClr val="8C8C8C"/>
                </a:solidFill>
                <a:latin typeface="Montserrat" pitchFamily="34" charset="0"/>
                <a:ea typeface="Montserrat" pitchFamily="34" charset="-122"/>
                <a:cs typeface="Montserrat" pitchFamily="34" charset="-120"/>
              </a:rPr>
              <a:t>Solution</a:t>
            </a:r>
            <a:endParaRPr lang="en-US" sz="900" dirty="0"/>
          </a:p>
        </p:txBody>
      </p:sp>
      <p:sp>
        <p:nvSpPr>
          <p:cNvPr id="6" name="Text 4"/>
          <p:cNvSpPr/>
          <p:nvPr/>
        </p:nvSpPr>
        <p:spPr>
          <a:xfrm>
            <a:off x="5394960" y="146304"/>
            <a:ext cx="1645920" cy="228600"/>
          </a:xfrm>
          <a:prstGeom prst="rect">
            <a:avLst/>
          </a:prstGeom>
          <a:noFill/>
          <a:ln/>
        </p:spPr>
        <p:txBody>
          <a:bodyPr wrap="square" lIns="0" tIns="0" rIns="0" bIns="0" rtlCol="0" anchor="t"/>
          <a:lstStyle/>
          <a:p>
            <a:pPr algn="ctr" indent="0" marL="0">
              <a:buNone/>
            </a:pPr>
            <a:r>
              <a:rPr lang="en-US" sz="900" dirty="0">
                <a:solidFill>
                  <a:srgbClr val="8C8C8C"/>
                </a:solidFill>
                <a:latin typeface="Montserrat" pitchFamily="34" charset="0"/>
                <a:ea typeface="Montserrat" pitchFamily="34" charset="-122"/>
                <a:cs typeface="Montserrat" pitchFamily="34" charset="-120"/>
              </a:rPr>
              <a:t>Demo</a:t>
            </a:r>
            <a:endParaRPr lang="en-US" sz="900" dirty="0"/>
          </a:p>
        </p:txBody>
      </p:sp>
      <p:sp>
        <p:nvSpPr>
          <p:cNvPr id="7" name="Text 5"/>
          <p:cNvSpPr/>
          <p:nvPr/>
        </p:nvSpPr>
        <p:spPr>
          <a:xfrm>
            <a:off x="7040880" y="146304"/>
            <a:ext cx="1645920" cy="228600"/>
          </a:xfrm>
          <a:prstGeom prst="rect">
            <a:avLst/>
          </a:prstGeom>
          <a:noFill/>
          <a:ln/>
        </p:spPr>
        <p:txBody>
          <a:bodyPr wrap="square" lIns="0" tIns="0" rIns="0" bIns="0" rtlCol="0" anchor="t"/>
          <a:lstStyle/>
          <a:p>
            <a:pPr algn="ctr" indent="0" marL="0">
              <a:buNone/>
            </a:pPr>
            <a:r>
              <a:rPr lang="en-US" sz="900" dirty="0">
                <a:solidFill>
                  <a:srgbClr val="8C8C8C"/>
                </a:solidFill>
                <a:latin typeface="Montserrat" pitchFamily="34" charset="0"/>
                <a:ea typeface="Montserrat" pitchFamily="34" charset="-122"/>
                <a:cs typeface="Montserrat" pitchFamily="34" charset="-120"/>
              </a:rPr>
              <a:t>Impact</a:t>
            </a:r>
            <a:endParaRPr lang="en-US" sz="900" dirty="0"/>
          </a:p>
        </p:txBody>
      </p:sp>
      <p:sp>
        <p:nvSpPr>
          <p:cNvPr id="8" name="Text 6"/>
          <p:cNvSpPr/>
          <p:nvPr/>
        </p:nvSpPr>
        <p:spPr>
          <a:xfrm>
            <a:off x="457200" y="457200"/>
            <a:ext cx="8229600" cy="502920"/>
          </a:xfrm>
          <a:prstGeom prst="rect">
            <a:avLst/>
          </a:prstGeom>
          <a:noFill/>
          <a:ln/>
        </p:spPr>
        <p:txBody>
          <a:bodyPr wrap="square" lIns="0" tIns="0" rIns="0" bIns="0" rtlCol="0" anchor="t"/>
          <a:lstStyle/>
          <a:p>
            <a:pPr algn="ctr" indent="0" marL="0">
              <a:buNone/>
            </a:pPr>
            <a:r>
              <a:rPr lang="en-US" sz="2600" b="1" dirty="0">
                <a:solidFill>
                  <a:srgbClr val="111111"/>
                </a:solidFill>
                <a:latin typeface="Montserrat" pitchFamily="34" charset="0"/>
                <a:ea typeface="Montserrat" pitchFamily="34" charset="-122"/>
                <a:cs typeface="Montserrat" pitchFamily="34" charset="-120"/>
              </a:rPr>
              <a:t>A COASTAL FARMING VILLAGE</a:t>
            </a:r>
            <a:endParaRPr lang="en-US" sz="2600" dirty="0"/>
          </a:p>
        </p:txBody>
      </p:sp>
      <p:sp>
        <p:nvSpPr>
          <p:cNvPr id="9" name="Text 7"/>
          <p:cNvSpPr/>
          <p:nvPr/>
        </p:nvSpPr>
        <p:spPr>
          <a:xfrm>
            <a:off x="457200" y="950976"/>
            <a:ext cx="8229600" cy="274320"/>
          </a:xfrm>
          <a:prstGeom prst="rect">
            <a:avLst/>
          </a:prstGeom>
          <a:noFill/>
          <a:ln/>
        </p:spPr>
        <p:txBody>
          <a:bodyPr wrap="square" lIns="0" tIns="0" rIns="0" bIns="0" rtlCol="0" anchor="t"/>
          <a:lstStyle/>
          <a:p>
            <a:pPr algn="ctr" indent="0" marL="0">
              <a:buNone/>
            </a:pPr>
            <a:r>
              <a:rPr lang="en-US" sz="1200" b="1" dirty="0">
                <a:solidFill>
                  <a:srgbClr val="555555"/>
                </a:solidFill>
                <a:latin typeface="Montserrat" pitchFamily="34" charset="0"/>
                <a:ea typeface="Montserrat" pitchFamily="34" charset="-122"/>
                <a:cs typeface="Montserrat" pitchFamily="34" charset="-120"/>
              </a:rPr>
              <a:t>“Rice fields, milkfish ponds, and the Java Sea”</a:t>
            </a:r>
            <a:endParaRPr lang="en-US" sz="1200" dirty="0"/>
          </a:p>
        </p:txBody>
      </p:sp>
      <p:pic>
        <p:nvPicPr>
          <p:cNvPr id="10" name="Image 0" descr="/home/runner/work/Desa-Marga-Mulya/Desa-Marga-Mulya/deck/assets/build/red/map.png">    </p:cNvPr>
          <p:cNvPicPr>
            <a:picLocks noChangeAspect="1"/>
          </p:cNvPicPr>
          <p:nvPr/>
        </p:nvPicPr>
        <p:blipFill>
          <a:blip r:embed="rId2"/>
          <a:stretch>
            <a:fillRect/>
          </a:stretch>
        </p:blipFill>
        <p:spPr>
          <a:xfrm>
            <a:off x="1234440" y="1325880"/>
            <a:ext cx="6675120" cy="2615184"/>
          </a:xfrm>
          <a:prstGeom prst="rect">
            <a:avLst/>
          </a:prstGeom>
        </p:spPr>
      </p:pic>
      <p:sp>
        <p:nvSpPr>
          <p:cNvPr id="11" name="Shape 8"/>
          <p:cNvSpPr/>
          <p:nvPr/>
        </p:nvSpPr>
        <p:spPr>
          <a:xfrm>
            <a:off x="685800" y="4069080"/>
            <a:ext cx="2377440" cy="914400"/>
          </a:xfrm>
          <a:prstGeom prst="roundRect">
            <a:avLst>
              <a:gd name="adj" fmla="val 12000"/>
            </a:avLst>
          </a:prstGeom>
          <a:solidFill>
            <a:srgbClr val="FFFFFF"/>
          </a:solidFill>
          <a:ln w="12700">
            <a:solidFill>
              <a:srgbClr val="FFFFFF"/>
            </a:solidFill>
            <a:prstDash val="solid"/>
          </a:ln>
          <a:effectLst>
            <a:outerShdw sx="100000" sy="100000" kx="0" ky="0" algn="bl" rotWithShape="0" blurRad="127000" dist="38100" dir="5400000">
              <a:srgbClr val="000000">
                <a:alpha val="16000"/>
              </a:srgbClr>
            </a:outerShdw>
          </a:effectLst>
        </p:spPr>
      </p:sp>
      <p:sp>
        <p:nvSpPr>
          <p:cNvPr id="12" name="Text 9"/>
          <p:cNvSpPr/>
          <p:nvPr/>
        </p:nvSpPr>
        <p:spPr>
          <a:xfrm>
            <a:off x="685800" y="4133088"/>
            <a:ext cx="2377440" cy="201168"/>
          </a:xfrm>
          <a:prstGeom prst="rect">
            <a:avLst/>
          </a:prstGeom>
          <a:noFill/>
          <a:ln/>
        </p:spPr>
        <p:txBody>
          <a:bodyPr wrap="square" lIns="0" tIns="0" rIns="0" bIns="0" rtlCol="0" anchor="t"/>
          <a:lstStyle/>
          <a:p>
            <a:pPr algn="ctr" indent="0" marL="0">
              <a:buNone/>
            </a:pPr>
            <a:r>
              <a:rPr lang="en-US" sz="800" b="1" dirty="0">
                <a:solidFill>
                  <a:srgbClr val="111111"/>
                </a:solidFill>
                <a:latin typeface="Montserrat" pitchFamily="34" charset="0"/>
                <a:ea typeface="Montserrat" pitchFamily="34" charset="-122"/>
                <a:cs typeface="Montserrat" pitchFamily="34" charset="-120"/>
              </a:rPr>
              <a:t>RESIDENTS</a:t>
            </a:r>
            <a:endParaRPr lang="en-US" sz="800" dirty="0"/>
          </a:p>
        </p:txBody>
      </p:sp>
      <p:sp>
        <p:nvSpPr>
          <p:cNvPr id="13" name="Text 10"/>
          <p:cNvSpPr/>
          <p:nvPr/>
        </p:nvSpPr>
        <p:spPr>
          <a:xfrm>
            <a:off x="685800" y="4315968"/>
            <a:ext cx="2377440" cy="411480"/>
          </a:xfrm>
          <a:prstGeom prst="rect">
            <a:avLst/>
          </a:prstGeom>
          <a:noFill/>
          <a:ln/>
        </p:spPr>
        <p:txBody>
          <a:bodyPr wrap="square" lIns="0" tIns="0" rIns="0" bIns="0" rtlCol="0" anchor="t"/>
          <a:lstStyle/>
          <a:p>
            <a:pPr algn="ctr" indent="0" marL="0">
              <a:buNone/>
            </a:pPr>
            <a:r>
              <a:rPr lang="en-US" sz="2400" b="1" dirty="0">
                <a:solidFill>
                  <a:srgbClr val="111111"/>
                </a:solidFill>
                <a:latin typeface="Montserrat" pitchFamily="34" charset="0"/>
                <a:ea typeface="Montserrat" pitchFamily="34" charset="-122"/>
                <a:cs typeface="Montserrat" pitchFamily="34" charset="-120"/>
              </a:rPr>
              <a:t>7,842</a:t>
            </a:r>
            <a:endParaRPr lang="en-US" sz="2400" dirty="0"/>
          </a:p>
        </p:txBody>
      </p:sp>
      <p:sp>
        <p:nvSpPr>
          <p:cNvPr id="14" name="Text 11"/>
          <p:cNvSpPr/>
          <p:nvPr/>
        </p:nvSpPr>
        <p:spPr>
          <a:xfrm>
            <a:off x="685800" y="4727448"/>
            <a:ext cx="2377440" cy="182880"/>
          </a:xfrm>
          <a:prstGeom prst="rect">
            <a:avLst/>
          </a:prstGeom>
          <a:noFill/>
          <a:ln/>
        </p:spPr>
        <p:txBody>
          <a:bodyPr wrap="square" lIns="0" tIns="0" rIns="0" bIns="0" rtlCol="0" anchor="t"/>
          <a:lstStyle/>
          <a:p>
            <a:pPr algn="ctr" indent="0" marL="0">
              <a:buNone/>
            </a:pPr>
            <a:r>
              <a:rPr lang="en-US" sz="700" i="1" dirty="0">
                <a:solidFill>
                  <a:srgbClr val="555555"/>
                </a:solidFill>
                <a:latin typeface="Montserrat" pitchFamily="34" charset="0"/>
                <a:ea typeface="Montserrat" pitchFamily="34" charset="-122"/>
                <a:cs typeface="Montserrat" pitchFamily="34" charset="-120"/>
              </a:rPr>
              <a:t>2,318 households</a:t>
            </a:r>
            <a:endParaRPr lang="en-US" sz="700" dirty="0"/>
          </a:p>
        </p:txBody>
      </p:sp>
      <p:sp>
        <p:nvSpPr>
          <p:cNvPr id="15" name="Shape 12"/>
          <p:cNvSpPr/>
          <p:nvPr/>
        </p:nvSpPr>
        <p:spPr>
          <a:xfrm>
            <a:off x="3383280" y="4069080"/>
            <a:ext cx="2377440" cy="914400"/>
          </a:xfrm>
          <a:prstGeom prst="roundRect">
            <a:avLst>
              <a:gd name="adj" fmla="val 12000"/>
            </a:avLst>
          </a:prstGeom>
          <a:solidFill>
            <a:srgbClr val="FFFFFF"/>
          </a:solidFill>
          <a:ln w="12700">
            <a:solidFill>
              <a:srgbClr val="FFFFFF"/>
            </a:solidFill>
            <a:prstDash val="solid"/>
          </a:ln>
          <a:effectLst>
            <a:outerShdw sx="100000" sy="100000" kx="0" ky="0" algn="bl" rotWithShape="0" blurRad="127000" dist="38100" dir="5400000">
              <a:srgbClr val="000000">
                <a:alpha val="16000"/>
              </a:srgbClr>
            </a:outerShdw>
          </a:effectLst>
        </p:spPr>
      </p:sp>
      <p:sp>
        <p:nvSpPr>
          <p:cNvPr id="16" name="Text 13"/>
          <p:cNvSpPr/>
          <p:nvPr/>
        </p:nvSpPr>
        <p:spPr>
          <a:xfrm>
            <a:off x="3383280" y="4133088"/>
            <a:ext cx="2377440" cy="201168"/>
          </a:xfrm>
          <a:prstGeom prst="rect">
            <a:avLst/>
          </a:prstGeom>
          <a:noFill/>
          <a:ln/>
        </p:spPr>
        <p:txBody>
          <a:bodyPr wrap="square" lIns="0" tIns="0" rIns="0" bIns="0" rtlCol="0" anchor="t"/>
          <a:lstStyle/>
          <a:p>
            <a:pPr algn="ctr" indent="0" marL="0">
              <a:buNone/>
            </a:pPr>
            <a:r>
              <a:rPr lang="en-US" sz="800" b="1" dirty="0">
                <a:solidFill>
                  <a:srgbClr val="111111"/>
                </a:solidFill>
                <a:latin typeface="Montserrat" pitchFamily="34" charset="0"/>
                <a:ea typeface="Montserrat" pitchFamily="34" charset="-122"/>
                <a:cs typeface="Montserrat" pitchFamily="34" charset="-120"/>
              </a:rPr>
              <a:t>RICE FIELDS &amp; FISH PONDS</a:t>
            </a:r>
            <a:endParaRPr lang="en-US" sz="800" dirty="0"/>
          </a:p>
        </p:txBody>
      </p:sp>
      <p:sp>
        <p:nvSpPr>
          <p:cNvPr id="17" name="Text 14"/>
          <p:cNvSpPr/>
          <p:nvPr/>
        </p:nvSpPr>
        <p:spPr>
          <a:xfrm>
            <a:off x="3383280" y="4315968"/>
            <a:ext cx="2377440" cy="411480"/>
          </a:xfrm>
          <a:prstGeom prst="rect">
            <a:avLst/>
          </a:prstGeom>
          <a:noFill/>
          <a:ln/>
        </p:spPr>
        <p:txBody>
          <a:bodyPr wrap="square" lIns="0" tIns="0" rIns="0" bIns="0" rtlCol="0" anchor="t"/>
          <a:lstStyle/>
          <a:p>
            <a:pPr algn="ctr" indent="0" marL="0">
              <a:buNone/>
            </a:pPr>
            <a:r>
              <a:rPr lang="en-US" sz="2400" b="1" dirty="0">
                <a:solidFill>
                  <a:srgbClr val="111111"/>
                </a:solidFill>
                <a:latin typeface="Montserrat" pitchFamily="34" charset="0"/>
                <a:ea typeface="Montserrat" pitchFamily="34" charset="-122"/>
                <a:cs typeface="Montserrat" pitchFamily="34" charset="-120"/>
              </a:rPr>
              <a:t>55%</a:t>
            </a:r>
            <a:endParaRPr lang="en-US" sz="2400" dirty="0"/>
          </a:p>
        </p:txBody>
      </p:sp>
      <p:sp>
        <p:nvSpPr>
          <p:cNvPr id="18" name="Text 15"/>
          <p:cNvSpPr/>
          <p:nvPr/>
        </p:nvSpPr>
        <p:spPr>
          <a:xfrm>
            <a:off x="3383280" y="4727448"/>
            <a:ext cx="2377440" cy="182880"/>
          </a:xfrm>
          <a:prstGeom prst="rect">
            <a:avLst/>
          </a:prstGeom>
          <a:noFill/>
          <a:ln/>
        </p:spPr>
        <p:txBody>
          <a:bodyPr wrap="square" lIns="0" tIns="0" rIns="0" bIns="0" rtlCol="0" anchor="t"/>
          <a:lstStyle/>
          <a:p>
            <a:pPr algn="ctr" indent="0" marL="0">
              <a:buNone/>
            </a:pPr>
            <a:r>
              <a:rPr lang="en-US" sz="700" i="1" dirty="0">
                <a:solidFill>
                  <a:srgbClr val="555555"/>
                </a:solidFill>
                <a:latin typeface="Montserrat" pitchFamily="34" charset="0"/>
                <a:ea typeface="Montserrat" pitchFamily="34" charset="-122"/>
                <a:cs typeface="Montserrat" pitchFamily="34" charset="-120"/>
              </a:rPr>
              <a:t>228 of 412 ha of land</a:t>
            </a:r>
            <a:endParaRPr lang="en-US" sz="700" dirty="0"/>
          </a:p>
        </p:txBody>
      </p:sp>
      <p:sp>
        <p:nvSpPr>
          <p:cNvPr id="19" name="Shape 16"/>
          <p:cNvSpPr/>
          <p:nvPr/>
        </p:nvSpPr>
        <p:spPr>
          <a:xfrm>
            <a:off x="6080760" y="4069080"/>
            <a:ext cx="2377440" cy="914400"/>
          </a:xfrm>
          <a:prstGeom prst="roundRect">
            <a:avLst>
              <a:gd name="adj" fmla="val 12000"/>
            </a:avLst>
          </a:prstGeom>
          <a:solidFill>
            <a:srgbClr val="FFFFFF"/>
          </a:solidFill>
          <a:ln w="12700">
            <a:solidFill>
              <a:srgbClr val="FFFFFF"/>
            </a:solidFill>
            <a:prstDash val="solid"/>
          </a:ln>
          <a:effectLst>
            <a:outerShdw sx="100000" sy="100000" kx="0" ky="0" algn="bl" rotWithShape="0" blurRad="127000" dist="38100" dir="5400000">
              <a:srgbClr val="000000">
                <a:alpha val="16000"/>
              </a:srgbClr>
            </a:outerShdw>
          </a:effectLst>
        </p:spPr>
      </p:sp>
      <p:sp>
        <p:nvSpPr>
          <p:cNvPr id="20" name="Text 17"/>
          <p:cNvSpPr/>
          <p:nvPr/>
        </p:nvSpPr>
        <p:spPr>
          <a:xfrm>
            <a:off x="6080760" y="4133088"/>
            <a:ext cx="2377440" cy="201168"/>
          </a:xfrm>
          <a:prstGeom prst="rect">
            <a:avLst/>
          </a:prstGeom>
          <a:noFill/>
          <a:ln/>
        </p:spPr>
        <p:txBody>
          <a:bodyPr wrap="square" lIns="0" tIns="0" rIns="0" bIns="0" rtlCol="0" anchor="t"/>
          <a:lstStyle/>
          <a:p>
            <a:pPr algn="ctr" indent="0" marL="0">
              <a:buNone/>
            </a:pPr>
            <a:r>
              <a:rPr lang="en-US" sz="800" b="1" dirty="0">
                <a:solidFill>
                  <a:srgbClr val="111111"/>
                </a:solidFill>
                <a:latin typeface="Montserrat" pitchFamily="34" charset="0"/>
                <a:ea typeface="Montserrat" pitchFamily="34" charset="-122"/>
                <a:cs typeface="Montserrat" pitchFamily="34" charset="-120"/>
              </a:rPr>
              <a:t>FARMING &amp; FISHING JOBS</a:t>
            </a:r>
            <a:endParaRPr lang="en-US" sz="800" dirty="0"/>
          </a:p>
        </p:txBody>
      </p:sp>
      <p:sp>
        <p:nvSpPr>
          <p:cNvPr id="21" name="Text 18"/>
          <p:cNvSpPr/>
          <p:nvPr/>
        </p:nvSpPr>
        <p:spPr>
          <a:xfrm>
            <a:off x="6080760" y="4315968"/>
            <a:ext cx="2377440" cy="411480"/>
          </a:xfrm>
          <a:prstGeom prst="rect">
            <a:avLst/>
          </a:prstGeom>
          <a:noFill/>
          <a:ln/>
        </p:spPr>
        <p:txBody>
          <a:bodyPr wrap="square" lIns="0" tIns="0" rIns="0" bIns="0" rtlCol="0" anchor="t"/>
          <a:lstStyle/>
          <a:p>
            <a:pPr algn="ctr" indent="0" marL="0">
              <a:buNone/>
            </a:pPr>
            <a:r>
              <a:rPr lang="en-US" sz="2400" b="1" dirty="0">
                <a:solidFill>
                  <a:srgbClr val="111111"/>
                </a:solidFill>
                <a:latin typeface="Montserrat" pitchFamily="34" charset="0"/>
                <a:ea typeface="Montserrat" pitchFamily="34" charset="-122"/>
                <a:cs typeface="Montserrat" pitchFamily="34" charset="-120"/>
              </a:rPr>
              <a:t>41%</a:t>
            </a:r>
            <a:endParaRPr lang="en-US" sz="2400" dirty="0"/>
          </a:p>
        </p:txBody>
      </p:sp>
      <p:sp>
        <p:nvSpPr>
          <p:cNvPr id="22" name="Text 19"/>
          <p:cNvSpPr/>
          <p:nvPr/>
        </p:nvSpPr>
        <p:spPr>
          <a:xfrm>
            <a:off x="6080760" y="4727448"/>
            <a:ext cx="2377440" cy="182880"/>
          </a:xfrm>
          <a:prstGeom prst="rect">
            <a:avLst/>
          </a:prstGeom>
          <a:noFill/>
          <a:ln/>
        </p:spPr>
        <p:txBody>
          <a:bodyPr wrap="square" lIns="0" tIns="0" rIns="0" bIns="0" rtlCol="0" anchor="t"/>
          <a:lstStyle/>
          <a:p>
            <a:pPr algn="ctr" indent="0" marL="0">
              <a:buNone/>
            </a:pPr>
            <a:r>
              <a:rPr lang="en-US" sz="700" i="1" dirty="0">
                <a:solidFill>
                  <a:srgbClr val="555555"/>
                </a:solidFill>
                <a:latin typeface="Montserrat" pitchFamily="34" charset="0"/>
                <a:ea typeface="Montserrat" pitchFamily="34" charset="-122"/>
                <a:cs typeface="Montserrat" pitchFamily="34" charset="-120"/>
              </a:rPr>
              <a:t>1,638 of 4,035 workers</a:t>
            </a:r>
            <a:endParaRPr lang="en-US" sz="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457200" y="146304"/>
            <a:ext cx="1645920" cy="228600"/>
          </a:xfrm>
          <a:prstGeom prst="rect">
            <a:avLst/>
          </a:prstGeom>
          <a:noFill/>
          <a:ln/>
        </p:spPr>
        <p:txBody>
          <a:bodyPr wrap="square" lIns="0" tIns="0" rIns="0" bIns="0" rtlCol="0" anchor="t"/>
          <a:lstStyle/>
          <a:p>
            <a:pPr algn="ctr" indent="0" marL="0">
              <a:buNone/>
            </a:pPr>
            <a:r>
              <a:rPr lang="en-US" sz="900" dirty="0">
                <a:solidFill>
                  <a:srgbClr val="8C8C8C"/>
                </a:solidFill>
                <a:latin typeface="Montserrat" pitchFamily="34" charset="0"/>
                <a:ea typeface="Montserrat" pitchFamily="34" charset="-122"/>
                <a:cs typeface="Montserrat" pitchFamily="34" charset="-120"/>
              </a:rPr>
              <a:t>Village</a:t>
            </a:r>
            <a:endParaRPr lang="en-US" sz="900" dirty="0"/>
          </a:p>
        </p:txBody>
      </p:sp>
      <p:sp>
        <p:nvSpPr>
          <p:cNvPr id="3" name="Shape 1"/>
          <p:cNvSpPr/>
          <p:nvPr/>
        </p:nvSpPr>
        <p:spPr>
          <a:xfrm>
            <a:off x="2377440" y="91440"/>
            <a:ext cx="1097280" cy="32004"/>
          </a:xfrm>
          <a:prstGeom prst="rect">
            <a:avLst/>
          </a:prstGeom>
          <a:solidFill>
            <a:srgbClr val="111111"/>
          </a:solidFill>
          <a:ln w="12700">
            <a:solidFill>
              <a:srgbClr val="111111"/>
            </a:solidFill>
            <a:prstDash val="solid"/>
          </a:ln>
        </p:spPr>
      </p:sp>
      <p:sp>
        <p:nvSpPr>
          <p:cNvPr id="4" name="Text 2"/>
          <p:cNvSpPr/>
          <p:nvPr/>
        </p:nvSpPr>
        <p:spPr>
          <a:xfrm>
            <a:off x="2103120" y="146304"/>
            <a:ext cx="1645920" cy="228600"/>
          </a:xfrm>
          <a:prstGeom prst="rect">
            <a:avLst/>
          </a:prstGeom>
          <a:noFill/>
          <a:ln/>
        </p:spPr>
        <p:txBody>
          <a:bodyPr wrap="square" lIns="0" tIns="0" rIns="0" bIns="0" rtlCol="0" anchor="t"/>
          <a:lstStyle/>
          <a:p>
            <a:pPr algn="ctr" indent="0" marL="0">
              <a:buNone/>
            </a:pPr>
            <a:r>
              <a:rPr lang="en-US" sz="900" b="1" dirty="0">
                <a:solidFill>
                  <a:srgbClr val="111111"/>
                </a:solidFill>
                <a:latin typeface="Montserrat" pitchFamily="34" charset="0"/>
                <a:ea typeface="Montserrat" pitchFamily="34" charset="-122"/>
                <a:cs typeface="Montserrat" pitchFamily="34" charset="-120"/>
              </a:rPr>
              <a:t>Problem</a:t>
            </a:r>
            <a:endParaRPr lang="en-US" sz="900" dirty="0"/>
          </a:p>
        </p:txBody>
      </p:sp>
      <p:sp>
        <p:nvSpPr>
          <p:cNvPr id="5" name="Text 3"/>
          <p:cNvSpPr/>
          <p:nvPr/>
        </p:nvSpPr>
        <p:spPr>
          <a:xfrm>
            <a:off x="3749040" y="146304"/>
            <a:ext cx="1645920" cy="228600"/>
          </a:xfrm>
          <a:prstGeom prst="rect">
            <a:avLst/>
          </a:prstGeom>
          <a:noFill/>
          <a:ln/>
        </p:spPr>
        <p:txBody>
          <a:bodyPr wrap="square" lIns="0" tIns="0" rIns="0" bIns="0" rtlCol="0" anchor="t"/>
          <a:lstStyle/>
          <a:p>
            <a:pPr algn="ctr" indent="0" marL="0">
              <a:buNone/>
            </a:pPr>
            <a:r>
              <a:rPr lang="en-US" sz="900" dirty="0">
                <a:solidFill>
                  <a:srgbClr val="8C8C8C"/>
                </a:solidFill>
                <a:latin typeface="Montserrat" pitchFamily="34" charset="0"/>
                <a:ea typeface="Montserrat" pitchFamily="34" charset="-122"/>
                <a:cs typeface="Montserrat" pitchFamily="34" charset="-120"/>
              </a:rPr>
              <a:t>Solution</a:t>
            </a:r>
            <a:endParaRPr lang="en-US" sz="900" dirty="0"/>
          </a:p>
        </p:txBody>
      </p:sp>
      <p:sp>
        <p:nvSpPr>
          <p:cNvPr id="6" name="Text 4"/>
          <p:cNvSpPr/>
          <p:nvPr/>
        </p:nvSpPr>
        <p:spPr>
          <a:xfrm>
            <a:off x="5394960" y="146304"/>
            <a:ext cx="1645920" cy="228600"/>
          </a:xfrm>
          <a:prstGeom prst="rect">
            <a:avLst/>
          </a:prstGeom>
          <a:noFill/>
          <a:ln/>
        </p:spPr>
        <p:txBody>
          <a:bodyPr wrap="square" lIns="0" tIns="0" rIns="0" bIns="0" rtlCol="0" anchor="t"/>
          <a:lstStyle/>
          <a:p>
            <a:pPr algn="ctr" indent="0" marL="0">
              <a:buNone/>
            </a:pPr>
            <a:r>
              <a:rPr lang="en-US" sz="900" dirty="0">
                <a:solidFill>
                  <a:srgbClr val="8C8C8C"/>
                </a:solidFill>
                <a:latin typeface="Montserrat" pitchFamily="34" charset="0"/>
                <a:ea typeface="Montserrat" pitchFamily="34" charset="-122"/>
                <a:cs typeface="Montserrat" pitchFamily="34" charset="-120"/>
              </a:rPr>
              <a:t>Demo</a:t>
            </a:r>
            <a:endParaRPr lang="en-US" sz="900" dirty="0"/>
          </a:p>
        </p:txBody>
      </p:sp>
      <p:sp>
        <p:nvSpPr>
          <p:cNvPr id="7" name="Text 5"/>
          <p:cNvSpPr/>
          <p:nvPr/>
        </p:nvSpPr>
        <p:spPr>
          <a:xfrm>
            <a:off x="7040880" y="146304"/>
            <a:ext cx="1645920" cy="228600"/>
          </a:xfrm>
          <a:prstGeom prst="rect">
            <a:avLst/>
          </a:prstGeom>
          <a:noFill/>
          <a:ln/>
        </p:spPr>
        <p:txBody>
          <a:bodyPr wrap="square" lIns="0" tIns="0" rIns="0" bIns="0" rtlCol="0" anchor="t"/>
          <a:lstStyle/>
          <a:p>
            <a:pPr algn="ctr" indent="0" marL="0">
              <a:buNone/>
            </a:pPr>
            <a:r>
              <a:rPr lang="en-US" sz="900" dirty="0">
                <a:solidFill>
                  <a:srgbClr val="8C8C8C"/>
                </a:solidFill>
                <a:latin typeface="Montserrat" pitchFamily="34" charset="0"/>
                <a:ea typeface="Montserrat" pitchFamily="34" charset="-122"/>
                <a:cs typeface="Montserrat" pitchFamily="34" charset="-120"/>
              </a:rPr>
              <a:t>Impact</a:t>
            </a:r>
            <a:endParaRPr lang="en-US" sz="900" dirty="0"/>
          </a:p>
        </p:txBody>
      </p:sp>
      <p:sp>
        <p:nvSpPr>
          <p:cNvPr id="8" name="Text 6"/>
          <p:cNvSpPr/>
          <p:nvPr/>
        </p:nvSpPr>
        <p:spPr>
          <a:xfrm>
            <a:off x="457200" y="457200"/>
            <a:ext cx="8229600" cy="502920"/>
          </a:xfrm>
          <a:prstGeom prst="rect">
            <a:avLst/>
          </a:prstGeom>
          <a:noFill/>
          <a:ln/>
        </p:spPr>
        <p:txBody>
          <a:bodyPr wrap="square" lIns="0" tIns="0" rIns="0" bIns="0" rtlCol="0" anchor="t"/>
          <a:lstStyle/>
          <a:p>
            <a:pPr algn="ctr" indent="0" marL="0">
              <a:buNone/>
            </a:pPr>
            <a:r>
              <a:rPr lang="en-US" sz="2600" b="1" dirty="0">
                <a:solidFill>
                  <a:srgbClr val="111111"/>
                </a:solidFill>
                <a:latin typeface="Montserrat" pitchFamily="34" charset="0"/>
                <a:ea typeface="Montserrat" pitchFamily="34" charset="-122"/>
                <a:cs typeface="Montserrat" pitchFamily="34" charset="-120"/>
              </a:rPr>
              <a:t>Connected, But Not Informed</a:t>
            </a:r>
            <a:endParaRPr lang="en-US" sz="2600" dirty="0"/>
          </a:p>
        </p:txBody>
      </p:sp>
      <p:sp>
        <p:nvSpPr>
          <p:cNvPr id="9" name="Text 7"/>
          <p:cNvSpPr/>
          <p:nvPr/>
        </p:nvSpPr>
        <p:spPr>
          <a:xfrm>
            <a:off x="457200" y="950976"/>
            <a:ext cx="8229600" cy="274320"/>
          </a:xfrm>
          <a:prstGeom prst="rect">
            <a:avLst/>
          </a:prstGeom>
          <a:noFill/>
          <a:ln/>
        </p:spPr>
        <p:txBody>
          <a:bodyPr wrap="square" lIns="0" tIns="0" rIns="0" bIns="0" rtlCol="0" anchor="t"/>
          <a:lstStyle/>
          <a:p>
            <a:pPr algn="ctr" indent="0" marL="0">
              <a:buNone/>
            </a:pPr>
            <a:r>
              <a:rPr lang="en-US" sz="1200" b="1" dirty="0">
                <a:solidFill>
                  <a:srgbClr val="555555"/>
                </a:solidFill>
                <a:latin typeface="Montserrat" pitchFamily="34" charset="0"/>
                <a:ea typeface="Montserrat" pitchFamily="34" charset="-122"/>
                <a:cs typeface="Montserrat" pitchFamily="34" charset="-120"/>
              </a:rPr>
              <a:t>Search “Desa Marga Mulya Mauk”: 0 official websites found</a:t>
            </a:r>
            <a:endParaRPr lang="en-US" sz="1200" dirty="0"/>
          </a:p>
        </p:txBody>
      </p:sp>
      <p:sp>
        <p:nvSpPr>
          <p:cNvPr id="10" name="Shape 8"/>
          <p:cNvSpPr/>
          <p:nvPr/>
        </p:nvSpPr>
        <p:spPr>
          <a:xfrm>
            <a:off x="502920" y="1371600"/>
            <a:ext cx="2606040" cy="2788920"/>
          </a:xfrm>
          <a:prstGeom prst="roundRect">
            <a:avLst>
              <a:gd name="adj" fmla="val 3509"/>
            </a:avLst>
          </a:prstGeom>
          <a:solidFill>
            <a:srgbClr val="FFFFFF">
              <a:alpha val="80000"/>
            </a:srgbClr>
          </a:solidFill>
          <a:ln w="15875">
            <a:solidFill>
              <a:srgbClr val="111111"/>
            </a:solidFill>
            <a:prstDash val="sysDot"/>
          </a:ln>
        </p:spPr>
      </p:sp>
      <p:sp>
        <p:nvSpPr>
          <p:cNvPr id="11" name="Text 9"/>
          <p:cNvSpPr/>
          <p:nvPr/>
        </p:nvSpPr>
        <p:spPr>
          <a:xfrm>
            <a:off x="502920" y="1508760"/>
            <a:ext cx="2606040" cy="274320"/>
          </a:xfrm>
          <a:prstGeom prst="rect">
            <a:avLst/>
          </a:prstGeom>
          <a:noFill/>
          <a:ln/>
        </p:spPr>
        <p:txBody>
          <a:bodyPr wrap="square" lIns="0" tIns="0" rIns="0" bIns="0" rtlCol="0" anchor="t"/>
          <a:lstStyle/>
          <a:p>
            <a:pPr algn="ctr" indent="0" marL="0">
              <a:buNone/>
            </a:pPr>
            <a:r>
              <a:rPr lang="en-US" sz="1400" b="1" dirty="0">
                <a:solidFill>
                  <a:srgbClr val="111111"/>
                </a:solidFill>
                <a:latin typeface="Montserrat" pitchFamily="34" charset="0"/>
                <a:ea typeface="Montserrat" pitchFamily="34" charset="-122"/>
                <a:cs typeface="Montserrat" pitchFamily="34" charset="-120"/>
              </a:rPr>
              <a:t>Rural Reach</a:t>
            </a:r>
            <a:endParaRPr lang="en-US" sz="1400" dirty="0"/>
          </a:p>
        </p:txBody>
      </p:sp>
      <p:sp>
        <p:nvSpPr>
          <p:cNvPr id="12" name="Text 10"/>
          <p:cNvSpPr/>
          <p:nvPr/>
        </p:nvSpPr>
        <p:spPr>
          <a:xfrm>
            <a:off x="685800" y="1828800"/>
            <a:ext cx="1234440" cy="502920"/>
          </a:xfrm>
          <a:prstGeom prst="rect">
            <a:avLst/>
          </a:prstGeom>
          <a:noFill/>
          <a:ln/>
        </p:spPr>
        <p:txBody>
          <a:bodyPr wrap="square" lIns="0" tIns="0" rIns="0" bIns="0" rtlCol="0" anchor="t"/>
          <a:lstStyle/>
          <a:p>
            <a:pPr indent="0" marL="0">
              <a:buNone/>
            </a:pPr>
            <a:r>
              <a:rPr lang="en-US" sz="3200" b="1" dirty="0">
                <a:solidFill>
                  <a:srgbClr val="111111"/>
                </a:solidFill>
                <a:latin typeface="Montserrat" pitchFamily="34" charset="0"/>
                <a:ea typeface="Montserrat" pitchFamily="34" charset="-122"/>
                <a:cs typeface="Montserrat" pitchFamily="34" charset="-120"/>
              </a:rPr>
              <a:t>74%</a:t>
            </a:r>
            <a:endParaRPr lang="en-US" sz="3200" dirty="0"/>
          </a:p>
        </p:txBody>
      </p:sp>
      <p:sp>
        <p:nvSpPr>
          <p:cNvPr id="13" name="Text 11"/>
          <p:cNvSpPr/>
          <p:nvPr/>
        </p:nvSpPr>
        <p:spPr>
          <a:xfrm>
            <a:off x="1920240" y="1874520"/>
            <a:ext cx="1051560" cy="457200"/>
          </a:xfrm>
          <a:prstGeom prst="rect">
            <a:avLst/>
          </a:prstGeom>
          <a:noFill/>
          <a:ln/>
        </p:spPr>
        <p:txBody>
          <a:bodyPr wrap="square" lIns="0" tIns="0" rIns="0" bIns="0" rtlCol="0" anchor="t"/>
          <a:lstStyle/>
          <a:p>
            <a:pPr indent="0" marL="0">
              <a:buNone/>
            </a:pPr>
            <a:r>
              <a:rPr lang="en-US" sz="900" b="1" dirty="0">
                <a:solidFill>
                  <a:srgbClr val="111111"/>
                </a:solidFill>
                <a:latin typeface="Montserrat" pitchFamily="34" charset="0"/>
                <a:ea typeface="Montserrat" pitchFamily="34" charset="-122"/>
                <a:cs typeface="Montserrat" pitchFamily="34" charset="-120"/>
              </a:rPr>
              <a:t>of rural residents are online</a:t>
            </a:r>
            <a:endParaRPr lang="en-US" sz="900" dirty="0"/>
          </a:p>
        </p:txBody>
      </p:sp>
      <p:graphicFrame>
        <p:nvGraphicFramePr>
          <p:cNvPr id="14" name="Chart 0" descr=""/>
          <p:cNvGraphicFramePr/>
          <p:nvPr/>
        </p:nvGraphicFramePr>
        <p:xfrm>
          <a:off x="1161288" y="2359152"/>
          <a:ext cx="1280160" cy="1280160"/>
        </p:xfrm>
        <a:graphic xmlns:a="http://schemas.openxmlformats.org/drawingml/2006/main">
          <a:graphicData uri="http://schemas.openxmlformats.org/drawingml/2006/chart">
            <c:chart xmlns:c="http://schemas.openxmlformats.org/drawingml/2006/chart" r:id="rId2"/>
          </a:graphicData>
        </a:graphic>
      </p:graphicFrame>
      <p:sp>
        <p:nvSpPr>
          <p:cNvPr id="15" name="Text 12"/>
          <p:cNvSpPr/>
          <p:nvPr/>
        </p:nvSpPr>
        <p:spPr>
          <a:xfrm>
            <a:off x="685800" y="3657600"/>
            <a:ext cx="2240280" cy="411480"/>
          </a:xfrm>
          <a:prstGeom prst="rect">
            <a:avLst/>
          </a:prstGeom>
          <a:noFill/>
          <a:ln/>
        </p:spPr>
        <p:txBody>
          <a:bodyPr wrap="square" lIns="0" tIns="0" rIns="0" bIns="0" rtlCol="0" anchor="t"/>
          <a:lstStyle/>
          <a:p>
            <a:pPr algn="ctr" indent="0" marL="0">
              <a:buNone/>
            </a:pPr>
            <a:r>
              <a:rPr lang="en-US" sz="900" dirty="0">
                <a:solidFill>
                  <a:srgbClr val="111111"/>
                </a:solidFill>
                <a:latin typeface="Montserrat" pitchFamily="34" charset="0"/>
                <a:ea typeface="Montserrat" pitchFamily="34" charset="-122"/>
                <a:cs typeface="Montserrat" pitchFamily="34" charset="-120"/>
              </a:rPr>
              <a:t>yet rural areas make up only 30.5% of national internet use</a:t>
            </a:r>
            <a:endParaRPr lang="en-US" sz="900" dirty="0"/>
          </a:p>
        </p:txBody>
      </p:sp>
      <p:sp>
        <p:nvSpPr>
          <p:cNvPr id="16" name="Shape 13"/>
          <p:cNvSpPr/>
          <p:nvPr/>
        </p:nvSpPr>
        <p:spPr>
          <a:xfrm>
            <a:off x="3268980" y="1371600"/>
            <a:ext cx="2606040" cy="2788920"/>
          </a:xfrm>
          <a:prstGeom prst="roundRect">
            <a:avLst>
              <a:gd name="adj" fmla="val 3509"/>
            </a:avLst>
          </a:prstGeom>
          <a:solidFill>
            <a:srgbClr val="FFFFFF">
              <a:alpha val="80000"/>
            </a:srgbClr>
          </a:solidFill>
          <a:ln w="15875">
            <a:solidFill>
              <a:srgbClr val="111111"/>
            </a:solidFill>
            <a:prstDash val="sysDot"/>
          </a:ln>
        </p:spPr>
      </p:sp>
      <p:sp>
        <p:nvSpPr>
          <p:cNvPr id="17" name="Text 14"/>
          <p:cNvSpPr/>
          <p:nvPr/>
        </p:nvSpPr>
        <p:spPr>
          <a:xfrm>
            <a:off x="3268980" y="1508760"/>
            <a:ext cx="2606040" cy="274320"/>
          </a:xfrm>
          <a:prstGeom prst="rect">
            <a:avLst/>
          </a:prstGeom>
          <a:noFill/>
          <a:ln/>
        </p:spPr>
        <p:txBody>
          <a:bodyPr wrap="square" lIns="0" tIns="0" rIns="0" bIns="0" rtlCol="0" anchor="t"/>
          <a:lstStyle/>
          <a:p>
            <a:pPr algn="ctr" indent="0" marL="0">
              <a:buNone/>
            </a:pPr>
            <a:r>
              <a:rPr lang="en-US" sz="1400" b="1" dirty="0">
                <a:solidFill>
                  <a:srgbClr val="111111"/>
                </a:solidFill>
                <a:latin typeface="Montserrat" pitchFamily="34" charset="0"/>
                <a:ea typeface="Montserrat" pitchFamily="34" charset="-122"/>
                <a:cs typeface="Montserrat" pitchFamily="34" charset="-120"/>
              </a:rPr>
              <a:t>The Analog Trap</a:t>
            </a:r>
            <a:endParaRPr lang="en-US" sz="1400" dirty="0"/>
          </a:p>
        </p:txBody>
      </p:sp>
      <p:sp>
        <p:nvSpPr>
          <p:cNvPr id="18" name="Text 15"/>
          <p:cNvSpPr/>
          <p:nvPr/>
        </p:nvSpPr>
        <p:spPr>
          <a:xfrm>
            <a:off x="3451860" y="1874520"/>
            <a:ext cx="2240280" cy="457200"/>
          </a:xfrm>
          <a:prstGeom prst="rect">
            <a:avLst/>
          </a:prstGeom>
          <a:noFill/>
          <a:ln/>
        </p:spPr>
        <p:txBody>
          <a:bodyPr wrap="square" lIns="0" tIns="0" rIns="0" bIns="0" rtlCol="0" anchor="t"/>
          <a:lstStyle/>
          <a:p>
            <a:pPr algn="ctr" indent="0" marL="0">
              <a:buNone/>
            </a:pPr>
            <a:r>
              <a:rPr lang="en-US" sz="1200" b="1" dirty="0">
                <a:solidFill>
                  <a:srgbClr val="111111"/>
                </a:solidFill>
                <a:latin typeface="Montserrat" pitchFamily="34" charset="0"/>
                <a:ea typeface="Montserrat" pitchFamily="34" charset="-122"/>
                <a:cs typeface="Montserrat" pitchFamily="34" charset="-120"/>
              </a:rPr>
              <a:t>6 of 10 MSMEs are still offline</a:t>
            </a:r>
            <a:endParaRPr lang="en-US" sz="1200" dirty="0"/>
          </a:p>
        </p:txBody>
      </p:sp>
      <p:pic>
        <p:nvPicPr>
          <p:cNvPr id="19" name="Image 0" descr="/home/runner/work/Desa-Marga-Mulya/Desa-Marga-Mulya/deck/assets/build/red/store-on.png">    </p:cNvPr>
          <p:cNvPicPr>
            <a:picLocks noChangeAspect="1"/>
          </p:cNvPicPr>
          <p:nvPr/>
        </p:nvPicPr>
        <p:blipFill>
          <a:blip r:embed="rId3"/>
          <a:stretch>
            <a:fillRect/>
          </a:stretch>
        </p:blipFill>
        <p:spPr>
          <a:xfrm>
            <a:off x="3543300" y="2468880"/>
            <a:ext cx="347472" cy="347472"/>
          </a:xfrm>
          <a:prstGeom prst="rect">
            <a:avLst/>
          </a:prstGeom>
        </p:spPr>
      </p:pic>
      <p:pic>
        <p:nvPicPr>
          <p:cNvPr id="20" name="Image 1" descr="/home/runner/work/Desa-Marga-Mulya/Desa-Marga-Mulya/deck/assets/build/red/store-on.png">    </p:cNvPr>
          <p:cNvPicPr>
            <a:picLocks noChangeAspect="1"/>
          </p:cNvPicPr>
          <p:nvPr/>
        </p:nvPicPr>
        <p:blipFill>
          <a:blip r:embed="rId4"/>
          <a:stretch>
            <a:fillRect/>
          </a:stretch>
        </p:blipFill>
        <p:spPr>
          <a:xfrm>
            <a:off x="3963924" y="2468880"/>
            <a:ext cx="347472" cy="347472"/>
          </a:xfrm>
          <a:prstGeom prst="rect">
            <a:avLst/>
          </a:prstGeom>
        </p:spPr>
      </p:pic>
      <p:pic>
        <p:nvPicPr>
          <p:cNvPr id="21" name="Image 2" descr="/home/runner/work/Desa-Marga-Mulya/Desa-Marga-Mulya/deck/assets/build/red/store-on.png">    </p:cNvPr>
          <p:cNvPicPr>
            <a:picLocks noChangeAspect="1"/>
          </p:cNvPicPr>
          <p:nvPr/>
        </p:nvPicPr>
        <p:blipFill>
          <a:blip r:embed="rId5"/>
          <a:stretch>
            <a:fillRect/>
          </a:stretch>
        </p:blipFill>
        <p:spPr>
          <a:xfrm>
            <a:off x="4384548" y="2468880"/>
            <a:ext cx="347472" cy="347472"/>
          </a:xfrm>
          <a:prstGeom prst="rect">
            <a:avLst/>
          </a:prstGeom>
        </p:spPr>
      </p:pic>
      <p:pic>
        <p:nvPicPr>
          <p:cNvPr id="22" name="Image 3" descr="/home/runner/work/Desa-Marga-Mulya/Desa-Marga-Mulya/deck/assets/build/red/store-on.png">    </p:cNvPr>
          <p:cNvPicPr>
            <a:picLocks noChangeAspect="1"/>
          </p:cNvPicPr>
          <p:nvPr/>
        </p:nvPicPr>
        <p:blipFill>
          <a:blip r:embed="rId6"/>
          <a:stretch>
            <a:fillRect/>
          </a:stretch>
        </p:blipFill>
        <p:spPr>
          <a:xfrm>
            <a:off x="4805172" y="2468880"/>
            <a:ext cx="347472" cy="347472"/>
          </a:xfrm>
          <a:prstGeom prst="rect">
            <a:avLst/>
          </a:prstGeom>
        </p:spPr>
      </p:pic>
      <p:pic>
        <p:nvPicPr>
          <p:cNvPr id="23" name="Image 4" descr="/home/runner/work/Desa-Marga-Mulya/Desa-Marga-Mulya/deck/assets/build/red/store-on.png">    </p:cNvPr>
          <p:cNvPicPr>
            <a:picLocks noChangeAspect="1"/>
          </p:cNvPicPr>
          <p:nvPr/>
        </p:nvPicPr>
        <p:blipFill>
          <a:blip r:embed="rId7"/>
          <a:stretch>
            <a:fillRect/>
          </a:stretch>
        </p:blipFill>
        <p:spPr>
          <a:xfrm>
            <a:off x="5225796" y="2468880"/>
            <a:ext cx="347472" cy="347472"/>
          </a:xfrm>
          <a:prstGeom prst="rect">
            <a:avLst/>
          </a:prstGeom>
        </p:spPr>
      </p:pic>
      <p:pic>
        <p:nvPicPr>
          <p:cNvPr id="24" name="Image 5" descr="/home/runner/work/Desa-Marga-Mulya/Desa-Marga-Mulya/deck/assets/build/red/store-on.png">    </p:cNvPr>
          <p:cNvPicPr>
            <a:picLocks noChangeAspect="1"/>
          </p:cNvPicPr>
          <p:nvPr/>
        </p:nvPicPr>
        <p:blipFill>
          <a:blip r:embed="rId8"/>
          <a:stretch>
            <a:fillRect/>
          </a:stretch>
        </p:blipFill>
        <p:spPr>
          <a:xfrm>
            <a:off x="3543300" y="2971800"/>
            <a:ext cx="347472" cy="347472"/>
          </a:xfrm>
          <a:prstGeom prst="rect">
            <a:avLst/>
          </a:prstGeom>
        </p:spPr>
      </p:pic>
      <p:pic>
        <p:nvPicPr>
          <p:cNvPr id="25" name="Image 6" descr="/home/runner/work/Desa-Marga-Mulya/Desa-Marga-Mulya/deck/assets/build/red/store-off.png">    </p:cNvPr>
          <p:cNvPicPr>
            <a:picLocks noChangeAspect="1"/>
          </p:cNvPicPr>
          <p:nvPr/>
        </p:nvPicPr>
        <p:blipFill>
          <a:blip r:embed="rId9"/>
          <a:stretch>
            <a:fillRect/>
          </a:stretch>
        </p:blipFill>
        <p:spPr>
          <a:xfrm>
            <a:off x="3963924" y="2971800"/>
            <a:ext cx="347472" cy="347472"/>
          </a:xfrm>
          <a:prstGeom prst="rect">
            <a:avLst/>
          </a:prstGeom>
        </p:spPr>
      </p:pic>
      <p:pic>
        <p:nvPicPr>
          <p:cNvPr id="26" name="Image 7" descr="/home/runner/work/Desa-Marga-Mulya/Desa-Marga-Mulya/deck/assets/build/red/store-off.png">    </p:cNvPr>
          <p:cNvPicPr>
            <a:picLocks noChangeAspect="1"/>
          </p:cNvPicPr>
          <p:nvPr/>
        </p:nvPicPr>
        <p:blipFill>
          <a:blip r:embed="rId10"/>
          <a:stretch>
            <a:fillRect/>
          </a:stretch>
        </p:blipFill>
        <p:spPr>
          <a:xfrm>
            <a:off x="4384548" y="2971800"/>
            <a:ext cx="347472" cy="347472"/>
          </a:xfrm>
          <a:prstGeom prst="rect">
            <a:avLst/>
          </a:prstGeom>
        </p:spPr>
      </p:pic>
      <p:pic>
        <p:nvPicPr>
          <p:cNvPr id="27" name="Image 8" descr="/home/runner/work/Desa-Marga-Mulya/Desa-Marga-Mulya/deck/assets/build/red/store-off.png">    </p:cNvPr>
          <p:cNvPicPr>
            <a:picLocks noChangeAspect="1"/>
          </p:cNvPicPr>
          <p:nvPr/>
        </p:nvPicPr>
        <p:blipFill>
          <a:blip r:embed="rId11"/>
          <a:stretch>
            <a:fillRect/>
          </a:stretch>
        </p:blipFill>
        <p:spPr>
          <a:xfrm>
            <a:off x="4805172" y="2971800"/>
            <a:ext cx="347472" cy="347472"/>
          </a:xfrm>
          <a:prstGeom prst="rect">
            <a:avLst/>
          </a:prstGeom>
        </p:spPr>
      </p:pic>
      <p:pic>
        <p:nvPicPr>
          <p:cNvPr id="28" name="Image 9" descr="/home/runner/work/Desa-Marga-Mulya/Desa-Marga-Mulya/deck/assets/build/red/store-off.png">    </p:cNvPr>
          <p:cNvPicPr>
            <a:picLocks noChangeAspect="1"/>
          </p:cNvPicPr>
          <p:nvPr/>
        </p:nvPicPr>
        <p:blipFill>
          <a:blip r:embed="rId12"/>
          <a:stretch>
            <a:fillRect/>
          </a:stretch>
        </p:blipFill>
        <p:spPr>
          <a:xfrm>
            <a:off x="5225796" y="2971800"/>
            <a:ext cx="347472" cy="347472"/>
          </a:xfrm>
          <a:prstGeom prst="rect">
            <a:avLst/>
          </a:prstGeom>
        </p:spPr>
      </p:pic>
      <p:sp>
        <p:nvSpPr>
          <p:cNvPr id="29" name="Text 16"/>
          <p:cNvSpPr/>
          <p:nvPr/>
        </p:nvSpPr>
        <p:spPr>
          <a:xfrm>
            <a:off x="3451860" y="3657600"/>
            <a:ext cx="2240280" cy="411480"/>
          </a:xfrm>
          <a:prstGeom prst="rect">
            <a:avLst/>
          </a:prstGeom>
          <a:noFill/>
          <a:ln/>
        </p:spPr>
        <p:txBody>
          <a:bodyPr wrap="square" lIns="0" tIns="0" rIns="0" bIns="0" rtlCol="0" anchor="t"/>
          <a:lstStyle/>
          <a:p>
            <a:pPr algn="ctr" indent="0" marL="0">
              <a:buNone/>
            </a:pPr>
            <a:r>
              <a:rPr lang="en-US" sz="900" dirty="0">
                <a:solidFill>
                  <a:srgbClr val="111111"/>
                </a:solidFill>
                <a:latin typeface="Montserrat" pitchFamily="34" charset="0"/>
                <a:ea typeface="Montserrat" pitchFamily="34" charset="-122"/>
                <a:cs typeface="Montserrat" pitchFamily="34" charset="-120"/>
              </a:rPr>
              <a:t>27M of ~65M MSMEs are digital</a:t>
            </a:r>
            <a:endParaRPr lang="en-US" sz="900" dirty="0"/>
          </a:p>
        </p:txBody>
      </p:sp>
      <p:sp>
        <p:nvSpPr>
          <p:cNvPr id="30" name="Shape 17"/>
          <p:cNvSpPr/>
          <p:nvPr/>
        </p:nvSpPr>
        <p:spPr>
          <a:xfrm>
            <a:off x="6035040" y="1371600"/>
            <a:ext cx="2606040" cy="2788920"/>
          </a:xfrm>
          <a:prstGeom prst="roundRect">
            <a:avLst>
              <a:gd name="adj" fmla="val 3509"/>
            </a:avLst>
          </a:prstGeom>
          <a:solidFill>
            <a:srgbClr val="FFFFFF">
              <a:alpha val="80000"/>
            </a:srgbClr>
          </a:solidFill>
          <a:ln w="15875">
            <a:solidFill>
              <a:srgbClr val="111111"/>
            </a:solidFill>
            <a:prstDash val="sysDot"/>
          </a:ln>
        </p:spPr>
      </p:sp>
      <p:sp>
        <p:nvSpPr>
          <p:cNvPr id="31" name="Text 18"/>
          <p:cNvSpPr/>
          <p:nvPr/>
        </p:nvSpPr>
        <p:spPr>
          <a:xfrm>
            <a:off x="6035040" y="1508760"/>
            <a:ext cx="2606040" cy="274320"/>
          </a:xfrm>
          <a:prstGeom prst="rect">
            <a:avLst/>
          </a:prstGeom>
          <a:noFill/>
          <a:ln/>
        </p:spPr>
        <p:txBody>
          <a:bodyPr wrap="square" lIns="0" tIns="0" rIns="0" bIns="0" rtlCol="0" anchor="t"/>
          <a:lstStyle/>
          <a:p>
            <a:pPr algn="ctr" indent="0" marL="0">
              <a:buNone/>
            </a:pPr>
            <a:r>
              <a:rPr lang="en-US" sz="1400" b="1" dirty="0">
                <a:solidFill>
                  <a:srgbClr val="111111"/>
                </a:solidFill>
                <a:latin typeface="Montserrat" pitchFamily="34" charset="0"/>
                <a:ea typeface="Montserrat" pitchFamily="34" charset="-122"/>
                <a:cs typeface="Montserrat" pitchFamily="34" charset="-120"/>
              </a:rPr>
              <a:t>The Nation’s Engine</a:t>
            </a:r>
            <a:endParaRPr lang="en-US" sz="1400" dirty="0"/>
          </a:p>
        </p:txBody>
      </p:sp>
      <p:sp>
        <p:nvSpPr>
          <p:cNvPr id="32" name="Shape 19"/>
          <p:cNvSpPr/>
          <p:nvPr/>
        </p:nvSpPr>
        <p:spPr>
          <a:xfrm>
            <a:off x="6236208" y="1920240"/>
            <a:ext cx="1051560" cy="1417320"/>
          </a:xfrm>
          <a:prstGeom prst="roundRect">
            <a:avLst>
              <a:gd name="adj" fmla="val 10435"/>
            </a:avLst>
          </a:prstGeom>
          <a:solidFill>
            <a:srgbClr val="FFFFFF"/>
          </a:solidFill>
          <a:ln w="12700">
            <a:solidFill>
              <a:srgbClr val="111111"/>
            </a:solidFill>
            <a:prstDash val="solid"/>
          </a:ln>
        </p:spPr>
      </p:sp>
      <p:sp>
        <p:nvSpPr>
          <p:cNvPr id="33" name="Text 20"/>
          <p:cNvSpPr/>
          <p:nvPr/>
        </p:nvSpPr>
        <p:spPr>
          <a:xfrm>
            <a:off x="6236208" y="2240280"/>
            <a:ext cx="1051560" cy="457200"/>
          </a:xfrm>
          <a:prstGeom prst="rect">
            <a:avLst/>
          </a:prstGeom>
          <a:noFill/>
          <a:ln/>
        </p:spPr>
        <p:txBody>
          <a:bodyPr wrap="square" lIns="0" tIns="0" rIns="0" bIns="0" rtlCol="0" anchor="t"/>
          <a:lstStyle/>
          <a:p>
            <a:pPr algn="ctr" indent="0" marL="0">
              <a:buNone/>
            </a:pPr>
            <a:r>
              <a:rPr lang="en-US" sz="2400" b="1" dirty="0">
                <a:solidFill>
                  <a:srgbClr val="111111"/>
                </a:solidFill>
                <a:latin typeface="Montserrat" pitchFamily="34" charset="0"/>
                <a:ea typeface="Montserrat" pitchFamily="34" charset="-122"/>
                <a:cs typeface="Montserrat" pitchFamily="34" charset="-120"/>
              </a:rPr>
              <a:t>61%</a:t>
            </a:r>
            <a:endParaRPr lang="en-US" sz="2400" dirty="0"/>
          </a:p>
        </p:txBody>
      </p:sp>
      <p:sp>
        <p:nvSpPr>
          <p:cNvPr id="34" name="Text 21"/>
          <p:cNvSpPr/>
          <p:nvPr/>
        </p:nvSpPr>
        <p:spPr>
          <a:xfrm>
            <a:off x="6236208" y="2788920"/>
            <a:ext cx="1051560" cy="274320"/>
          </a:xfrm>
          <a:prstGeom prst="rect">
            <a:avLst/>
          </a:prstGeom>
          <a:noFill/>
          <a:ln/>
        </p:spPr>
        <p:txBody>
          <a:bodyPr wrap="square" lIns="0" tIns="0" rIns="0" bIns="0" rtlCol="0" anchor="t"/>
          <a:lstStyle/>
          <a:p>
            <a:pPr algn="ctr" indent="0" marL="0">
              <a:buNone/>
            </a:pPr>
            <a:r>
              <a:rPr lang="en-US" sz="900" b="1" dirty="0">
                <a:solidFill>
                  <a:srgbClr val="111111"/>
                </a:solidFill>
                <a:latin typeface="Montserrat" pitchFamily="34" charset="0"/>
                <a:ea typeface="Montserrat" pitchFamily="34" charset="-122"/>
                <a:cs typeface="Montserrat" pitchFamily="34" charset="-120"/>
              </a:rPr>
              <a:t>of GDP</a:t>
            </a:r>
            <a:endParaRPr lang="en-US" sz="900" dirty="0"/>
          </a:p>
        </p:txBody>
      </p:sp>
      <p:sp>
        <p:nvSpPr>
          <p:cNvPr id="35" name="Shape 22"/>
          <p:cNvSpPr/>
          <p:nvPr/>
        </p:nvSpPr>
        <p:spPr>
          <a:xfrm>
            <a:off x="7379208" y="1920240"/>
            <a:ext cx="1051560" cy="1417320"/>
          </a:xfrm>
          <a:prstGeom prst="roundRect">
            <a:avLst>
              <a:gd name="adj" fmla="val 10435"/>
            </a:avLst>
          </a:prstGeom>
          <a:solidFill>
            <a:srgbClr val="FFFFFF"/>
          </a:solidFill>
          <a:ln w="12700">
            <a:solidFill>
              <a:srgbClr val="111111"/>
            </a:solidFill>
            <a:prstDash val="solid"/>
          </a:ln>
        </p:spPr>
      </p:sp>
      <p:sp>
        <p:nvSpPr>
          <p:cNvPr id="36" name="Text 23"/>
          <p:cNvSpPr/>
          <p:nvPr/>
        </p:nvSpPr>
        <p:spPr>
          <a:xfrm>
            <a:off x="7379208" y="2240280"/>
            <a:ext cx="1051560" cy="457200"/>
          </a:xfrm>
          <a:prstGeom prst="rect">
            <a:avLst/>
          </a:prstGeom>
          <a:noFill/>
          <a:ln/>
        </p:spPr>
        <p:txBody>
          <a:bodyPr wrap="square" lIns="0" tIns="0" rIns="0" bIns="0" rtlCol="0" anchor="t"/>
          <a:lstStyle/>
          <a:p>
            <a:pPr algn="ctr" indent="0" marL="0">
              <a:buNone/>
            </a:pPr>
            <a:r>
              <a:rPr lang="en-US" sz="2400" b="1" dirty="0">
                <a:solidFill>
                  <a:srgbClr val="111111"/>
                </a:solidFill>
                <a:latin typeface="Montserrat" pitchFamily="34" charset="0"/>
                <a:ea typeface="Montserrat" pitchFamily="34" charset="-122"/>
                <a:cs typeface="Montserrat" pitchFamily="34" charset="-120"/>
              </a:rPr>
              <a:t>97%</a:t>
            </a:r>
            <a:endParaRPr lang="en-US" sz="2400" dirty="0"/>
          </a:p>
        </p:txBody>
      </p:sp>
      <p:sp>
        <p:nvSpPr>
          <p:cNvPr id="37" name="Text 24"/>
          <p:cNvSpPr/>
          <p:nvPr/>
        </p:nvSpPr>
        <p:spPr>
          <a:xfrm>
            <a:off x="7379208" y="2788920"/>
            <a:ext cx="1051560" cy="274320"/>
          </a:xfrm>
          <a:prstGeom prst="rect">
            <a:avLst/>
          </a:prstGeom>
          <a:noFill/>
          <a:ln/>
        </p:spPr>
        <p:txBody>
          <a:bodyPr wrap="square" lIns="0" tIns="0" rIns="0" bIns="0" rtlCol="0" anchor="t"/>
          <a:lstStyle/>
          <a:p>
            <a:pPr algn="ctr" indent="0" marL="0">
              <a:buNone/>
            </a:pPr>
            <a:r>
              <a:rPr lang="en-US" sz="900" b="1" dirty="0">
                <a:solidFill>
                  <a:srgbClr val="111111"/>
                </a:solidFill>
                <a:latin typeface="Montserrat" pitchFamily="34" charset="0"/>
                <a:ea typeface="Montserrat" pitchFamily="34" charset="-122"/>
                <a:cs typeface="Montserrat" pitchFamily="34" charset="-120"/>
              </a:rPr>
              <a:t>of jobs</a:t>
            </a:r>
            <a:endParaRPr lang="en-US" sz="900" dirty="0"/>
          </a:p>
        </p:txBody>
      </p:sp>
      <p:sp>
        <p:nvSpPr>
          <p:cNvPr id="38" name="Text 25"/>
          <p:cNvSpPr/>
          <p:nvPr/>
        </p:nvSpPr>
        <p:spPr>
          <a:xfrm>
            <a:off x="6217920" y="3657600"/>
            <a:ext cx="2240280" cy="411480"/>
          </a:xfrm>
          <a:prstGeom prst="rect">
            <a:avLst/>
          </a:prstGeom>
          <a:noFill/>
          <a:ln/>
        </p:spPr>
        <p:txBody>
          <a:bodyPr wrap="square" lIns="0" tIns="0" rIns="0" bIns="0" rtlCol="0" anchor="t"/>
          <a:lstStyle/>
          <a:p>
            <a:pPr algn="ctr" indent="0" marL="0">
              <a:buNone/>
            </a:pPr>
            <a:r>
              <a:rPr lang="en-US" sz="900" dirty="0">
                <a:solidFill>
                  <a:srgbClr val="111111"/>
                </a:solidFill>
                <a:latin typeface="Montserrat" pitchFamily="34" charset="0"/>
                <a:ea typeface="Montserrat" pitchFamily="34" charset="-122"/>
                <a:cs typeface="Montserrat" pitchFamily="34" charset="-120"/>
              </a:rPr>
              <a:t>MSMEs carry the economy, but most still sell offline</a:t>
            </a:r>
            <a:endParaRPr lang="en-US" sz="900" dirty="0"/>
          </a:p>
        </p:txBody>
      </p:sp>
      <p:sp>
        <p:nvSpPr>
          <p:cNvPr id="39" name="Text 26"/>
          <p:cNvSpPr/>
          <p:nvPr/>
        </p:nvSpPr>
        <p:spPr>
          <a:xfrm>
            <a:off x="594360" y="4233672"/>
            <a:ext cx="2606040" cy="182880"/>
          </a:xfrm>
          <a:prstGeom prst="rect">
            <a:avLst/>
          </a:prstGeom>
          <a:noFill/>
          <a:ln/>
        </p:spPr>
        <p:txBody>
          <a:bodyPr wrap="square" lIns="0" tIns="0" rIns="0" bIns="0" rtlCol="0" anchor="t"/>
          <a:lstStyle/>
          <a:p>
            <a:pPr indent="0" marL="0">
              <a:buNone/>
            </a:pPr>
            <a:r>
              <a:rPr lang="en-US" sz="700" i="1" dirty="0">
                <a:solidFill>
                  <a:srgbClr val="555555"/>
                </a:solidFill>
                <a:latin typeface="Montserrat" pitchFamily="34" charset="0"/>
                <a:ea typeface="Montserrat" pitchFamily="34" charset="-122"/>
                <a:cs typeface="Montserrat" pitchFamily="34" charset="-120"/>
              </a:rPr>
              <a:t>source: APJII Internet Survey, 2024</a:t>
            </a:r>
            <a:endParaRPr lang="en-US" sz="700" dirty="0"/>
          </a:p>
        </p:txBody>
      </p:sp>
      <p:sp>
        <p:nvSpPr>
          <p:cNvPr id="40" name="Text 27"/>
          <p:cNvSpPr/>
          <p:nvPr/>
        </p:nvSpPr>
        <p:spPr>
          <a:xfrm>
            <a:off x="3360420" y="4233672"/>
            <a:ext cx="2606040" cy="182880"/>
          </a:xfrm>
          <a:prstGeom prst="rect">
            <a:avLst/>
          </a:prstGeom>
          <a:noFill/>
          <a:ln/>
        </p:spPr>
        <p:txBody>
          <a:bodyPr wrap="square" lIns="0" tIns="0" rIns="0" bIns="0" rtlCol="0" anchor="t"/>
          <a:lstStyle/>
          <a:p>
            <a:pPr indent="0" marL="0">
              <a:buNone/>
            </a:pPr>
            <a:r>
              <a:rPr lang="en-US" sz="700" i="1" dirty="0">
                <a:solidFill>
                  <a:srgbClr val="555555"/>
                </a:solidFill>
                <a:latin typeface="Montserrat" pitchFamily="34" charset="0"/>
                <a:ea typeface="Montserrat" pitchFamily="34" charset="-122"/>
                <a:cs typeface="Montserrat" pitchFamily="34" charset="-120"/>
              </a:rPr>
              <a:t>source: Statista 2023; GoodStats 2023</a:t>
            </a:r>
            <a:endParaRPr lang="en-US" sz="700" dirty="0"/>
          </a:p>
        </p:txBody>
      </p:sp>
      <p:sp>
        <p:nvSpPr>
          <p:cNvPr id="41" name="Text 28"/>
          <p:cNvSpPr/>
          <p:nvPr/>
        </p:nvSpPr>
        <p:spPr>
          <a:xfrm>
            <a:off x="6126480" y="4233672"/>
            <a:ext cx="2606040" cy="182880"/>
          </a:xfrm>
          <a:prstGeom prst="rect">
            <a:avLst/>
          </a:prstGeom>
          <a:noFill/>
          <a:ln/>
        </p:spPr>
        <p:txBody>
          <a:bodyPr wrap="square" lIns="0" tIns="0" rIns="0" bIns="0" rtlCol="0" anchor="t"/>
          <a:lstStyle/>
          <a:p>
            <a:pPr indent="0" marL="0">
              <a:buNone/>
            </a:pPr>
            <a:r>
              <a:rPr lang="en-US" sz="700" i="1" dirty="0">
                <a:solidFill>
                  <a:srgbClr val="555555"/>
                </a:solidFill>
                <a:latin typeface="Montserrat" pitchFamily="34" charset="0"/>
                <a:ea typeface="Montserrat" pitchFamily="34" charset="-122"/>
                <a:cs typeface="Montserrat" pitchFamily="34" charset="-120"/>
              </a:rPr>
              <a:t>source: Kemenkeu, via ITEJ journal</a:t>
            </a:r>
            <a:endParaRPr lang="en-US" sz="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457200" y="146304"/>
            <a:ext cx="1645920" cy="228600"/>
          </a:xfrm>
          <a:prstGeom prst="rect">
            <a:avLst/>
          </a:prstGeom>
          <a:noFill/>
          <a:ln/>
        </p:spPr>
        <p:txBody>
          <a:bodyPr wrap="square" lIns="0" tIns="0" rIns="0" bIns="0" rtlCol="0" anchor="t"/>
          <a:lstStyle/>
          <a:p>
            <a:pPr algn="ctr" indent="0" marL="0">
              <a:buNone/>
            </a:pPr>
            <a:r>
              <a:rPr lang="en-US" sz="900" dirty="0">
                <a:solidFill>
                  <a:srgbClr val="8C8C8C"/>
                </a:solidFill>
                <a:latin typeface="Montserrat" pitchFamily="34" charset="0"/>
                <a:ea typeface="Montserrat" pitchFamily="34" charset="-122"/>
                <a:cs typeface="Montserrat" pitchFamily="34" charset="-120"/>
              </a:rPr>
              <a:t>Village</a:t>
            </a:r>
            <a:endParaRPr lang="en-US" sz="900" dirty="0"/>
          </a:p>
        </p:txBody>
      </p:sp>
      <p:sp>
        <p:nvSpPr>
          <p:cNvPr id="3" name="Text 1"/>
          <p:cNvSpPr/>
          <p:nvPr/>
        </p:nvSpPr>
        <p:spPr>
          <a:xfrm>
            <a:off x="2103120" y="146304"/>
            <a:ext cx="1645920" cy="228600"/>
          </a:xfrm>
          <a:prstGeom prst="rect">
            <a:avLst/>
          </a:prstGeom>
          <a:noFill/>
          <a:ln/>
        </p:spPr>
        <p:txBody>
          <a:bodyPr wrap="square" lIns="0" tIns="0" rIns="0" bIns="0" rtlCol="0" anchor="t"/>
          <a:lstStyle/>
          <a:p>
            <a:pPr algn="ctr" indent="0" marL="0">
              <a:buNone/>
            </a:pPr>
            <a:r>
              <a:rPr lang="en-US" sz="900" dirty="0">
                <a:solidFill>
                  <a:srgbClr val="8C8C8C"/>
                </a:solidFill>
                <a:latin typeface="Montserrat" pitchFamily="34" charset="0"/>
                <a:ea typeface="Montserrat" pitchFamily="34" charset="-122"/>
                <a:cs typeface="Montserrat" pitchFamily="34" charset="-120"/>
              </a:rPr>
              <a:t>Problem</a:t>
            </a:r>
            <a:endParaRPr lang="en-US" sz="900" dirty="0"/>
          </a:p>
        </p:txBody>
      </p:sp>
      <p:sp>
        <p:nvSpPr>
          <p:cNvPr id="4" name="Shape 2"/>
          <p:cNvSpPr/>
          <p:nvPr/>
        </p:nvSpPr>
        <p:spPr>
          <a:xfrm>
            <a:off x="4023360" y="91440"/>
            <a:ext cx="1097280" cy="32004"/>
          </a:xfrm>
          <a:prstGeom prst="rect">
            <a:avLst/>
          </a:prstGeom>
          <a:solidFill>
            <a:srgbClr val="111111"/>
          </a:solidFill>
          <a:ln w="12700">
            <a:solidFill>
              <a:srgbClr val="111111"/>
            </a:solidFill>
            <a:prstDash val="solid"/>
          </a:ln>
        </p:spPr>
      </p:sp>
      <p:sp>
        <p:nvSpPr>
          <p:cNvPr id="5" name="Text 3"/>
          <p:cNvSpPr/>
          <p:nvPr/>
        </p:nvSpPr>
        <p:spPr>
          <a:xfrm>
            <a:off x="3749040" y="146304"/>
            <a:ext cx="1645920" cy="228600"/>
          </a:xfrm>
          <a:prstGeom prst="rect">
            <a:avLst/>
          </a:prstGeom>
          <a:noFill/>
          <a:ln/>
        </p:spPr>
        <p:txBody>
          <a:bodyPr wrap="square" lIns="0" tIns="0" rIns="0" bIns="0" rtlCol="0" anchor="t"/>
          <a:lstStyle/>
          <a:p>
            <a:pPr algn="ctr" indent="0" marL="0">
              <a:buNone/>
            </a:pPr>
            <a:r>
              <a:rPr lang="en-US" sz="900" b="1" dirty="0">
                <a:solidFill>
                  <a:srgbClr val="111111"/>
                </a:solidFill>
                <a:latin typeface="Montserrat" pitchFamily="34" charset="0"/>
                <a:ea typeface="Montserrat" pitchFamily="34" charset="-122"/>
                <a:cs typeface="Montserrat" pitchFamily="34" charset="-120"/>
              </a:rPr>
              <a:t>Solution</a:t>
            </a:r>
            <a:endParaRPr lang="en-US" sz="900" dirty="0"/>
          </a:p>
        </p:txBody>
      </p:sp>
      <p:sp>
        <p:nvSpPr>
          <p:cNvPr id="6" name="Text 4"/>
          <p:cNvSpPr/>
          <p:nvPr/>
        </p:nvSpPr>
        <p:spPr>
          <a:xfrm>
            <a:off x="5394960" y="146304"/>
            <a:ext cx="1645920" cy="228600"/>
          </a:xfrm>
          <a:prstGeom prst="rect">
            <a:avLst/>
          </a:prstGeom>
          <a:noFill/>
          <a:ln/>
        </p:spPr>
        <p:txBody>
          <a:bodyPr wrap="square" lIns="0" tIns="0" rIns="0" bIns="0" rtlCol="0" anchor="t"/>
          <a:lstStyle/>
          <a:p>
            <a:pPr algn="ctr" indent="0" marL="0">
              <a:buNone/>
            </a:pPr>
            <a:r>
              <a:rPr lang="en-US" sz="900" dirty="0">
                <a:solidFill>
                  <a:srgbClr val="8C8C8C"/>
                </a:solidFill>
                <a:latin typeface="Montserrat" pitchFamily="34" charset="0"/>
                <a:ea typeface="Montserrat" pitchFamily="34" charset="-122"/>
                <a:cs typeface="Montserrat" pitchFamily="34" charset="-120"/>
              </a:rPr>
              <a:t>Demo</a:t>
            </a:r>
            <a:endParaRPr lang="en-US" sz="900" dirty="0"/>
          </a:p>
        </p:txBody>
      </p:sp>
      <p:sp>
        <p:nvSpPr>
          <p:cNvPr id="7" name="Text 5"/>
          <p:cNvSpPr/>
          <p:nvPr/>
        </p:nvSpPr>
        <p:spPr>
          <a:xfrm>
            <a:off x="7040880" y="146304"/>
            <a:ext cx="1645920" cy="228600"/>
          </a:xfrm>
          <a:prstGeom prst="rect">
            <a:avLst/>
          </a:prstGeom>
          <a:noFill/>
          <a:ln/>
        </p:spPr>
        <p:txBody>
          <a:bodyPr wrap="square" lIns="0" tIns="0" rIns="0" bIns="0" rtlCol="0" anchor="t"/>
          <a:lstStyle/>
          <a:p>
            <a:pPr algn="ctr" indent="0" marL="0">
              <a:buNone/>
            </a:pPr>
            <a:r>
              <a:rPr lang="en-US" sz="900" dirty="0">
                <a:solidFill>
                  <a:srgbClr val="8C8C8C"/>
                </a:solidFill>
                <a:latin typeface="Montserrat" pitchFamily="34" charset="0"/>
                <a:ea typeface="Montserrat" pitchFamily="34" charset="-122"/>
                <a:cs typeface="Montserrat" pitchFamily="34" charset="-120"/>
              </a:rPr>
              <a:t>Impact</a:t>
            </a:r>
            <a:endParaRPr lang="en-US" sz="900" dirty="0"/>
          </a:p>
        </p:txBody>
      </p:sp>
      <p:sp>
        <p:nvSpPr>
          <p:cNvPr id="8" name="Text 6"/>
          <p:cNvSpPr/>
          <p:nvPr/>
        </p:nvSpPr>
        <p:spPr>
          <a:xfrm>
            <a:off x="457200" y="457200"/>
            <a:ext cx="8229600" cy="502920"/>
          </a:xfrm>
          <a:prstGeom prst="rect">
            <a:avLst/>
          </a:prstGeom>
          <a:noFill/>
          <a:ln/>
        </p:spPr>
        <p:txBody>
          <a:bodyPr wrap="square" lIns="0" tIns="0" rIns="0" bIns="0" rtlCol="0" anchor="t"/>
          <a:lstStyle/>
          <a:p>
            <a:pPr algn="ctr" indent="0" marL="0">
              <a:buNone/>
            </a:pPr>
            <a:r>
              <a:rPr lang="en-US" sz="2600" b="1" dirty="0">
                <a:solidFill>
                  <a:srgbClr val="111111"/>
                </a:solidFill>
                <a:latin typeface="Montserrat" pitchFamily="34" charset="0"/>
                <a:ea typeface="Montserrat" pitchFamily="34" charset="-122"/>
                <a:cs typeface="Montserrat" pitchFamily="34" charset="-120"/>
              </a:rPr>
              <a:t>Our Unfair Advantage</a:t>
            </a:r>
            <a:endParaRPr lang="en-US" sz="2600" dirty="0"/>
          </a:p>
        </p:txBody>
      </p:sp>
      <p:sp>
        <p:nvSpPr>
          <p:cNvPr id="9" name="Text 7"/>
          <p:cNvSpPr/>
          <p:nvPr/>
        </p:nvSpPr>
        <p:spPr>
          <a:xfrm>
            <a:off x="457200" y="950976"/>
            <a:ext cx="8229600" cy="274320"/>
          </a:xfrm>
          <a:prstGeom prst="rect">
            <a:avLst/>
          </a:prstGeom>
          <a:noFill/>
          <a:ln/>
        </p:spPr>
        <p:txBody>
          <a:bodyPr wrap="square" lIns="0" tIns="0" rIns="0" bIns="0" rtlCol="0" anchor="t"/>
          <a:lstStyle/>
          <a:p>
            <a:pPr algn="ctr" indent="0" marL="0">
              <a:buNone/>
            </a:pPr>
            <a:r>
              <a:rPr lang="en-US" sz="1200" b="1" dirty="0">
                <a:solidFill>
                  <a:srgbClr val="555555"/>
                </a:solidFill>
                <a:latin typeface="Montserrat" pitchFamily="34" charset="0"/>
                <a:ea typeface="Montserrat" pitchFamily="34" charset="-122"/>
                <a:cs typeface="Montserrat" pitchFamily="34" charset="-120"/>
              </a:rPr>
              <a:t>Village information and local trade, in one place</a:t>
            </a:r>
            <a:endParaRPr lang="en-US" sz="1200" dirty="0"/>
          </a:p>
        </p:txBody>
      </p:sp>
      <p:sp>
        <p:nvSpPr>
          <p:cNvPr id="10" name="Shape 8"/>
          <p:cNvSpPr/>
          <p:nvPr/>
        </p:nvSpPr>
        <p:spPr>
          <a:xfrm>
            <a:off x="685800" y="3017520"/>
            <a:ext cx="3291840" cy="0"/>
          </a:xfrm>
          <a:prstGeom prst="line">
            <a:avLst/>
          </a:prstGeom>
          <a:noFill/>
          <a:ln w="25400">
            <a:solidFill>
              <a:srgbClr val="111111"/>
            </a:solidFill>
            <a:prstDash val="solid"/>
            <a:headEnd type="triangle"/>
            <a:tailEnd type="triangle"/>
          </a:ln>
        </p:spPr>
      </p:sp>
      <p:sp>
        <p:nvSpPr>
          <p:cNvPr id="11" name="Shape 9"/>
          <p:cNvSpPr/>
          <p:nvPr/>
        </p:nvSpPr>
        <p:spPr>
          <a:xfrm>
            <a:off x="2331720" y="1417320"/>
            <a:ext cx="0" cy="3200400"/>
          </a:xfrm>
          <a:prstGeom prst="line">
            <a:avLst/>
          </a:prstGeom>
          <a:noFill/>
          <a:ln w="25400">
            <a:solidFill>
              <a:srgbClr val="111111"/>
            </a:solidFill>
            <a:prstDash val="solid"/>
            <a:headEnd type="triangle"/>
            <a:tailEnd type="triangle"/>
          </a:ln>
        </p:spPr>
      </p:sp>
      <p:sp>
        <p:nvSpPr>
          <p:cNvPr id="12" name="Text 10"/>
          <p:cNvSpPr/>
          <p:nvPr/>
        </p:nvSpPr>
        <p:spPr>
          <a:xfrm>
            <a:off x="1417320" y="1243584"/>
            <a:ext cx="1828800" cy="182880"/>
          </a:xfrm>
          <a:prstGeom prst="rect">
            <a:avLst/>
          </a:prstGeom>
          <a:noFill/>
          <a:ln/>
        </p:spPr>
        <p:txBody>
          <a:bodyPr wrap="square" lIns="0" tIns="0" rIns="0" bIns="0" rtlCol="0" anchor="t"/>
          <a:lstStyle/>
          <a:p>
            <a:pPr algn="ctr" indent="0" marL="0">
              <a:buNone/>
            </a:pPr>
            <a:r>
              <a:rPr lang="en-US" sz="900" dirty="0">
                <a:solidFill>
                  <a:srgbClr val="111111"/>
                </a:solidFill>
                <a:latin typeface="Montserrat" pitchFamily="34" charset="0"/>
                <a:ea typeface="Montserrat" pitchFamily="34" charset="-122"/>
                <a:cs typeface="Montserrat" pitchFamily="34" charset="-120"/>
              </a:rPr>
              <a:t>Rich village info</a:t>
            </a:r>
            <a:endParaRPr lang="en-US" sz="900" dirty="0"/>
          </a:p>
        </p:txBody>
      </p:sp>
      <p:sp>
        <p:nvSpPr>
          <p:cNvPr id="13" name="Text 11"/>
          <p:cNvSpPr/>
          <p:nvPr/>
        </p:nvSpPr>
        <p:spPr>
          <a:xfrm>
            <a:off x="1417320" y="4645152"/>
            <a:ext cx="1828800" cy="182880"/>
          </a:xfrm>
          <a:prstGeom prst="rect">
            <a:avLst/>
          </a:prstGeom>
          <a:noFill/>
          <a:ln/>
        </p:spPr>
        <p:txBody>
          <a:bodyPr wrap="square" lIns="0" tIns="0" rIns="0" bIns="0" rtlCol="0" anchor="t"/>
          <a:lstStyle/>
          <a:p>
            <a:pPr algn="ctr" indent="0" marL="0">
              <a:buNone/>
            </a:pPr>
            <a:r>
              <a:rPr lang="en-US" sz="900" dirty="0">
                <a:solidFill>
                  <a:srgbClr val="111111"/>
                </a:solidFill>
                <a:latin typeface="Montserrat" pitchFamily="34" charset="0"/>
                <a:ea typeface="Montserrat" pitchFamily="34" charset="-122"/>
                <a:cs typeface="Montserrat" pitchFamily="34" charset="-120"/>
              </a:rPr>
              <a:t>Little village info</a:t>
            </a:r>
            <a:endParaRPr lang="en-US" sz="900" dirty="0"/>
          </a:p>
        </p:txBody>
      </p:sp>
      <p:sp>
        <p:nvSpPr>
          <p:cNvPr id="14" name="Text 12"/>
          <p:cNvSpPr/>
          <p:nvPr/>
        </p:nvSpPr>
        <p:spPr>
          <a:xfrm>
            <a:off x="685800" y="3090672"/>
            <a:ext cx="1280160" cy="182880"/>
          </a:xfrm>
          <a:prstGeom prst="rect">
            <a:avLst/>
          </a:prstGeom>
          <a:noFill/>
          <a:ln/>
        </p:spPr>
        <p:txBody>
          <a:bodyPr wrap="square" lIns="0" tIns="0" rIns="0" bIns="0" rtlCol="0" anchor="t"/>
          <a:lstStyle/>
          <a:p>
            <a:pPr indent="0" marL="0">
              <a:buNone/>
            </a:pPr>
            <a:r>
              <a:rPr lang="en-US" sz="800" dirty="0">
                <a:solidFill>
                  <a:srgbClr val="111111"/>
                </a:solidFill>
                <a:latin typeface="Montserrat" pitchFamily="34" charset="0"/>
                <a:ea typeface="Montserrat" pitchFamily="34" charset="-122"/>
                <a:cs typeface="Montserrat" pitchFamily="34" charset="-120"/>
              </a:rPr>
              <a:t>No local trade</a:t>
            </a:r>
            <a:endParaRPr lang="en-US" sz="800" dirty="0"/>
          </a:p>
        </p:txBody>
      </p:sp>
      <p:sp>
        <p:nvSpPr>
          <p:cNvPr id="15" name="Text 13"/>
          <p:cNvSpPr/>
          <p:nvPr/>
        </p:nvSpPr>
        <p:spPr>
          <a:xfrm>
            <a:off x="2697480" y="3090672"/>
            <a:ext cx="1280160" cy="182880"/>
          </a:xfrm>
          <a:prstGeom prst="rect">
            <a:avLst/>
          </a:prstGeom>
          <a:noFill/>
          <a:ln/>
        </p:spPr>
        <p:txBody>
          <a:bodyPr wrap="square" lIns="0" tIns="0" rIns="0" bIns="0" rtlCol="0" anchor="t"/>
          <a:lstStyle/>
          <a:p>
            <a:pPr algn="r" indent="0" marL="0">
              <a:buNone/>
            </a:pPr>
            <a:r>
              <a:rPr lang="en-US" sz="800" dirty="0">
                <a:solidFill>
                  <a:srgbClr val="111111"/>
                </a:solidFill>
                <a:latin typeface="Montserrat" pitchFamily="34" charset="0"/>
                <a:ea typeface="Montserrat" pitchFamily="34" charset="-122"/>
                <a:cs typeface="Montserrat" pitchFamily="34" charset="-120"/>
              </a:rPr>
              <a:t>Local trade built in</a:t>
            </a:r>
            <a:endParaRPr lang="en-US" sz="800" dirty="0"/>
          </a:p>
        </p:txBody>
      </p:sp>
      <p:sp>
        <p:nvSpPr>
          <p:cNvPr id="16" name="Shape 14"/>
          <p:cNvSpPr/>
          <p:nvPr/>
        </p:nvSpPr>
        <p:spPr>
          <a:xfrm>
            <a:off x="2560320" y="1691640"/>
            <a:ext cx="1325880" cy="347472"/>
          </a:xfrm>
          <a:prstGeom prst="roundRect">
            <a:avLst>
              <a:gd name="adj" fmla="val 50000"/>
            </a:avLst>
          </a:prstGeom>
          <a:solidFill>
            <a:srgbClr val="111111"/>
          </a:solidFill>
          <a:ln w="9525">
            <a:solidFill>
              <a:srgbClr val="111111"/>
            </a:solidFill>
            <a:prstDash val="solid"/>
          </a:ln>
          <a:effectLst>
            <a:outerShdw sx="100000" sy="100000" kx="0" ky="0" algn="bl" rotWithShape="0" blurRad="127000" dist="38100" dir="5400000">
              <a:srgbClr val="000000">
                <a:alpha val="16000"/>
              </a:srgbClr>
            </a:outerShdw>
          </a:effectLst>
        </p:spPr>
      </p:sp>
      <p:sp>
        <p:nvSpPr>
          <p:cNvPr id="17" name="Text 15"/>
          <p:cNvSpPr/>
          <p:nvPr/>
        </p:nvSpPr>
        <p:spPr>
          <a:xfrm>
            <a:off x="2560320" y="1691640"/>
            <a:ext cx="1325880" cy="347472"/>
          </a:xfrm>
          <a:prstGeom prst="rect">
            <a:avLst/>
          </a:prstGeom>
          <a:noFill/>
          <a:ln/>
        </p:spPr>
        <p:txBody>
          <a:bodyPr wrap="square" lIns="0" tIns="0" rIns="0" bIns="0" rtlCol="0" anchor="ctr"/>
          <a:lstStyle/>
          <a:p>
            <a:pPr algn="ctr" indent="0" marL="0">
              <a:buNone/>
            </a:pPr>
            <a:r>
              <a:rPr lang="en-US" sz="800" b="1" dirty="0">
                <a:solidFill>
                  <a:srgbClr val="FFFFFF"/>
                </a:solidFill>
                <a:latin typeface="Montserrat" pitchFamily="34" charset="0"/>
                <a:ea typeface="Montserrat" pitchFamily="34" charset="-122"/>
                <a:cs typeface="Montserrat" pitchFamily="34" charset="-120"/>
              </a:rPr>
              <a:t>Desa Marga Mulya</a:t>
            </a:r>
            <a:endParaRPr lang="en-US" sz="800" dirty="0"/>
          </a:p>
        </p:txBody>
      </p:sp>
      <p:sp>
        <p:nvSpPr>
          <p:cNvPr id="18" name="Shape 16"/>
          <p:cNvSpPr/>
          <p:nvPr/>
        </p:nvSpPr>
        <p:spPr>
          <a:xfrm>
            <a:off x="777240" y="2103120"/>
            <a:ext cx="1325880" cy="347472"/>
          </a:xfrm>
          <a:prstGeom prst="roundRect">
            <a:avLst>
              <a:gd name="adj" fmla="val 50000"/>
            </a:avLst>
          </a:prstGeom>
          <a:solidFill>
            <a:srgbClr val="FFFFFF"/>
          </a:solidFill>
          <a:ln w="9525">
            <a:solidFill>
              <a:srgbClr val="111111"/>
            </a:solidFill>
            <a:prstDash val="solid"/>
          </a:ln>
        </p:spPr>
      </p:sp>
      <p:sp>
        <p:nvSpPr>
          <p:cNvPr id="19" name="Text 17"/>
          <p:cNvSpPr/>
          <p:nvPr/>
        </p:nvSpPr>
        <p:spPr>
          <a:xfrm>
            <a:off x="777240" y="2103120"/>
            <a:ext cx="1325880" cy="347472"/>
          </a:xfrm>
          <a:prstGeom prst="rect">
            <a:avLst/>
          </a:prstGeom>
          <a:noFill/>
          <a:ln/>
        </p:spPr>
        <p:txBody>
          <a:bodyPr wrap="square" lIns="0" tIns="0" rIns="0" bIns="0" rtlCol="0" anchor="ctr"/>
          <a:lstStyle/>
          <a:p>
            <a:pPr algn="ctr" indent="0" marL="0">
              <a:buNone/>
            </a:pPr>
            <a:r>
              <a:rPr lang="en-US" sz="800" b="1" dirty="0">
                <a:solidFill>
                  <a:srgbClr val="111111"/>
                </a:solidFill>
                <a:latin typeface="Montserrat" pitchFamily="34" charset="0"/>
                <a:ea typeface="Montserrat" pitchFamily="34" charset="-122"/>
                <a:cs typeface="Montserrat" pitchFamily="34" charset="-120"/>
              </a:rPr>
              <a:t>Village info systems</a:t>
            </a:r>
            <a:endParaRPr lang="en-US" sz="800" dirty="0"/>
          </a:p>
        </p:txBody>
      </p:sp>
      <p:sp>
        <p:nvSpPr>
          <p:cNvPr id="20" name="Shape 18"/>
          <p:cNvSpPr/>
          <p:nvPr/>
        </p:nvSpPr>
        <p:spPr>
          <a:xfrm>
            <a:off x="777240" y="3840480"/>
            <a:ext cx="1325880" cy="347472"/>
          </a:xfrm>
          <a:prstGeom prst="roundRect">
            <a:avLst>
              <a:gd name="adj" fmla="val 50000"/>
            </a:avLst>
          </a:prstGeom>
          <a:solidFill>
            <a:srgbClr val="FFFFFF"/>
          </a:solidFill>
          <a:ln w="9525">
            <a:solidFill>
              <a:srgbClr val="111111"/>
            </a:solidFill>
            <a:prstDash val="solid"/>
          </a:ln>
        </p:spPr>
      </p:sp>
      <p:sp>
        <p:nvSpPr>
          <p:cNvPr id="21" name="Text 19"/>
          <p:cNvSpPr/>
          <p:nvPr/>
        </p:nvSpPr>
        <p:spPr>
          <a:xfrm>
            <a:off x="777240" y="3840480"/>
            <a:ext cx="1325880" cy="347472"/>
          </a:xfrm>
          <a:prstGeom prst="rect">
            <a:avLst/>
          </a:prstGeom>
          <a:noFill/>
          <a:ln/>
        </p:spPr>
        <p:txBody>
          <a:bodyPr wrap="square" lIns="0" tIns="0" rIns="0" bIns="0" rtlCol="0" anchor="ctr"/>
          <a:lstStyle/>
          <a:p>
            <a:pPr algn="ctr" indent="0" marL="0">
              <a:buNone/>
            </a:pPr>
            <a:r>
              <a:rPr lang="en-US" sz="800" b="1" dirty="0">
                <a:solidFill>
                  <a:srgbClr val="111111"/>
                </a:solidFill>
                <a:latin typeface="Montserrat" pitchFamily="34" charset="0"/>
                <a:ea typeface="Montserrat" pitchFamily="34" charset="-122"/>
                <a:cs typeface="Montserrat" pitchFamily="34" charset="-120"/>
              </a:rPr>
              <a:t>Village social media</a:t>
            </a:r>
            <a:endParaRPr lang="en-US" sz="800" dirty="0"/>
          </a:p>
        </p:txBody>
      </p:sp>
      <p:sp>
        <p:nvSpPr>
          <p:cNvPr id="22" name="Shape 20"/>
          <p:cNvSpPr/>
          <p:nvPr/>
        </p:nvSpPr>
        <p:spPr>
          <a:xfrm>
            <a:off x="2560320" y="3840480"/>
            <a:ext cx="1325880" cy="347472"/>
          </a:xfrm>
          <a:prstGeom prst="roundRect">
            <a:avLst>
              <a:gd name="adj" fmla="val 50000"/>
            </a:avLst>
          </a:prstGeom>
          <a:solidFill>
            <a:srgbClr val="FFFFFF"/>
          </a:solidFill>
          <a:ln w="9525">
            <a:solidFill>
              <a:srgbClr val="111111"/>
            </a:solidFill>
            <a:prstDash val="solid"/>
          </a:ln>
        </p:spPr>
      </p:sp>
      <p:sp>
        <p:nvSpPr>
          <p:cNvPr id="23" name="Text 21"/>
          <p:cNvSpPr/>
          <p:nvPr/>
        </p:nvSpPr>
        <p:spPr>
          <a:xfrm>
            <a:off x="2560320" y="3840480"/>
            <a:ext cx="1325880" cy="347472"/>
          </a:xfrm>
          <a:prstGeom prst="rect">
            <a:avLst/>
          </a:prstGeom>
          <a:noFill/>
          <a:ln/>
        </p:spPr>
        <p:txBody>
          <a:bodyPr wrap="square" lIns="0" tIns="0" rIns="0" bIns="0" rtlCol="0" anchor="ctr"/>
          <a:lstStyle/>
          <a:p>
            <a:pPr algn="ctr" indent="0" marL="0">
              <a:buNone/>
            </a:pPr>
            <a:r>
              <a:rPr lang="en-US" sz="800" b="1" dirty="0">
                <a:solidFill>
                  <a:srgbClr val="111111"/>
                </a:solidFill>
                <a:latin typeface="Montserrat" pitchFamily="34" charset="0"/>
                <a:ea typeface="Montserrat" pitchFamily="34" charset="-122"/>
                <a:cs typeface="Montserrat" pitchFamily="34" charset="-120"/>
              </a:rPr>
              <a:t>Big marketplaces</a:t>
            </a:r>
            <a:endParaRPr lang="en-US" sz="800" dirty="0"/>
          </a:p>
        </p:txBody>
      </p:sp>
      <p:sp>
        <p:nvSpPr>
          <p:cNvPr id="24" name="Text 22"/>
          <p:cNvSpPr/>
          <p:nvPr/>
        </p:nvSpPr>
        <p:spPr>
          <a:xfrm>
            <a:off x="685800" y="4846320"/>
            <a:ext cx="3291840" cy="164592"/>
          </a:xfrm>
          <a:prstGeom prst="rect">
            <a:avLst/>
          </a:prstGeom>
          <a:noFill/>
          <a:ln/>
        </p:spPr>
        <p:txBody>
          <a:bodyPr wrap="square" lIns="0" tIns="0" rIns="0" bIns="0" rtlCol="0" anchor="t"/>
          <a:lstStyle/>
          <a:p>
            <a:pPr indent="0" marL="0">
              <a:buNone/>
            </a:pPr>
            <a:r>
              <a:rPr lang="en-US" sz="700" i="1" dirty="0">
                <a:solidFill>
                  <a:srgbClr val="555555"/>
                </a:solidFill>
                <a:latin typeface="Montserrat" pitchFamily="34" charset="0"/>
                <a:ea typeface="Montserrat" pitchFamily="34" charset="-122"/>
                <a:cs typeface="Montserrat" pitchFamily="34" charset="-120"/>
              </a:rPr>
              <a:t>Indicative positioning by team</a:t>
            </a:r>
            <a:endParaRPr lang="en-US" sz="700" dirty="0"/>
          </a:p>
        </p:txBody>
      </p:sp>
      <p:sp>
        <p:nvSpPr>
          <p:cNvPr id="25" name="Shape 23"/>
          <p:cNvSpPr/>
          <p:nvPr/>
        </p:nvSpPr>
        <p:spPr>
          <a:xfrm>
            <a:off x="4572000" y="1371600"/>
            <a:ext cx="4114800" cy="713232"/>
          </a:xfrm>
          <a:prstGeom prst="roundRect">
            <a:avLst>
              <a:gd name="adj" fmla="val 17949"/>
            </a:avLst>
          </a:prstGeom>
          <a:solidFill>
            <a:srgbClr val="111111"/>
          </a:solidFill>
          <a:ln w="12700">
            <a:solidFill>
              <a:srgbClr val="111111"/>
            </a:solidFill>
            <a:prstDash val="solid"/>
          </a:ln>
          <a:effectLst>
            <a:outerShdw sx="100000" sy="100000" kx="0" ky="0" algn="bl" rotWithShape="0" blurRad="127000" dist="38100" dir="5400000">
              <a:srgbClr val="000000">
                <a:alpha val="16000"/>
              </a:srgbClr>
            </a:outerShdw>
          </a:effectLst>
        </p:spPr>
      </p:sp>
      <p:sp>
        <p:nvSpPr>
          <p:cNvPr id="26" name="Shape 24"/>
          <p:cNvSpPr/>
          <p:nvPr/>
        </p:nvSpPr>
        <p:spPr>
          <a:xfrm>
            <a:off x="4709160" y="1499616"/>
            <a:ext cx="457200" cy="457200"/>
          </a:xfrm>
          <a:prstGeom prst="ellipse">
            <a:avLst/>
          </a:prstGeom>
          <a:solidFill>
            <a:srgbClr val="D7141A"/>
          </a:solidFill>
          <a:ln w="12700">
            <a:solidFill>
              <a:srgbClr val="D7141A"/>
            </a:solidFill>
            <a:prstDash val="solid"/>
          </a:ln>
        </p:spPr>
      </p:sp>
      <p:pic>
        <p:nvPicPr>
          <p:cNvPr id="27" name="Image 0" descr="/home/runner/work/Desa-Marga-Mulya/Desa-Marga-Mulya/deck/assets/build/red/icon-services-w.png">    </p:cNvPr>
          <p:cNvPicPr>
            <a:picLocks noChangeAspect="1"/>
          </p:cNvPicPr>
          <p:nvPr/>
        </p:nvPicPr>
        <p:blipFill>
          <a:blip r:embed="rId2"/>
          <a:stretch>
            <a:fillRect/>
          </a:stretch>
        </p:blipFill>
        <p:spPr>
          <a:xfrm>
            <a:off x="4818888" y="1609344"/>
            <a:ext cx="237744" cy="237744"/>
          </a:xfrm>
          <a:prstGeom prst="rect">
            <a:avLst/>
          </a:prstGeom>
        </p:spPr>
      </p:pic>
      <p:sp>
        <p:nvSpPr>
          <p:cNvPr id="28" name="Text 25"/>
          <p:cNvSpPr/>
          <p:nvPr/>
        </p:nvSpPr>
        <p:spPr>
          <a:xfrm>
            <a:off x="5349240" y="1481328"/>
            <a:ext cx="2011680" cy="256032"/>
          </a:xfrm>
          <a:prstGeom prst="rect">
            <a:avLst/>
          </a:prstGeom>
          <a:noFill/>
          <a:ln/>
        </p:spPr>
        <p:txBody>
          <a:bodyPr wrap="square" lIns="0" tIns="0" rIns="0" bIns="0" rtlCol="0" anchor="t"/>
          <a:lstStyle/>
          <a:p>
            <a:pPr indent="0" marL="0">
              <a:buNone/>
            </a:pPr>
            <a:r>
              <a:rPr lang="en-US" sz="1100" b="1" dirty="0">
                <a:solidFill>
                  <a:srgbClr val="FFFFFF"/>
                </a:solidFill>
                <a:latin typeface="Montserrat" pitchFamily="34" charset="0"/>
                <a:ea typeface="Montserrat" pitchFamily="34" charset="-122"/>
                <a:cs typeface="Montserrat" pitchFamily="34" charset="-120"/>
              </a:rPr>
              <a:t>LIVE OFFICE STATUS</a:t>
            </a:r>
            <a:endParaRPr lang="en-US" sz="1100" dirty="0"/>
          </a:p>
        </p:txBody>
      </p:sp>
      <p:sp>
        <p:nvSpPr>
          <p:cNvPr id="29" name="Text 26"/>
          <p:cNvSpPr/>
          <p:nvPr/>
        </p:nvSpPr>
        <p:spPr>
          <a:xfrm>
            <a:off x="5349240" y="1755648"/>
            <a:ext cx="2011680" cy="219456"/>
          </a:xfrm>
          <a:prstGeom prst="rect">
            <a:avLst/>
          </a:prstGeom>
          <a:noFill/>
          <a:ln/>
        </p:spPr>
        <p:txBody>
          <a:bodyPr wrap="square" lIns="0" tIns="0" rIns="0" bIns="0" rtlCol="0" anchor="t"/>
          <a:lstStyle/>
          <a:p>
            <a:pPr indent="0" marL="0">
              <a:buNone/>
            </a:pPr>
            <a:r>
              <a:rPr lang="en-US" sz="800" dirty="0">
                <a:solidFill>
                  <a:srgbClr val="D0D0D0"/>
                </a:solidFill>
                <a:latin typeface="Montserrat" pitchFamily="34" charset="0"/>
                <a:ea typeface="Montserrat" pitchFamily="34" charset="-122"/>
                <a:cs typeface="Montserrat" pitchFamily="34" charset="-120"/>
              </a:rPr>
              <a:t>service checklists</a:t>
            </a:r>
            <a:endParaRPr lang="en-US" sz="800" dirty="0"/>
          </a:p>
        </p:txBody>
      </p:sp>
      <p:sp>
        <p:nvSpPr>
          <p:cNvPr id="30" name="Text 27"/>
          <p:cNvSpPr/>
          <p:nvPr/>
        </p:nvSpPr>
        <p:spPr>
          <a:xfrm>
            <a:off x="7223760" y="1463040"/>
            <a:ext cx="1325880" cy="530352"/>
          </a:xfrm>
          <a:prstGeom prst="rect">
            <a:avLst/>
          </a:prstGeom>
          <a:noFill/>
          <a:ln/>
        </p:spPr>
        <p:txBody>
          <a:bodyPr wrap="square" lIns="0" tIns="0" rIns="0" bIns="0" rtlCol="0" anchor="ctr"/>
          <a:lstStyle/>
          <a:p>
            <a:pPr algn="r" indent="0" marL="0">
              <a:buNone/>
            </a:pPr>
            <a:r>
              <a:rPr lang="en-US" sz="2400" b="1" dirty="0">
                <a:solidFill>
                  <a:srgbClr val="FF4D52"/>
                </a:solidFill>
                <a:latin typeface="Montserrat" pitchFamily="34" charset="0"/>
                <a:ea typeface="Montserrat" pitchFamily="34" charset="-122"/>
                <a:cs typeface="Montserrat" pitchFamily="34" charset="-120"/>
              </a:rPr>
              <a:t>7</a:t>
            </a:r>
            <a:endParaRPr lang="en-US" sz="2400" dirty="0"/>
          </a:p>
        </p:txBody>
      </p:sp>
      <p:sp>
        <p:nvSpPr>
          <p:cNvPr id="31" name="Shape 28"/>
          <p:cNvSpPr/>
          <p:nvPr/>
        </p:nvSpPr>
        <p:spPr>
          <a:xfrm>
            <a:off x="4572000" y="2221992"/>
            <a:ext cx="4114800" cy="713232"/>
          </a:xfrm>
          <a:prstGeom prst="roundRect">
            <a:avLst>
              <a:gd name="adj" fmla="val 17949"/>
            </a:avLst>
          </a:prstGeom>
          <a:solidFill>
            <a:srgbClr val="111111"/>
          </a:solidFill>
          <a:ln w="12700">
            <a:solidFill>
              <a:srgbClr val="111111"/>
            </a:solidFill>
            <a:prstDash val="solid"/>
          </a:ln>
          <a:effectLst>
            <a:outerShdw sx="100000" sy="100000" kx="0" ky="0" algn="bl" rotWithShape="0" blurRad="127000" dist="38100" dir="5400000">
              <a:srgbClr val="000000">
                <a:alpha val="16000"/>
              </a:srgbClr>
            </a:outerShdw>
          </a:effectLst>
        </p:spPr>
      </p:sp>
      <p:sp>
        <p:nvSpPr>
          <p:cNvPr id="32" name="Shape 29"/>
          <p:cNvSpPr/>
          <p:nvPr/>
        </p:nvSpPr>
        <p:spPr>
          <a:xfrm>
            <a:off x="4709160" y="2350008"/>
            <a:ext cx="457200" cy="457200"/>
          </a:xfrm>
          <a:prstGeom prst="ellipse">
            <a:avLst/>
          </a:prstGeom>
          <a:solidFill>
            <a:srgbClr val="D7141A"/>
          </a:solidFill>
          <a:ln w="12700">
            <a:solidFill>
              <a:srgbClr val="D7141A"/>
            </a:solidFill>
            <a:prstDash val="solid"/>
          </a:ln>
        </p:spPr>
      </p:sp>
      <p:pic>
        <p:nvPicPr>
          <p:cNvPr id="33" name="Image 1" descr="/home/runner/work/Desa-Marga-Mulya/Desa-Marga-Mulya/deck/assets/build/red/icon-data-w.png">    </p:cNvPr>
          <p:cNvPicPr>
            <a:picLocks noChangeAspect="1"/>
          </p:cNvPicPr>
          <p:nvPr/>
        </p:nvPicPr>
        <p:blipFill>
          <a:blip r:embed="rId3"/>
          <a:stretch>
            <a:fillRect/>
          </a:stretch>
        </p:blipFill>
        <p:spPr>
          <a:xfrm>
            <a:off x="4818888" y="2459736"/>
            <a:ext cx="237744" cy="237744"/>
          </a:xfrm>
          <a:prstGeom prst="rect">
            <a:avLst/>
          </a:prstGeom>
        </p:spPr>
      </p:pic>
      <p:sp>
        <p:nvSpPr>
          <p:cNvPr id="34" name="Text 30"/>
          <p:cNvSpPr/>
          <p:nvPr/>
        </p:nvSpPr>
        <p:spPr>
          <a:xfrm>
            <a:off x="5349240" y="2331720"/>
            <a:ext cx="2011680" cy="256032"/>
          </a:xfrm>
          <a:prstGeom prst="rect">
            <a:avLst/>
          </a:prstGeom>
          <a:noFill/>
          <a:ln/>
        </p:spPr>
        <p:txBody>
          <a:bodyPr wrap="square" lIns="0" tIns="0" rIns="0" bIns="0" rtlCol="0" anchor="t"/>
          <a:lstStyle/>
          <a:p>
            <a:pPr indent="0" marL="0">
              <a:buNone/>
            </a:pPr>
            <a:r>
              <a:rPr lang="en-US" sz="1100" b="1" dirty="0">
                <a:solidFill>
                  <a:srgbClr val="FFFFFF"/>
                </a:solidFill>
                <a:latin typeface="Montserrat" pitchFamily="34" charset="0"/>
                <a:ea typeface="Montserrat" pitchFamily="34" charset="-122"/>
                <a:cs typeface="Montserrat" pitchFamily="34" charset="-120"/>
              </a:rPr>
              <a:t>OPEN VILLAGE DATA</a:t>
            </a:r>
            <a:endParaRPr lang="en-US" sz="1100" dirty="0"/>
          </a:p>
        </p:txBody>
      </p:sp>
      <p:sp>
        <p:nvSpPr>
          <p:cNvPr id="35" name="Text 31"/>
          <p:cNvSpPr/>
          <p:nvPr/>
        </p:nvSpPr>
        <p:spPr>
          <a:xfrm>
            <a:off x="5349240" y="2606040"/>
            <a:ext cx="2011680" cy="219456"/>
          </a:xfrm>
          <a:prstGeom prst="rect">
            <a:avLst/>
          </a:prstGeom>
          <a:noFill/>
          <a:ln/>
        </p:spPr>
        <p:txBody>
          <a:bodyPr wrap="square" lIns="0" tIns="0" rIns="0" bIns="0" rtlCol="0" anchor="t"/>
          <a:lstStyle/>
          <a:p>
            <a:pPr indent="0" marL="0">
              <a:buNone/>
            </a:pPr>
            <a:r>
              <a:rPr lang="en-US" sz="800" dirty="0">
                <a:solidFill>
                  <a:srgbClr val="D0D0D0"/>
                </a:solidFill>
                <a:latin typeface="Montserrat" pitchFamily="34" charset="0"/>
                <a:ea typeface="Montserrat" pitchFamily="34" charset="-122"/>
                <a:cs typeface="Montserrat" pitchFamily="34" charset="-120"/>
              </a:rPr>
              <a:t>tables, CSV export</a:t>
            </a:r>
            <a:endParaRPr lang="en-US" sz="800" dirty="0"/>
          </a:p>
        </p:txBody>
      </p:sp>
      <p:sp>
        <p:nvSpPr>
          <p:cNvPr id="36" name="Text 32"/>
          <p:cNvSpPr/>
          <p:nvPr/>
        </p:nvSpPr>
        <p:spPr>
          <a:xfrm>
            <a:off x="7223760" y="2313432"/>
            <a:ext cx="1325880" cy="530352"/>
          </a:xfrm>
          <a:prstGeom prst="rect">
            <a:avLst/>
          </a:prstGeom>
          <a:noFill/>
          <a:ln/>
        </p:spPr>
        <p:txBody>
          <a:bodyPr wrap="square" lIns="0" tIns="0" rIns="0" bIns="0" rtlCol="0" anchor="ctr"/>
          <a:lstStyle/>
          <a:p>
            <a:pPr algn="r" indent="0" marL="0">
              <a:buNone/>
            </a:pPr>
            <a:r>
              <a:rPr lang="en-US" sz="2400" b="1" dirty="0">
                <a:solidFill>
                  <a:srgbClr val="FF4D52"/>
                </a:solidFill>
                <a:latin typeface="Montserrat" pitchFamily="34" charset="0"/>
                <a:ea typeface="Montserrat" pitchFamily="34" charset="-122"/>
                <a:cs typeface="Montserrat" pitchFamily="34" charset="-120"/>
              </a:rPr>
              <a:t>42</a:t>
            </a:r>
            <a:endParaRPr lang="en-US" sz="2400" dirty="0"/>
          </a:p>
        </p:txBody>
      </p:sp>
      <p:sp>
        <p:nvSpPr>
          <p:cNvPr id="37" name="Shape 33"/>
          <p:cNvSpPr/>
          <p:nvPr/>
        </p:nvSpPr>
        <p:spPr>
          <a:xfrm>
            <a:off x="4572000" y="3072384"/>
            <a:ext cx="4114800" cy="713232"/>
          </a:xfrm>
          <a:prstGeom prst="roundRect">
            <a:avLst>
              <a:gd name="adj" fmla="val 17949"/>
            </a:avLst>
          </a:prstGeom>
          <a:solidFill>
            <a:srgbClr val="111111"/>
          </a:solidFill>
          <a:ln w="12700">
            <a:solidFill>
              <a:srgbClr val="111111"/>
            </a:solidFill>
            <a:prstDash val="solid"/>
          </a:ln>
          <a:effectLst>
            <a:outerShdw sx="100000" sy="100000" kx="0" ky="0" algn="bl" rotWithShape="0" blurRad="127000" dist="38100" dir="5400000">
              <a:srgbClr val="000000">
                <a:alpha val="16000"/>
              </a:srgbClr>
            </a:outerShdw>
          </a:effectLst>
        </p:spPr>
      </p:sp>
      <p:sp>
        <p:nvSpPr>
          <p:cNvPr id="38" name="Shape 34"/>
          <p:cNvSpPr/>
          <p:nvPr/>
        </p:nvSpPr>
        <p:spPr>
          <a:xfrm>
            <a:off x="4709160" y="3200400"/>
            <a:ext cx="457200" cy="457200"/>
          </a:xfrm>
          <a:prstGeom prst="ellipse">
            <a:avLst/>
          </a:prstGeom>
          <a:solidFill>
            <a:srgbClr val="D7141A"/>
          </a:solidFill>
          <a:ln w="12700">
            <a:solidFill>
              <a:srgbClr val="D7141A"/>
            </a:solidFill>
            <a:prstDash val="solid"/>
          </a:ln>
        </p:spPr>
      </p:sp>
      <p:pic>
        <p:nvPicPr>
          <p:cNvPr id="39" name="Image 2" descr="/home/runner/work/Desa-Marga-Mulya/Desa-Marga-Mulya/deck/assets/build/red/icon-market-w.png">    </p:cNvPr>
          <p:cNvPicPr>
            <a:picLocks noChangeAspect="1"/>
          </p:cNvPicPr>
          <p:nvPr/>
        </p:nvPicPr>
        <p:blipFill>
          <a:blip r:embed="rId4"/>
          <a:stretch>
            <a:fillRect/>
          </a:stretch>
        </p:blipFill>
        <p:spPr>
          <a:xfrm>
            <a:off x="4818888" y="3310128"/>
            <a:ext cx="237744" cy="237744"/>
          </a:xfrm>
          <a:prstGeom prst="rect">
            <a:avLst/>
          </a:prstGeom>
        </p:spPr>
      </p:pic>
      <p:sp>
        <p:nvSpPr>
          <p:cNvPr id="40" name="Text 35"/>
          <p:cNvSpPr/>
          <p:nvPr/>
        </p:nvSpPr>
        <p:spPr>
          <a:xfrm>
            <a:off x="5349240" y="3182112"/>
            <a:ext cx="2011680" cy="256032"/>
          </a:xfrm>
          <a:prstGeom prst="rect">
            <a:avLst/>
          </a:prstGeom>
          <a:noFill/>
          <a:ln/>
        </p:spPr>
        <p:txBody>
          <a:bodyPr wrap="square" lIns="0" tIns="0" rIns="0" bIns="0" rtlCol="0" anchor="t"/>
          <a:lstStyle/>
          <a:p>
            <a:pPr indent="0" marL="0">
              <a:buNone/>
            </a:pPr>
            <a:r>
              <a:rPr lang="en-US" sz="1100" b="1" dirty="0">
                <a:solidFill>
                  <a:srgbClr val="FFFFFF"/>
                </a:solidFill>
                <a:latin typeface="Montserrat" pitchFamily="34" charset="0"/>
                <a:ea typeface="Montserrat" pitchFamily="34" charset="-122"/>
                <a:cs typeface="Montserrat" pitchFamily="34" charset="-120"/>
              </a:rPr>
              <a:t>PASAR DESA</a:t>
            </a:r>
            <a:endParaRPr lang="en-US" sz="1100" dirty="0"/>
          </a:p>
        </p:txBody>
      </p:sp>
      <p:sp>
        <p:nvSpPr>
          <p:cNvPr id="41" name="Text 36"/>
          <p:cNvSpPr/>
          <p:nvPr/>
        </p:nvSpPr>
        <p:spPr>
          <a:xfrm>
            <a:off x="5349240" y="3456432"/>
            <a:ext cx="2011680" cy="219456"/>
          </a:xfrm>
          <a:prstGeom prst="rect">
            <a:avLst/>
          </a:prstGeom>
          <a:noFill/>
          <a:ln/>
        </p:spPr>
        <p:txBody>
          <a:bodyPr wrap="square" lIns="0" tIns="0" rIns="0" bIns="0" rtlCol="0" anchor="t"/>
          <a:lstStyle/>
          <a:p>
            <a:pPr indent="0" marL="0">
              <a:buNone/>
            </a:pPr>
            <a:r>
              <a:rPr lang="en-US" sz="800" dirty="0">
                <a:solidFill>
                  <a:srgbClr val="D0D0D0"/>
                </a:solidFill>
                <a:latin typeface="Montserrat" pitchFamily="34" charset="0"/>
                <a:ea typeface="Montserrat" pitchFamily="34" charset="-122"/>
                <a:cs typeface="Montserrat" pitchFamily="34" charset="-120"/>
              </a:rPr>
              <a:t>seller commission</a:t>
            </a:r>
            <a:endParaRPr lang="en-US" sz="800" dirty="0"/>
          </a:p>
        </p:txBody>
      </p:sp>
      <p:sp>
        <p:nvSpPr>
          <p:cNvPr id="42" name="Text 37"/>
          <p:cNvSpPr/>
          <p:nvPr/>
        </p:nvSpPr>
        <p:spPr>
          <a:xfrm>
            <a:off x="7223760" y="3163824"/>
            <a:ext cx="1325880" cy="530352"/>
          </a:xfrm>
          <a:prstGeom prst="rect">
            <a:avLst/>
          </a:prstGeom>
          <a:noFill/>
          <a:ln/>
        </p:spPr>
        <p:txBody>
          <a:bodyPr wrap="square" lIns="0" tIns="0" rIns="0" bIns="0" rtlCol="0" anchor="ctr"/>
          <a:lstStyle/>
          <a:p>
            <a:pPr algn="r" indent="0" marL="0">
              <a:buNone/>
            </a:pPr>
            <a:r>
              <a:rPr lang="en-US" sz="2400" b="1" dirty="0">
                <a:solidFill>
                  <a:srgbClr val="FF4D52"/>
                </a:solidFill>
                <a:latin typeface="Montserrat" pitchFamily="34" charset="0"/>
                <a:ea typeface="Montserrat" pitchFamily="34" charset="-122"/>
                <a:cs typeface="Montserrat" pitchFamily="34" charset="-120"/>
              </a:rPr>
              <a:t>0%</a:t>
            </a:r>
            <a:endParaRPr lang="en-US" sz="2400" dirty="0"/>
          </a:p>
        </p:txBody>
      </p:sp>
      <p:sp>
        <p:nvSpPr>
          <p:cNvPr id="43" name="Shape 38"/>
          <p:cNvSpPr/>
          <p:nvPr/>
        </p:nvSpPr>
        <p:spPr>
          <a:xfrm>
            <a:off x="4572000" y="3922776"/>
            <a:ext cx="4114800" cy="713232"/>
          </a:xfrm>
          <a:prstGeom prst="roundRect">
            <a:avLst>
              <a:gd name="adj" fmla="val 17949"/>
            </a:avLst>
          </a:prstGeom>
          <a:solidFill>
            <a:srgbClr val="111111"/>
          </a:solidFill>
          <a:ln w="12700">
            <a:solidFill>
              <a:srgbClr val="111111"/>
            </a:solidFill>
            <a:prstDash val="solid"/>
          </a:ln>
          <a:effectLst>
            <a:outerShdw sx="100000" sy="100000" kx="0" ky="0" algn="bl" rotWithShape="0" blurRad="127000" dist="38100" dir="5400000">
              <a:srgbClr val="000000">
                <a:alpha val="16000"/>
              </a:srgbClr>
            </a:outerShdw>
          </a:effectLst>
        </p:spPr>
      </p:sp>
      <p:sp>
        <p:nvSpPr>
          <p:cNvPr id="44" name="Shape 39"/>
          <p:cNvSpPr/>
          <p:nvPr/>
        </p:nvSpPr>
        <p:spPr>
          <a:xfrm>
            <a:off x="4709160" y="4050792"/>
            <a:ext cx="457200" cy="457200"/>
          </a:xfrm>
          <a:prstGeom prst="ellipse">
            <a:avLst/>
          </a:prstGeom>
          <a:solidFill>
            <a:srgbClr val="D7141A"/>
          </a:solidFill>
          <a:ln w="12700">
            <a:solidFill>
              <a:srgbClr val="D7141A"/>
            </a:solidFill>
            <a:prstDash val="solid"/>
          </a:ln>
        </p:spPr>
      </p:sp>
      <p:pic>
        <p:nvPicPr>
          <p:cNvPr id="45" name="Image 3" descr="/home/runner/work/Desa-Marga-Mulya/Desa-Marga-Mulya/deck/assets/build/red/icon-ai-w.png">    </p:cNvPr>
          <p:cNvPicPr>
            <a:picLocks noChangeAspect="1"/>
          </p:cNvPicPr>
          <p:nvPr/>
        </p:nvPicPr>
        <p:blipFill>
          <a:blip r:embed="rId5"/>
          <a:stretch>
            <a:fillRect/>
          </a:stretch>
        </p:blipFill>
        <p:spPr>
          <a:xfrm>
            <a:off x="4818888" y="4160520"/>
            <a:ext cx="237744" cy="237744"/>
          </a:xfrm>
          <a:prstGeom prst="rect">
            <a:avLst/>
          </a:prstGeom>
        </p:spPr>
      </p:pic>
      <p:sp>
        <p:nvSpPr>
          <p:cNvPr id="46" name="Text 40"/>
          <p:cNvSpPr/>
          <p:nvPr/>
        </p:nvSpPr>
        <p:spPr>
          <a:xfrm>
            <a:off x="5349240" y="4032504"/>
            <a:ext cx="2011680" cy="256032"/>
          </a:xfrm>
          <a:prstGeom prst="rect">
            <a:avLst/>
          </a:prstGeom>
          <a:noFill/>
          <a:ln/>
        </p:spPr>
        <p:txBody>
          <a:bodyPr wrap="square" lIns="0" tIns="0" rIns="0" bIns="0" rtlCol="0" anchor="t"/>
          <a:lstStyle/>
          <a:p>
            <a:pPr indent="0" marL="0">
              <a:buNone/>
            </a:pPr>
            <a:r>
              <a:rPr lang="en-US" sz="1100" b="1" dirty="0">
                <a:solidFill>
                  <a:srgbClr val="FFFFFF"/>
                </a:solidFill>
                <a:latin typeface="Montserrat" pitchFamily="34" charset="0"/>
                <a:ea typeface="Montserrat" pitchFamily="34" charset="-122"/>
                <a:cs typeface="Montserrat" pitchFamily="34" charset="-120"/>
              </a:rPr>
              <a:t>TANYA DESA AI</a:t>
            </a:r>
            <a:endParaRPr lang="en-US" sz="1100" dirty="0"/>
          </a:p>
        </p:txBody>
      </p:sp>
      <p:sp>
        <p:nvSpPr>
          <p:cNvPr id="47" name="Text 41"/>
          <p:cNvSpPr/>
          <p:nvPr/>
        </p:nvSpPr>
        <p:spPr>
          <a:xfrm>
            <a:off x="5349240" y="4306824"/>
            <a:ext cx="2011680" cy="219456"/>
          </a:xfrm>
          <a:prstGeom prst="rect">
            <a:avLst/>
          </a:prstGeom>
          <a:noFill/>
          <a:ln/>
        </p:spPr>
        <p:txBody>
          <a:bodyPr wrap="square" lIns="0" tIns="0" rIns="0" bIns="0" rtlCol="0" anchor="t"/>
          <a:lstStyle/>
          <a:p>
            <a:pPr indent="0" marL="0">
              <a:buNone/>
            </a:pPr>
            <a:r>
              <a:rPr lang="en-US" sz="800" dirty="0">
                <a:solidFill>
                  <a:srgbClr val="D0D0D0"/>
                </a:solidFill>
                <a:latin typeface="Montserrat" pitchFamily="34" charset="0"/>
                <a:ea typeface="Montserrat" pitchFamily="34" charset="-122"/>
                <a:cs typeface="Montserrat" pitchFamily="34" charset="-120"/>
              </a:rPr>
              <a:t>answers from CMS data</a:t>
            </a:r>
            <a:endParaRPr lang="en-US" sz="800" dirty="0"/>
          </a:p>
        </p:txBody>
      </p:sp>
      <p:sp>
        <p:nvSpPr>
          <p:cNvPr id="48" name="Text 42"/>
          <p:cNvSpPr/>
          <p:nvPr/>
        </p:nvSpPr>
        <p:spPr>
          <a:xfrm>
            <a:off x="7223760" y="4014216"/>
            <a:ext cx="1325880" cy="530352"/>
          </a:xfrm>
          <a:prstGeom prst="rect">
            <a:avLst/>
          </a:prstGeom>
          <a:noFill/>
          <a:ln/>
        </p:spPr>
        <p:txBody>
          <a:bodyPr wrap="square" lIns="0" tIns="0" rIns="0" bIns="0" rtlCol="0" anchor="ctr"/>
          <a:lstStyle/>
          <a:p>
            <a:pPr algn="r" indent="0" marL="0">
              <a:buNone/>
            </a:pPr>
            <a:r>
              <a:rPr lang="en-US" sz="2400" b="1" dirty="0">
                <a:solidFill>
                  <a:srgbClr val="FF4D52"/>
                </a:solidFill>
                <a:latin typeface="Montserrat" pitchFamily="34" charset="0"/>
                <a:ea typeface="Montserrat" pitchFamily="34" charset="-122"/>
                <a:cs typeface="Montserrat" pitchFamily="34" charset="-120"/>
              </a:rPr>
              <a:t>24/7</a:t>
            </a:r>
            <a:endParaRPr lang="en-US" sz="2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457200" y="146304"/>
            <a:ext cx="1645920" cy="228600"/>
          </a:xfrm>
          <a:prstGeom prst="rect">
            <a:avLst/>
          </a:prstGeom>
          <a:noFill/>
          <a:ln/>
        </p:spPr>
        <p:txBody>
          <a:bodyPr wrap="square" lIns="0" tIns="0" rIns="0" bIns="0" rtlCol="0" anchor="t"/>
          <a:lstStyle/>
          <a:p>
            <a:pPr algn="ctr" indent="0" marL="0">
              <a:buNone/>
            </a:pPr>
            <a:r>
              <a:rPr lang="en-US" sz="900" dirty="0">
                <a:solidFill>
                  <a:srgbClr val="8C8C8C"/>
                </a:solidFill>
                <a:latin typeface="Montserrat" pitchFamily="34" charset="0"/>
                <a:ea typeface="Montserrat" pitchFamily="34" charset="-122"/>
                <a:cs typeface="Montserrat" pitchFamily="34" charset="-120"/>
              </a:rPr>
              <a:t>Village</a:t>
            </a:r>
            <a:endParaRPr lang="en-US" sz="900" dirty="0"/>
          </a:p>
        </p:txBody>
      </p:sp>
      <p:sp>
        <p:nvSpPr>
          <p:cNvPr id="3" name="Text 1"/>
          <p:cNvSpPr/>
          <p:nvPr/>
        </p:nvSpPr>
        <p:spPr>
          <a:xfrm>
            <a:off x="2103120" y="146304"/>
            <a:ext cx="1645920" cy="228600"/>
          </a:xfrm>
          <a:prstGeom prst="rect">
            <a:avLst/>
          </a:prstGeom>
          <a:noFill/>
          <a:ln/>
        </p:spPr>
        <p:txBody>
          <a:bodyPr wrap="square" lIns="0" tIns="0" rIns="0" bIns="0" rtlCol="0" anchor="t"/>
          <a:lstStyle/>
          <a:p>
            <a:pPr algn="ctr" indent="0" marL="0">
              <a:buNone/>
            </a:pPr>
            <a:r>
              <a:rPr lang="en-US" sz="900" dirty="0">
                <a:solidFill>
                  <a:srgbClr val="8C8C8C"/>
                </a:solidFill>
                <a:latin typeface="Montserrat" pitchFamily="34" charset="0"/>
                <a:ea typeface="Montserrat" pitchFamily="34" charset="-122"/>
                <a:cs typeface="Montserrat" pitchFamily="34" charset="-120"/>
              </a:rPr>
              <a:t>Problem</a:t>
            </a:r>
            <a:endParaRPr lang="en-US" sz="900" dirty="0"/>
          </a:p>
        </p:txBody>
      </p:sp>
      <p:sp>
        <p:nvSpPr>
          <p:cNvPr id="4" name="Text 2"/>
          <p:cNvSpPr/>
          <p:nvPr/>
        </p:nvSpPr>
        <p:spPr>
          <a:xfrm>
            <a:off x="3749040" y="146304"/>
            <a:ext cx="1645920" cy="228600"/>
          </a:xfrm>
          <a:prstGeom prst="rect">
            <a:avLst/>
          </a:prstGeom>
          <a:noFill/>
          <a:ln/>
        </p:spPr>
        <p:txBody>
          <a:bodyPr wrap="square" lIns="0" tIns="0" rIns="0" bIns="0" rtlCol="0" anchor="t"/>
          <a:lstStyle/>
          <a:p>
            <a:pPr algn="ctr" indent="0" marL="0">
              <a:buNone/>
            </a:pPr>
            <a:r>
              <a:rPr lang="en-US" sz="900" dirty="0">
                <a:solidFill>
                  <a:srgbClr val="8C8C8C"/>
                </a:solidFill>
                <a:latin typeface="Montserrat" pitchFamily="34" charset="0"/>
                <a:ea typeface="Montserrat" pitchFamily="34" charset="-122"/>
                <a:cs typeface="Montserrat" pitchFamily="34" charset="-120"/>
              </a:rPr>
              <a:t>Solution</a:t>
            </a:r>
            <a:endParaRPr lang="en-US" sz="900" dirty="0"/>
          </a:p>
        </p:txBody>
      </p:sp>
      <p:sp>
        <p:nvSpPr>
          <p:cNvPr id="5" name="Shape 3"/>
          <p:cNvSpPr/>
          <p:nvPr/>
        </p:nvSpPr>
        <p:spPr>
          <a:xfrm>
            <a:off x="5669280" y="91440"/>
            <a:ext cx="1097280" cy="32004"/>
          </a:xfrm>
          <a:prstGeom prst="rect">
            <a:avLst/>
          </a:prstGeom>
          <a:solidFill>
            <a:srgbClr val="111111"/>
          </a:solidFill>
          <a:ln w="12700">
            <a:solidFill>
              <a:srgbClr val="111111"/>
            </a:solidFill>
            <a:prstDash val="solid"/>
          </a:ln>
        </p:spPr>
      </p:sp>
      <p:sp>
        <p:nvSpPr>
          <p:cNvPr id="6" name="Text 4"/>
          <p:cNvSpPr/>
          <p:nvPr/>
        </p:nvSpPr>
        <p:spPr>
          <a:xfrm>
            <a:off x="5394960" y="146304"/>
            <a:ext cx="1645920" cy="228600"/>
          </a:xfrm>
          <a:prstGeom prst="rect">
            <a:avLst/>
          </a:prstGeom>
          <a:noFill/>
          <a:ln/>
        </p:spPr>
        <p:txBody>
          <a:bodyPr wrap="square" lIns="0" tIns="0" rIns="0" bIns="0" rtlCol="0" anchor="t"/>
          <a:lstStyle/>
          <a:p>
            <a:pPr algn="ctr" indent="0" marL="0">
              <a:buNone/>
            </a:pPr>
            <a:r>
              <a:rPr lang="en-US" sz="900" b="1" dirty="0">
                <a:solidFill>
                  <a:srgbClr val="111111"/>
                </a:solidFill>
                <a:latin typeface="Montserrat" pitchFamily="34" charset="0"/>
                <a:ea typeface="Montserrat" pitchFamily="34" charset="-122"/>
                <a:cs typeface="Montserrat" pitchFamily="34" charset="-120"/>
              </a:rPr>
              <a:t>Demo</a:t>
            </a:r>
            <a:endParaRPr lang="en-US" sz="900" dirty="0"/>
          </a:p>
        </p:txBody>
      </p:sp>
      <p:sp>
        <p:nvSpPr>
          <p:cNvPr id="7" name="Text 5"/>
          <p:cNvSpPr/>
          <p:nvPr/>
        </p:nvSpPr>
        <p:spPr>
          <a:xfrm>
            <a:off x="7040880" y="146304"/>
            <a:ext cx="1645920" cy="228600"/>
          </a:xfrm>
          <a:prstGeom prst="rect">
            <a:avLst/>
          </a:prstGeom>
          <a:noFill/>
          <a:ln/>
        </p:spPr>
        <p:txBody>
          <a:bodyPr wrap="square" lIns="0" tIns="0" rIns="0" bIns="0" rtlCol="0" anchor="t"/>
          <a:lstStyle/>
          <a:p>
            <a:pPr algn="ctr" indent="0" marL="0">
              <a:buNone/>
            </a:pPr>
            <a:r>
              <a:rPr lang="en-US" sz="900" dirty="0">
                <a:solidFill>
                  <a:srgbClr val="8C8C8C"/>
                </a:solidFill>
                <a:latin typeface="Montserrat" pitchFamily="34" charset="0"/>
                <a:ea typeface="Montserrat" pitchFamily="34" charset="-122"/>
                <a:cs typeface="Montserrat" pitchFamily="34" charset="-120"/>
              </a:rPr>
              <a:t>Impact</a:t>
            </a:r>
            <a:endParaRPr lang="en-US" sz="900" dirty="0"/>
          </a:p>
        </p:txBody>
      </p:sp>
      <p:sp>
        <p:nvSpPr>
          <p:cNvPr id="8" name="Text 6"/>
          <p:cNvSpPr/>
          <p:nvPr/>
        </p:nvSpPr>
        <p:spPr>
          <a:xfrm>
            <a:off x="457200" y="457200"/>
            <a:ext cx="8229600" cy="502920"/>
          </a:xfrm>
          <a:prstGeom prst="rect">
            <a:avLst/>
          </a:prstGeom>
          <a:noFill/>
          <a:ln/>
        </p:spPr>
        <p:txBody>
          <a:bodyPr wrap="square" lIns="0" tIns="0" rIns="0" bIns="0" rtlCol="0" anchor="t"/>
          <a:lstStyle/>
          <a:p>
            <a:pPr algn="ctr" indent="0" marL="0">
              <a:buNone/>
            </a:pPr>
            <a:r>
              <a:rPr lang="en-US" sz="2600" b="1" dirty="0">
                <a:solidFill>
                  <a:srgbClr val="111111"/>
                </a:solidFill>
                <a:latin typeface="Montserrat" pitchFamily="34" charset="0"/>
                <a:ea typeface="Montserrat" pitchFamily="34" charset="-122"/>
                <a:cs typeface="Montserrat" pitchFamily="34" charset="-120"/>
              </a:rPr>
              <a:t>Built and Live</a:t>
            </a:r>
            <a:endParaRPr lang="en-US" sz="2600" dirty="0"/>
          </a:p>
        </p:txBody>
      </p:sp>
      <p:sp>
        <p:nvSpPr>
          <p:cNvPr id="9" name="Text 7"/>
          <p:cNvSpPr/>
          <p:nvPr/>
        </p:nvSpPr>
        <p:spPr>
          <a:xfrm>
            <a:off x="457200" y="950976"/>
            <a:ext cx="8229600" cy="274320"/>
          </a:xfrm>
          <a:prstGeom prst="rect">
            <a:avLst/>
          </a:prstGeom>
          <a:noFill/>
          <a:ln/>
        </p:spPr>
        <p:txBody>
          <a:bodyPr wrap="square" lIns="0" tIns="0" rIns="0" bIns="0" rtlCol="0" anchor="t"/>
          <a:lstStyle/>
          <a:p>
            <a:pPr algn="ctr" indent="0" marL="0">
              <a:buNone/>
            </a:pPr>
            <a:r>
              <a:rPr lang="en-US" sz="1200" b="1" dirty="0">
                <a:solidFill>
                  <a:srgbClr val="555555"/>
                </a:solidFill>
                <a:latin typeface="Montserrat" pitchFamily="34" charset="0"/>
                <a:ea typeface="Montserrat" pitchFamily="34" charset="-122"/>
                <a:cs typeface="Montserrat" pitchFamily="34" charset="-120"/>
              </a:rPr>
              <a:t>Live demo: desa-marga-mulya.vercel.app</a:t>
            </a:r>
            <a:endParaRPr lang="en-US" sz="1200" dirty="0"/>
          </a:p>
        </p:txBody>
      </p:sp>
      <p:pic>
        <p:nvPicPr>
          <p:cNvPr id="10" name="Image 0" descr="/home/runner/work/Desa-Marga-Mulya/Desa-Marga-Mulya/deck/assets/build/red/blob.png">    </p:cNvPr>
          <p:cNvPicPr>
            <a:picLocks noChangeAspect="1"/>
          </p:cNvPicPr>
          <p:nvPr/>
        </p:nvPicPr>
        <p:blipFill>
          <a:blip r:embed="rId2"/>
          <a:stretch>
            <a:fillRect/>
          </a:stretch>
        </p:blipFill>
        <p:spPr>
          <a:xfrm>
            <a:off x="-320040" y="2331720"/>
            <a:ext cx="2103120" cy="1600200"/>
          </a:xfrm>
          <a:prstGeom prst="rect">
            <a:avLst/>
          </a:prstGeom>
        </p:spPr>
      </p:pic>
      <p:pic>
        <p:nvPicPr>
          <p:cNvPr id="11" name="Image 1" descr="/home/runner/work/Desa-Marga-Mulya/Desa-Marga-Mulya/deck/assets/build/red/blob.png">    </p:cNvPr>
          <p:cNvPicPr>
            <a:picLocks noChangeAspect="1"/>
          </p:cNvPicPr>
          <p:nvPr/>
        </p:nvPicPr>
        <p:blipFill>
          <a:blip r:embed="rId3"/>
          <a:stretch>
            <a:fillRect/>
          </a:stretch>
        </p:blipFill>
        <p:spPr>
          <a:xfrm flipH="1">
            <a:off x="7040880" y="1920240"/>
            <a:ext cx="2468880" cy="1920240"/>
          </a:xfrm>
          <a:prstGeom prst="rect">
            <a:avLst/>
          </a:prstGeom>
        </p:spPr>
      </p:pic>
      <p:sp>
        <p:nvSpPr>
          <p:cNvPr id="12" name="Shape 8"/>
          <p:cNvSpPr/>
          <p:nvPr/>
        </p:nvSpPr>
        <p:spPr>
          <a:xfrm>
            <a:off x="822960" y="1371600"/>
            <a:ext cx="4206240" cy="2487168"/>
          </a:xfrm>
          <a:prstGeom prst="roundRect">
            <a:avLst>
              <a:gd name="adj" fmla="val 3676"/>
            </a:avLst>
          </a:prstGeom>
          <a:solidFill>
            <a:srgbClr val="1A1A1A"/>
          </a:solidFill>
          <a:ln w="12700">
            <a:solidFill>
              <a:srgbClr val="1A1A1A"/>
            </a:solidFill>
            <a:prstDash val="solid"/>
          </a:ln>
          <a:effectLst>
            <a:outerShdw sx="100000" sy="100000" kx="0" ky="0" algn="bl" rotWithShape="0" blurRad="127000" dist="38100" dir="5400000">
              <a:srgbClr val="000000">
                <a:alpha val="16000"/>
              </a:srgbClr>
            </a:outerShdw>
          </a:effectLst>
        </p:spPr>
      </p:sp>
      <p:pic>
        <p:nvPicPr>
          <p:cNvPr id="13" name="Image 2" descr="/home/runner/work/Desa-Marga-Mulya/Desa-Marga-Mulya/deck/assets/build/shot-home.png">    </p:cNvPr>
          <p:cNvPicPr>
            <a:picLocks noChangeAspect="1"/>
          </p:cNvPicPr>
          <p:nvPr/>
        </p:nvPicPr>
        <p:blipFill>
          <a:blip r:embed="rId4"/>
          <a:srcRect l="0" r="0" t="0" b="0"/>
          <a:stretch/>
        </p:blipFill>
        <p:spPr>
          <a:xfrm>
            <a:off x="914400" y="1463040"/>
            <a:ext cx="4023360" cy="2304288"/>
          </a:xfrm>
          <a:prstGeom prst="rect">
            <a:avLst/>
          </a:prstGeom>
        </p:spPr>
      </p:pic>
      <p:sp>
        <p:nvSpPr>
          <p:cNvPr id="14" name="Shape 9"/>
          <p:cNvSpPr/>
          <p:nvPr/>
        </p:nvSpPr>
        <p:spPr>
          <a:xfrm>
            <a:off x="594360" y="3858768"/>
            <a:ext cx="4663440" cy="109728"/>
          </a:xfrm>
          <a:prstGeom prst="roundRect">
            <a:avLst>
              <a:gd name="adj" fmla="val 41667"/>
            </a:avLst>
          </a:prstGeom>
          <a:solidFill>
            <a:srgbClr val="BFBFBF"/>
          </a:solidFill>
          <a:ln w="12700">
            <a:solidFill>
              <a:srgbClr val="BFBFBF"/>
            </a:solidFill>
            <a:prstDash val="solid"/>
          </a:ln>
        </p:spPr>
      </p:sp>
      <p:sp>
        <p:nvSpPr>
          <p:cNvPr id="15" name="Text 10"/>
          <p:cNvSpPr/>
          <p:nvPr/>
        </p:nvSpPr>
        <p:spPr>
          <a:xfrm>
            <a:off x="822960" y="4023360"/>
            <a:ext cx="4206240" cy="201168"/>
          </a:xfrm>
          <a:prstGeom prst="rect">
            <a:avLst/>
          </a:prstGeom>
          <a:noFill/>
          <a:ln/>
        </p:spPr>
        <p:txBody>
          <a:bodyPr wrap="square" lIns="0" tIns="0" rIns="0" bIns="0" rtlCol="0" anchor="t"/>
          <a:lstStyle/>
          <a:p>
            <a:pPr algn="ctr" indent="0" marL="0">
              <a:buNone/>
            </a:pPr>
            <a:r>
              <a:rPr lang="en-US" sz="900" b="1" dirty="0">
                <a:solidFill>
                  <a:srgbClr val="111111"/>
                </a:solidFill>
                <a:latin typeface="Montserrat" pitchFamily="34" charset="0"/>
                <a:ea typeface="Montserrat" pitchFamily="34" charset="-122"/>
                <a:cs typeface="Montserrat" pitchFamily="34" charset="-120"/>
              </a:rPr>
              <a:t>Home: live office status</a:t>
            </a:r>
            <a:endParaRPr lang="en-US" sz="900" dirty="0"/>
          </a:p>
        </p:txBody>
      </p:sp>
      <p:sp>
        <p:nvSpPr>
          <p:cNvPr id="16" name="Shape 11"/>
          <p:cNvSpPr/>
          <p:nvPr/>
        </p:nvSpPr>
        <p:spPr>
          <a:xfrm>
            <a:off x="5440680" y="1325880"/>
            <a:ext cx="1325880" cy="2697480"/>
          </a:xfrm>
          <a:prstGeom prst="roundRect">
            <a:avLst>
              <a:gd name="adj" fmla="val 12414"/>
            </a:avLst>
          </a:prstGeom>
          <a:solidFill>
            <a:srgbClr val="1A1A1A"/>
          </a:solidFill>
          <a:ln w="12700">
            <a:solidFill>
              <a:srgbClr val="1A1A1A"/>
            </a:solidFill>
            <a:prstDash val="solid"/>
          </a:ln>
          <a:effectLst>
            <a:outerShdw sx="100000" sy="100000" kx="0" ky="0" algn="bl" rotWithShape="0" blurRad="127000" dist="38100" dir="5400000">
              <a:srgbClr val="000000">
                <a:alpha val="16000"/>
              </a:srgbClr>
            </a:outerShdw>
          </a:effectLst>
        </p:spPr>
      </p:sp>
      <p:pic>
        <p:nvPicPr>
          <p:cNvPr id="17" name="Image 3" descr="/home/runner/work/Desa-Marga-Mulya/Desa-Marga-Mulya/deck/assets/build/shot-cart.png">    </p:cNvPr>
          <p:cNvPicPr>
            <a:picLocks noChangeAspect="1"/>
          </p:cNvPicPr>
          <p:nvPr/>
        </p:nvPicPr>
        <p:blipFill>
          <a:blip r:embed="rId5"/>
          <a:srcRect l="0" r="0" t="0" b="0"/>
          <a:stretch/>
        </p:blipFill>
        <p:spPr>
          <a:xfrm>
            <a:off x="5504688" y="1389888"/>
            <a:ext cx="1197864" cy="2569464"/>
          </a:xfrm>
          <a:prstGeom prst="rect">
            <a:avLst/>
          </a:prstGeom>
        </p:spPr>
      </p:pic>
      <p:sp>
        <p:nvSpPr>
          <p:cNvPr id="18" name="Text 12"/>
          <p:cNvSpPr/>
          <p:nvPr/>
        </p:nvSpPr>
        <p:spPr>
          <a:xfrm>
            <a:off x="5303520" y="4096512"/>
            <a:ext cx="1600200" cy="201168"/>
          </a:xfrm>
          <a:prstGeom prst="rect">
            <a:avLst/>
          </a:prstGeom>
          <a:noFill/>
          <a:ln/>
        </p:spPr>
        <p:txBody>
          <a:bodyPr wrap="square" lIns="0" tIns="0" rIns="0" bIns="0" rtlCol="0" anchor="t"/>
          <a:lstStyle/>
          <a:p>
            <a:pPr algn="ctr" indent="0" marL="0">
              <a:buNone/>
            </a:pPr>
            <a:r>
              <a:rPr lang="en-US" sz="900" b="1" dirty="0">
                <a:solidFill>
                  <a:srgbClr val="111111"/>
                </a:solidFill>
                <a:latin typeface="Montserrat" pitchFamily="34" charset="0"/>
                <a:ea typeface="Montserrat" pitchFamily="34" charset="-122"/>
                <a:cs typeface="Montserrat" pitchFamily="34" charset="-120"/>
              </a:rPr>
              <a:t>Cart split per seller</a:t>
            </a:r>
            <a:endParaRPr lang="en-US" sz="900" dirty="0"/>
          </a:p>
        </p:txBody>
      </p:sp>
      <p:sp>
        <p:nvSpPr>
          <p:cNvPr id="19" name="Shape 13"/>
          <p:cNvSpPr/>
          <p:nvPr/>
        </p:nvSpPr>
        <p:spPr>
          <a:xfrm>
            <a:off x="7040880" y="1325880"/>
            <a:ext cx="1325880" cy="2697480"/>
          </a:xfrm>
          <a:prstGeom prst="roundRect">
            <a:avLst>
              <a:gd name="adj" fmla="val 12414"/>
            </a:avLst>
          </a:prstGeom>
          <a:solidFill>
            <a:srgbClr val="1A1A1A"/>
          </a:solidFill>
          <a:ln w="12700">
            <a:solidFill>
              <a:srgbClr val="1A1A1A"/>
            </a:solidFill>
            <a:prstDash val="solid"/>
          </a:ln>
          <a:effectLst>
            <a:outerShdw sx="100000" sy="100000" kx="0" ky="0" algn="bl" rotWithShape="0" blurRad="127000" dist="38100" dir="5400000">
              <a:srgbClr val="000000">
                <a:alpha val="16000"/>
              </a:srgbClr>
            </a:outerShdw>
          </a:effectLst>
        </p:spPr>
      </p:sp>
      <p:pic>
        <p:nvPicPr>
          <p:cNvPr id="20" name="Image 4" descr="/home/runner/work/Desa-Marga-Mulya/Desa-Marga-Mulya/deck/assets/build/shot-seller.png">    </p:cNvPr>
          <p:cNvPicPr>
            <a:picLocks noChangeAspect="1"/>
          </p:cNvPicPr>
          <p:nvPr/>
        </p:nvPicPr>
        <p:blipFill>
          <a:blip r:embed="rId6"/>
          <a:srcRect l="0" r="0" t="0" b="0"/>
          <a:stretch/>
        </p:blipFill>
        <p:spPr>
          <a:xfrm>
            <a:off x="7104888" y="1389888"/>
            <a:ext cx="1197864" cy="2569464"/>
          </a:xfrm>
          <a:prstGeom prst="rect">
            <a:avLst/>
          </a:prstGeom>
        </p:spPr>
      </p:pic>
      <p:sp>
        <p:nvSpPr>
          <p:cNvPr id="21" name="Text 14"/>
          <p:cNvSpPr/>
          <p:nvPr/>
        </p:nvSpPr>
        <p:spPr>
          <a:xfrm>
            <a:off x="6903720" y="4096512"/>
            <a:ext cx="1600200" cy="201168"/>
          </a:xfrm>
          <a:prstGeom prst="rect">
            <a:avLst/>
          </a:prstGeom>
          <a:noFill/>
          <a:ln/>
        </p:spPr>
        <p:txBody>
          <a:bodyPr wrap="square" lIns="0" tIns="0" rIns="0" bIns="0" rtlCol="0" anchor="t"/>
          <a:lstStyle/>
          <a:p>
            <a:pPr algn="ctr" indent="0" marL="0">
              <a:buNone/>
            </a:pPr>
            <a:r>
              <a:rPr lang="en-US" sz="900" b="1" dirty="0">
                <a:solidFill>
                  <a:srgbClr val="111111"/>
                </a:solidFill>
                <a:latin typeface="Montserrat" pitchFamily="34" charset="0"/>
                <a:ea typeface="Montserrat" pitchFamily="34" charset="-122"/>
                <a:cs typeface="Montserrat" pitchFamily="34" charset="-120"/>
              </a:rPr>
              <a:t>Seller portal</a:t>
            </a:r>
            <a:endParaRPr lang="en-US" sz="900" dirty="0"/>
          </a:p>
        </p:txBody>
      </p:sp>
      <p:sp>
        <p:nvSpPr>
          <p:cNvPr id="22" name="Shape 15"/>
          <p:cNvSpPr/>
          <p:nvPr/>
        </p:nvSpPr>
        <p:spPr>
          <a:xfrm>
            <a:off x="502920" y="4343400"/>
            <a:ext cx="8138160" cy="658368"/>
          </a:xfrm>
          <a:prstGeom prst="roundRect">
            <a:avLst>
              <a:gd name="adj" fmla="val 19444"/>
            </a:avLst>
          </a:prstGeom>
          <a:solidFill>
            <a:srgbClr val="FFFFFF"/>
          </a:solidFill>
          <a:ln w="12700">
            <a:solidFill>
              <a:srgbClr val="111111"/>
            </a:solidFill>
            <a:prstDash val="solid"/>
          </a:ln>
        </p:spPr>
      </p:sp>
      <p:sp>
        <p:nvSpPr>
          <p:cNvPr id="23" name="Text 16"/>
          <p:cNvSpPr/>
          <p:nvPr/>
        </p:nvSpPr>
        <p:spPr>
          <a:xfrm>
            <a:off x="685800" y="4343400"/>
            <a:ext cx="1097280" cy="658368"/>
          </a:xfrm>
          <a:prstGeom prst="rect">
            <a:avLst/>
          </a:prstGeom>
          <a:noFill/>
          <a:ln/>
        </p:spPr>
        <p:txBody>
          <a:bodyPr wrap="square" lIns="0" tIns="0" rIns="0" bIns="0" rtlCol="0" anchor="ctr"/>
          <a:lstStyle/>
          <a:p>
            <a:pPr indent="0" marL="0">
              <a:buNone/>
            </a:pPr>
            <a:r>
              <a:rPr lang="en-US" sz="1100" b="1" dirty="0">
                <a:solidFill>
                  <a:srgbClr val="111111"/>
                </a:solidFill>
                <a:latin typeface="Montserrat" pitchFamily="34" charset="0"/>
                <a:ea typeface="Montserrat" pitchFamily="34" charset="-122"/>
                <a:cs typeface="Montserrat" pitchFamily="34" charset="-120"/>
              </a:rPr>
              <a:t>Tech Stack</a:t>
            </a:r>
            <a:endParaRPr lang="en-US" sz="1100" dirty="0"/>
          </a:p>
        </p:txBody>
      </p:sp>
      <p:pic>
        <p:nvPicPr>
          <p:cNvPr id="24" name="Image 5" descr="/home/runner/work/Desa-Marga-Mulya/Desa-Marga-Mulya/deck/assets/build/red/tech-SiNextdotjs.png">    </p:cNvPr>
          <p:cNvPicPr>
            <a:picLocks noChangeAspect="1"/>
          </p:cNvPicPr>
          <p:nvPr/>
        </p:nvPicPr>
        <p:blipFill>
          <a:blip r:embed="rId7"/>
          <a:stretch>
            <a:fillRect/>
          </a:stretch>
        </p:blipFill>
        <p:spPr>
          <a:xfrm>
            <a:off x="2103120" y="4416552"/>
            <a:ext cx="274320" cy="274320"/>
          </a:xfrm>
          <a:prstGeom prst="rect">
            <a:avLst/>
          </a:prstGeom>
        </p:spPr>
      </p:pic>
      <p:sp>
        <p:nvSpPr>
          <p:cNvPr id="25" name="Text 17"/>
          <p:cNvSpPr/>
          <p:nvPr/>
        </p:nvSpPr>
        <p:spPr>
          <a:xfrm>
            <a:off x="1874520" y="4709160"/>
            <a:ext cx="731520" cy="182880"/>
          </a:xfrm>
          <a:prstGeom prst="rect">
            <a:avLst/>
          </a:prstGeom>
          <a:noFill/>
          <a:ln/>
        </p:spPr>
        <p:txBody>
          <a:bodyPr wrap="square" lIns="0" tIns="0" rIns="0" bIns="0" rtlCol="0" anchor="t"/>
          <a:lstStyle/>
          <a:p>
            <a:pPr algn="ctr" indent="0" marL="0">
              <a:buNone/>
            </a:pPr>
            <a:r>
              <a:rPr lang="en-US" sz="700" dirty="0">
                <a:solidFill>
                  <a:srgbClr val="555555"/>
                </a:solidFill>
                <a:latin typeface="Montserrat" pitchFamily="34" charset="0"/>
                <a:ea typeface="Montserrat" pitchFamily="34" charset="-122"/>
                <a:cs typeface="Montserrat" pitchFamily="34" charset="-120"/>
              </a:rPr>
              <a:t>Next.js</a:t>
            </a:r>
            <a:endParaRPr lang="en-US" sz="700" dirty="0"/>
          </a:p>
        </p:txBody>
      </p:sp>
      <p:pic>
        <p:nvPicPr>
          <p:cNvPr id="26" name="Image 6" descr="/home/runner/work/Desa-Marga-Mulya/Desa-Marga-Mulya/deck/assets/build/red/tech-SiReact.png">    </p:cNvPr>
          <p:cNvPicPr>
            <a:picLocks noChangeAspect="1"/>
          </p:cNvPicPr>
          <p:nvPr/>
        </p:nvPicPr>
        <p:blipFill>
          <a:blip r:embed="rId8"/>
          <a:stretch>
            <a:fillRect/>
          </a:stretch>
        </p:blipFill>
        <p:spPr>
          <a:xfrm>
            <a:off x="2834640" y="4416552"/>
            <a:ext cx="274320" cy="274320"/>
          </a:xfrm>
          <a:prstGeom prst="rect">
            <a:avLst/>
          </a:prstGeom>
        </p:spPr>
      </p:pic>
      <p:sp>
        <p:nvSpPr>
          <p:cNvPr id="27" name="Text 18"/>
          <p:cNvSpPr/>
          <p:nvPr/>
        </p:nvSpPr>
        <p:spPr>
          <a:xfrm>
            <a:off x="2606040" y="4709160"/>
            <a:ext cx="731520" cy="182880"/>
          </a:xfrm>
          <a:prstGeom prst="rect">
            <a:avLst/>
          </a:prstGeom>
          <a:noFill/>
          <a:ln/>
        </p:spPr>
        <p:txBody>
          <a:bodyPr wrap="square" lIns="0" tIns="0" rIns="0" bIns="0" rtlCol="0" anchor="t"/>
          <a:lstStyle/>
          <a:p>
            <a:pPr algn="ctr" indent="0" marL="0">
              <a:buNone/>
            </a:pPr>
            <a:r>
              <a:rPr lang="en-US" sz="700" dirty="0">
                <a:solidFill>
                  <a:srgbClr val="555555"/>
                </a:solidFill>
                <a:latin typeface="Montserrat" pitchFamily="34" charset="0"/>
                <a:ea typeface="Montserrat" pitchFamily="34" charset="-122"/>
                <a:cs typeface="Montserrat" pitchFamily="34" charset="-120"/>
              </a:rPr>
              <a:t>React</a:t>
            </a:r>
            <a:endParaRPr lang="en-US" sz="700" dirty="0"/>
          </a:p>
        </p:txBody>
      </p:sp>
      <p:pic>
        <p:nvPicPr>
          <p:cNvPr id="28" name="Image 7" descr="/home/runner/work/Desa-Marga-Mulya/Desa-Marga-Mulya/deck/assets/build/red/tech-SiTypescript.png">    </p:cNvPr>
          <p:cNvPicPr>
            <a:picLocks noChangeAspect="1"/>
          </p:cNvPicPr>
          <p:nvPr/>
        </p:nvPicPr>
        <p:blipFill>
          <a:blip r:embed="rId9"/>
          <a:stretch>
            <a:fillRect/>
          </a:stretch>
        </p:blipFill>
        <p:spPr>
          <a:xfrm>
            <a:off x="3566160" y="4416552"/>
            <a:ext cx="274320" cy="274320"/>
          </a:xfrm>
          <a:prstGeom prst="rect">
            <a:avLst/>
          </a:prstGeom>
        </p:spPr>
      </p:pic>
      <p:sp>
        <p:nvSpPr>
          <p:cNvPr id="29" name="Text 19"/>
          <p:cNvSpPr/>
          <p:nvPr/>
        </p:nvSpPr>
        <p:spPr>
          <a:xfrm>
            <a:off x="3337560" y="4709160"/>
            <a:ext cx="731520" cy="182880"/>
          </a:xfrm>
          <a:prstGeom prst="rect">
            <a:avLst/>
          </a:prstGeom>
          <a:noFill/>
          <a:ln/>
        </p:spPr>
        <p:txBody>
          <a:bodyPr wrap="square" lIns="0" tIns="0" rIns="0" bIns="0" rtlCol="0" anchor="t"/>
          <a:lstStyle/>
          <a:p>
            <a:pPr algn="ctr" indent="0" marL="0">
              <a:buNone/>
            </a:pPr>
            <a:r>
              <a:rPr lang="en-US" sz="700" dirty="0">
                <a:solidFill>
                  <a:srgbClr val="555555"/>
                </a:solidFill>
                <a:latin typeface="Montserrat" pitchFamily="34" charset="0"/>
                <a:ea typeface="Montserrat" pitchFamily="34" charset="-122"/>
                <a:cs typeface="Montserrat" pitchFamily="34" charset="-120"/>
              </a:rPr>
              <a:t>TypeScript</a:t>
            </a:r>
            <a:endParaRPr lang="en-US" sz="700" dirty="0"/>
          </a:p>
        </p:txBody>
      </p:sp>
      <p:pic>
        <p:nvPicPr>
          <p:cNvPr id="30" name="Image 8" descr="/home/runner/work/Desa-Marga-Mulya/Desa-Marga-Mulya/deck/assets/build/red/tech-SiTailwindcss.png">    </p:cNvPr>
          <p:cNvPicPr>
            <a:picLocks noChangeAspect="1"/>
          </p:cNvPicPr>
          <p:nvPr/>
        </p:nvPicPr>
        <p:blipFill>
          <a:blip r:embed="rId10"/>
          <a:stretch>
            <a:fillRect/>
          </a:stretch>
        </p:blipFill>
        <p:spPr>
          <a:xfrm>
            <a:off x="4297680" y="4416552"/>
            <a:ext cx="274320" cy="274320"/>
          </a:xfrm>
          <a:prstGeom prst="rect">
            <a:avLst/>
          </a:prstGeom>
        </p:spPr>
      </p:pic>
      <p:sp>
        <p:nvSpPr>
          <p:cNvPr id="31" name="Text 20"/>
          <p:cNvSpPr/>
          <p:nvPr/>
        </p:nvSpPr>
        <p:spPr>
          <a:xfrm>
            <a:off x="4069080" y="4709160"/>
            <a:ext cx="731520" cy="182880"/>
          </a:xfrm>
          <a:prstGeom prst="rect">
            <a:avLst/>
          </a:prstGeom>
          <a:noFill/>
          <a:ln/>
        </p:spPr>
        <p:txBody>
          <a:bodyPr wrap="square" lIns="0" tIns="0" rIns="0" bIns="0" rtlCol="0" anchor="t"/>
          <a:lstStyle/>
          <a:p>
            <a:pPr algn="ctr" indent="0" marL="0">
              <a:buNone/>
            </a:pPr>
            <a:r>
              <a:rPr lang="en-US" sz="700" dirty="0">
                <a:solidFill>
                  <a:srgbClr val="555555"/>
                </a:solidFill>
                <a:latin typeface="Montserrat" pitchFamily="34" charset="0"/>
                <a:ea typeface="Montserrat" pitchFamily="34" charset="-122"/>
                <a:cs typeface="Montserrat" pitchFamily="34" charset="-120"/>
              </a:rPr>
              <a:t>Tailwind</a:t>
            </a:r>
            <a:endParaRPr lang="en-US" sz="700" dirty="0"/>
          </a:p>
        </p:txBody>
      </p:sp>
      <p:pic>
        <p:nvPicPr>
          <p:cNvPr id="32" name="Image 9" descr="/home/runner/work/Desa-Marga-Mulya/Desa-Marga-Mulya/deck/assets/build/red/tech-SiPostgresql.png">    </p:cNvPr>
          <p:cNvPicPr>
            <a:picLocks noChangeAspect="1"/>
          </p:cNvPicPr>
          <p:nvPr/>
        </p:nvPicPr>
        <p:blipFill>
          <a:blip r:embed="rId11"/>
          <a:stretch>
            <a:fillRect/>
          </a:stretch>
        </p:blipFill>
        <p:spPr>
          <a:xfrm>
            <a:off x="5029200" y="4416552"/>
            <a:ext cx="274320" cy="274320"/>
          </a:xfrm>
          <a:prstGeom prst="rect">
            <a:avLst/>
          </a:prstGeom>
        </p:spPr>
      </p:pic>
      <p:sp>
        <p:nvSpPr>
          <p:cNvPr id="33" name="Text 21"/>
          <p:cNvSpPr/>
          <p:nvPr/>
        </p:nvSpPr>
        <p:spPr>
          <a:xfrm>
            <a:off x="4800600" y="4709160"/>
            <a:ext cx="731520" cy="182880"/>
          </a:xfrm>
          <a:prstGeom prst="rect">
            <a:avLst/>
          </a:prstGeom>
          <a:noFill/>
          <a:ln/>
        </p:spPr>
        <p:txBody>
          <a:bodyPr wrap="square" lIns="0" tIns="0" rIns="0" bIns="0" rtlCol="0" anchor="t"/>
          <a:lstStyle/>
          <a:p>
            <a:pPr algn="ctr" indent="0" marL="0">
              <a:buNone/>
            </a:pPr>
            <a:r>
              <a:rPr lang="en-US" sz="700" dirty="0">
                <a:solidFill>
                  <a:srgbClr val="555555"/>
                </a:solidFill>
                <a:latin typeface="Montserrat" pitchFamily="34" charset="0"/>
                <a:ea typeface="Montserrat" pitchFamily="34" charset="-122"/>
                <a:cs typeface="Montserrat" pitchFamily="34" charset="-120"/>
              </a:rPr>
              <a:t>PostgreSQL</a:t>
            </a:r>
            <a:endParaRPr lang="en-US" sz="700" dirty="0"/>
          </a:p>
        </p:txBody>
      </p:sp>
      <p:pic>
        <p:nvPicPr>
          <p:cNvPr id="34" name="Image 10" descr="/home/runner/work/Desa-Marga-Mulya/Desa-Marga-Mulya/deck/assets/build/red/tech-SiVercel.png">    </p:cNvPr>
          <p:cNvPicPr>
            <a:picLocks noChangeAspect="1"/>
          </p:cNvPicPr>
          <p:nvPr/>
        </p:nvPicPr>
        <p:blipFill>
          <a:blip r:embed="rId12"/>
          <a:stretch>
            <a:fillRect/>
          </a:stretch>
        </p:blipFill>
        <p:spPr>
          <a:xfrm>
            <a:off x="5760720" y="4416552"/>
            <a:ext cx="274320" cy="274320"/>
          </a:xfrm>
          <a:prstGeom prst="rect">
            <a:avLst/>
          </a:prstGeom>
        </p:spPr>
      </p:pic>
      <p:sp>
        <p:nvSpPr>
          <p:cNvPr id="35" name="Text 22"/>
          <p:cNvSpPr/>
          <p:nvPr/>
        </p:nvSpPr>
        <p:spPr>
          <a:xfrm>
            <a:off x="5532120" y="4709160"/>
            <a:ext cx="731520" cy="182880"/>
          </a:xfrm>
          <a:prstGeom prst="rect">
            <a:avLst/>
          </a:prstGeom>
          <a:noFill/>
          <a:ln/>
        </p:spPr>
        <p:txBody>
          <a:bodyPr wrap="square" lIns="0" tIns="0" rIns="0" bIns="0" rtlCol="0" anchor="t"/>
          <a:lstStyle/>
          <a:p>
            <a:pPr algn="ctr" indent="0" marL="0">
              <a:buNone/>
            </a:pPr>
            <a:r>
              <a:rPr lang="en-US" sz="700" dirty="0">
                <a:solidFill>
                  <a:srgbClr val="555555"/>
                </a:solidFill>
                <a:latin typeface="Montserrat" pitchFamily="34" charset="0"/>
                <a:ea typeface="Montserrat" pitchFamily="34" charset="-122"/>
                <a:cs typeface="Montserrat" pitchFamily="34" charset="-120"/>
              </a:rPr>
              <a:t>Vercel</a:t>
            </a:r>
            <a:endParaRPr lang="en-US" sz="700" dirty="0"/>
          </a:p>
        </p:txBody>
      </p:sp>
      <p:pic>
        <p:nvPicPr>
          <p:cNvPr id="36" name="Image 11" descr="/home/runner/work/Desa-Marga-Mulya/Desa-Marga-Mulya/deck/assets/build/red/tech-SiGooglegemini.png">    </p:cNvPr>
          <p:cNvPicPr>
            <a:picLocks noChangeAspect="1"/>
          </p:cNvPicPr>
          <p:nvPr/>
        </p:nvPicPr>
        <p:blipFill>
          <a:blip r:embed="rId13"/>
          <a:stretch>
            <a:fillRect/>
          </a:stretch>
        </p:blipFill>
        <p:spPr>
          <a:xfrm>
            <a:off x="6492240" y="4416552"/>
            <a:ext cx="274320" cy="274320"/>
          </a:xfrm>
          <a:prstGeom prst="rect">
            <a:avLst/>
          </a:prstGeom>
        </p:spPr>
      </p:pic>
      <p:sp>
        <p:nvSpPr>
          <p:cNvPr id="37" name="Text 23"/>
          <p:cNvSpPr/>
          <p:nvPr/>
        </p:nvSpPr>
        <p:spPr>
          <a:xfrm>
            <a:off x="6263640" y="4709160"/>
            <a:ext cx="731520" cy="182880"/>
          </a:xfrm>
          <a:prstGeom prst="rect">
            <a:avLst/>
          </a:prstGeom>
          <a:noFill/>
          <a:ln/>
        </p:spPr>
        <p:txBody>
          <a:bodyPr wrap="square" lIns="0" tIns="0" rIns="0" bIns="0" rtlCol="0" anchor="t"/>
          <a:lstStyle/>
          <a:p>
            <a:pPr algn="ctr" indent="0" marL="0">
              <a:buNone/>
            </a:pPr>
            <a:r>
              <a:rPr lang="en-US" sz="700" dirty="0">
                <a:solidFill>
                  <a:srgbClr val="555555"/>
                </a:solidFill>
                <a:latin typeface="Montserrat" pitchFamily="34" charset="0"/>
                <a:ea typeface="Montserrat" pitchFamily="34" charset="-122"/>
                <a:cs typeface="Montserrat" pitchFamily="34" charset="-120"/>
              </a:rPr>
              <a:t>Gemini AI</a:t>
            </a:r>
            <a:endParaRPr lang="en-US" sz="700" dirty="0"/>
          </a:p>
        </p:txBody>
      </p:sp>
      <p:pic>
        <p:nvPicPr>
          <p:cNvPr id="38" name="Image 12" descr="/home/runner/work/Desa-Marga-Mulya/Desa-Marga-Mulya/deck/assets/build/red/tech-SiLeaflet.png">    </p:cNvPr>
          <p:cNvPicPr>
            <a:picLocks noChangeAspect="1"/>
          </p:cNvPicPr>
          <p:nvPr/>
        </p:nvPicPr>
        <p:blipFill>
          <a:blip r:embed="rId14"/>
          <a:stretch>
            <a:fillRect/>
          </a:stretch>
        </p:blipFill>
        <p:spPr>
          <a:xfrm>
            <a:off x="7223760" y="4416552"/>
            <a:ext cx="274320" cy="274320"/>
          </a:xfrm>
          <a:prstGeom prst="rect">
            <a:avLst/>
          </a:prstGeom>
        </p:spPr>
      </p:pic>
      <p:sp>
        <p:nvSpPr>
          <p:cNvPr id="39" name="Text 24"/>
          <p:cNvSpPr/>
          <p:nvPr/>
        </p:nvSpPr>
        <p:spPr>
          <a:xfrm>
            <a:off x="6995160" y="4709160"/>
            <a:ext cx="731520" cy="182880"/>
          </a:xfrm>
          <a:prstGeom prst="rect">
            <a:avLst/>
          </a:prstGeom>
          <a:noFill/>
          <a:ln/>
        </p:spPr>
        <p:txBody>
          <a:bodyPr wrap="square" lIns="0" tIns="0" rIns="0" bIns="0" rtlCol="0" anchor="t"/>
          <a:lstStyle/>
          <a:p>
            <a:pPr algn="ctr" indent="0" marL="0">
              <a:buNone/>
            </a:pPr>
            <a:r>
              <a:rPr lang="en-US" sz="700" dirty="0">
                <a:solidFill>
                  <a:srgbClr val="555555"/>
                </a:solidFill>
                <a:latin typeface="Montserrat" pitchFamily="34" charset="0"/>
                <a:ea typeface="Montserrat" pitchFamily="34" charset="-122"/>
                <a:cs typeface="Montserrat" pitchFamily="34" charset="-120"/>
              </a:rPr>
              <a:t>Leaflet</a:t>
            </a:r>
            <a:endParaRPr lang="en-US" sz="700" dirty="0"/>
          </a:p>
        </p:txBody>
      </p:sp>
      <p:pic>
        <p:nvPicPr>
          <p:cNvPr id="40" name="Image 13" descr="/home/runner/work/Desa-Marga-Mulya/Desa-Marga-Mulya/deck/assets/build/red/tech-SiGithubactions.png">    </p:cNvPr>
          <p:cNvPicPr>
            <a:picLocks noChangeAspect="1"/>
          </p:cNvPicPr>
          <p:nvPr/>
        </p:nvPicPr>
        <p:blipFill>
          <a:blip r:embed="rId15"/>
          <a:stretch>
            <a:fillRect/>
          </a:stretch>
        </p:blipFill>
        <p:spPr>
          <a:xfrm>
            <a:off x="7955280" y="4416552"/>
            <a:ext cx="274320" cy="274320"/>
          </a:xfrm>
          <a:prstGeom prst="rect">
            <a:avLst/>
          </a:prstGeom>
        </p:spPr>
      </p:pic>
      <p:sp>
        <p:nvSpPr>
          <p:cNvPr id="41" name="Text 25"/>
          <p:cNvSpPr/>
          <p:nvPr/>
        </p:nvSpPr>
        <p:spPr>
          <a:xfrm>
            <a:off x="7726680" y="4709160"/>
            <a:ext cx="731520" cy="182880"/>
          </a:xfrm>
          <a:prstGeom prst="rect">
            <a:avLst/>
          </a:prstGeom>
          <a:noFill/>
          <a:ln/>
        </p:spPr>
        <p:txBody>
          <a:bodyPr wrap="square" lIns="0" tIns="0" rIns="0" bIns="0" rtlCol="0" anchor="t"/>
          <a:lstStyle/>
          <a:p>
            <a:pPr algn="ctr" indent="0" marL="0">
              <a:buNone/>
            </a:pPr>
            <a:r>
              <a:rPr lang="en-US" sz="700" dirty="0">
                <a:solidFill>
                  <a:srgbClr val="555555"/>
                </a:solidFill>
                <a:latin typeface="Montserrat" pitchFamily="34" charset="0"/>
                <a:ea typeface="Montserrat" pitchFamily="34" charset="-122"/>
                <a:cs typeface="Montserrat" pitchFamily="34" charset="-120"/>
              </a:rPr>
              <a:t>CI tests</a:t>
            </a:r>
            <a:endParaRPr lang="en-US" sz="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457200" y="146304"/>
            <a:ext cx="1645920" cy="228600"/>
          </a:xfrm>
          <a:prstGeom prst="rect">
            <a:avLst/>
          </a:prstGeom>
          <a:noFill/>
          <a:ln/>
        </p:spPr>
        <p:txBody>
          <a:bodyPr wrap="square" lIns="0" tIns="0" rIns="0" bIns="0" rtlCol="0" anchor="t"/>
          <a:lstStyle/>
          <a:p>
            <a:pPr algn="ctr" indent="0" marL="0">
              <a:buNone/>
            </a:pPr>
            <a:r>
              <a:rPr lang="en-US" sz="900" dirty="0">
                <a:solidFill>
                  <a:srgbClr val="8C8C8C"/>
                </a:solidFill>
                <a:latin typeface="Montserrat" pitchFamily="34" charset="0"/>
                <a:ea typeface="Montserrat" pitchFamily="34" charset="-122"/>
                <a:cs typeface="Montserrat" pitchFamily="34" charset="-120"/>
              </a:rPr>
              <a:t>Village</a:t>
            </a:r>
            <a:endParaRPr lang="en-US" sz="900" dirty="0"/>
          </a:p>
        </p:txBody>
      </p:sp>
      <p:sp>
        <p:nvSpPr>
          <p:cNvPr id="3" name="Text 1"/>
          <p:cNvSpPr/>
          <p:nvPr/>
        </p:nvSpPr>
        <p:spPr>
          <a:xfrm>
            <a:off x="2103120" y="146304"/>
            <a:ext cx="1645920" cy="228600"/>
          </a:xfrm>
          <a:prstGeom prst="rect">
            <a:avLst/>
          </a:prstGeom>
          <a:noFill/>
          <a:ln/>
        </p:spPr>
        <p:txBody>
          <a:bodyPr wrap="square" lIns="0" tIns="0" rIns="0" bIns="0" rtlCol="0" anchor="t"/>
          <a:lstStyle/>
          <a:p>
            <a:pPr algn="ctr" indent="0" marL="0">
              <a:buNone/>
            </a:pPr>
            <a:r>
              <a:rPr lang="en-US" sz="900" dirty="0">
                <a:solidFill>
                  <a:srgbClr val="8C8C8C"/>
                </a:solidFill>
                <a:latin typeface="Montserrat" pitchFamily="34" charset="0"/>
                <a:ea typeface="Montserrat" pitchFamily="34" charset="-122"/>
                <a:cs typeface="Montserrat" pitchFamily="34" charset="-120"/>
              </a:rPr>
              <a:t>Problem</a:t>
            </a:r>
            <a:endParaRPr lang="en-US" sz="900" dirty="0"/>
          </a:p>
        </p:txBody>
      </p:sp>
      <p:sp>
        <p:nvSpPr>
          <p:cNvPr id="4" name="Text 2"/>
          <p:cNvSpPr/>
          <p:nvPr/>
        </p:nvSpPr>
        <p:spPr>
          <a:xfrm>
            <a:off x="3749040" y="146304"/>
            <a:ext cx="1645920" cy="228600"/>
          </a:xfrm>
          <a:prstGeom prst="rect">
            <a:avLst/>
          </a:prstGeom>
          <a:noFill/>
          <a:ln/>
        </p:spPr>
        <p:txBody>
          <a:bodyPr wrap="square" lIns="0" tIns="0" rIns="0" bIns="0" rtlCol="0" anchor="t"/>
          <a:lstStyle/>
          <a:p>
            <a:pPr algn="ctr" indent="0" marL="0">
              <a:buNone/>
            </a:pPr>
            <a:r>
              <a:rPr lang="en-US" sz="900" dirty="0">
                <a:solidFill>
                  <a:srgbClr val="8C8C8C"/>
                </a:solidFill>
                <a:latin typeface="Montserrat" pitchFamily="34" charset="0"/>
                <a:ea typeface="Montserrat" pitchFamily="34" charset="-122"/>
                <a:cs typeface="Montserrat" pitchFamily="34" charset="-120"/>
              </a:rPr>
              <a:t>Solution</a:t>
            </a:r>
            <a:endParaRPr lang="en-US" sz="900" dirty="0"/>
          </a:p>
        </p:txBody>
      </p:sp>
      <p:sp>
        <p:nvSpPr>
          <p:cNvPr id="5" name="Text 3"/>
          <p:cNvSpPr/>
          <p:nvPr/>
        </p:nvSpPr>
        <p:spPr>
          <a:xfrm>
            <a:off x="5394960" y="146304"/>
            <a:ext cx="1645920" cy="228600"/>
          </a:xfrm>
          <a:prstGeom prst="rect">
            <a:avLst/>
          </a:prstGeom>
          <a:noFill/>
          <a:ln/>
        </p:spPr>
        <p:txBody>
          <a:bodyPr wrap="square" lIns="0" tIns="0" rIns="0" bIns="0" rtlCol="0" anchor="t"/>
          <a:lstStyle/>
          <a:p>
            <a:pPr algn="ctr" indent="0" marL="0">
              <a:buNone/>
            </a:pPr>
            <a:r>
              <a:rPr lang="en-US" sz="900" dirty="0">
                <a:solidFill>
                  <a:srgbClr val="8C8C8C"/>
                </a:solidFill>
                <a:latin typeface="Montserrat" pitchFamily="34" charset="0"/>
                <a:ea typeface="Montserrat" pitchFamily="34" charset="-122"/>
                <a:cs typeface="Montserrat" pitchFamily="34" charset="-120"/>
              </a:rPr>
              <a:t>Demo</a:t>
            </a:r>
            <a:endParaRPr lang="en-US" sz="900" dirty="0"/>
          </a:p>
        </p:txBody>
      </p:sp>
      <p:sp>
        <p:nvSpPr>
          <p:cNvPr id="6" name="Shape 4"/>
          <p:cNvSpPr/>
          <p:nvPr/>
        </p:nvSpPr>
        <p:spPr>
          <a:xfrm>
            <a:off x="7315200" y="91440"/>
            <a:ext cx="1097280" cy="32004"/>
          </a:xfrm>
          <a:prstGeom prst="rect">
            <a:avLst/>
          </a:prstGeom>
          <a:solidFill>
            <a:srgbClr val="111111"/>
          </a:solidFill>
          <a:ln w="12700">
            <a:solidFill>
              <a:srgbClr val="111111"/>
            </a:solidFill>
            <a:prstDash val="solid"/>
          </a:ln>
        </p:spPr>
      </p:sp>
      <p:sp>
        <p:nvSpPr>
          <p:cNvPr id="7" name="Text 5"/>
          <p:cNvSpPr/>
          <p:nvPr/>
        </p:nvSpPr>
        <p:spPr>
          <a:xfrm>
            <a:off x="7040880" y="146304"/>
            <a:ext cx="1645920" cy="228600"/>
          </a:xfrm>
          <a:prstGeom prst="rect">
            <a:avLst/>
          </a:prstGeom>
          <a:noFill/>
          <a:ln/>
        </p:spPr>
        <p:txBody>
          <a:bodyPr wrap="square" lIns="0" tIns="0" rIns="0" bIns="0" rtlCol="0" anchor="t"/>
          <a:lstStyle/>
          <a:p>
            <a:pPr algn="ctr" indent="0" marL="0">
              <a:buNone/>
            </a:pPr>
            <a:r>
              <a:rPr lang="en-US" sz="900" b="1" dirty="0">
                <a:solidFill>
                  <a:srgbClr val="111111"/>
                </a:solidFill>
                <a:latin typeface="Montserrat" pitchFamily="34" charset="0"/>
                <a:ea typeface="Montserrat" pitchFamily="34" charset="-122"/>
                <a:cs typeface="Montserrat" pitchFamily="34" charset="-120"/>
              </a:rPr>
              <a:t>Impact</a:t>
            </a:r>
            <a:endParaRPr lang="en-US" sz="900" dirty="0"/>
          </a:p>
        </p:txBody>
      </p:sp>
      <p:sp>
        <p:nvSpPr>
          <p:cNvPr id="8" name="Text 6"/>
          <p:cNvSpPr/>
          <p:nvPr/>
        </p:nvSpPr>
        <p:spPr>
          <a:xfrm>
            <a:off x="457200" y="457200"/>
            <a:ext cx="8229600" cy="502920"/>
          </a:xfrm>
          <a:prstGeom prst="rect">
            <a:avLst/>
          </a:prstGeom>
          <a:noFill/>
          <a:ln/>
        </p:spPr>
        <p:txBody>
          <a:bodyPr wrap="square" lIns="0" tIns="0" rIns="0" bIns="0" rtlCol="0" anchor="t"/>
          <a:lstStyle/>
          <a:p>
            <a:pPr algn="ctr" indent="0" marL="0">
              <a:buNone/>
            </a:pPr>
            <a:r>
              <a:rPr lang="en-US" sz="2600" b="1" dirty="0">
                <a:solidFill>
                  <a:srgbClr val="111111"/>
                </a:solidFill>
                <a:latin typeface="Montserrat" pitchFamily="34" charset="0"/>
                <a:ea typeface="Montserrat" pitchFamily="34" charset="-122"/>
                <a:cs typeface="Montserrat" pitchFamily="34" charset="-120"/>
              </a:rPr>
              <a:t>A True Win-Win-Win</a:t>
            </a:r>
            <a:endParaRPr lang="en-US" sz="2600" dirty="0"/>
          </a:p>
        </p:txBody>
      </p:sp>
      <p:sp>
        <p:nvSpPr>
          <p:cNvPr id="9" name="Text 7"/>
          <p:cNvSpPr/>
          <p:nvPr/>
        </p:nvSpPr>
        <p:spPr>
          <a:xfrm>
            <a:off x="457200" y="950976"/>
            <a:ext cx="8229600" cy="274320"/>
          </a:xfrm>
          <a:prstGeom prst="rect">
            <a:avLst/>
          </a:prstGeom>
          <a:noFill/>
          <a:ln/>
        </p:spPr>
        <p:txBody>
          <a:bodyPr wrap="square" lIns="0" tIns="0" rIns="0" bIns="0" rtlCol="0" anchor="t"/>
          <a:lstStyle/>
          <a:p>
            <a:pPr algn="ctr" indent="0" marL="0">
              <a:buNone/>
            </a:pPr>
            <a:r>
              <a:rPr lang="en-US" sz="1200" b="1" dirty="0">
                <a:solidFill>
                  <a:srgbClr val="555555"/>
                </a:solidFill>
                <a:latin typeface="Montserrat" pitchFamily="34" charset="0"/>
                <a:ea typeface="Montserrat" pitchFamily="34" charset="-122"/>
                <a:cs typeface="Montserrat" pitchFamily="34" charset="-120"/>
              </a:rPr>
              <a:t>Impact &amp; feasibility</a:t>
            </a:r>
            <a:endParaRPr lang="en-US" sz="1200" dirty="0"/>
          </a:p>
        </p:txBody>
      </p:sp>
      <p:sp>
        <p:nvSpPr>
          <p:cNvPr id="10" name="Shape 8"/>
          <p:cNvSpPr/>
          <p:nvPr/>
        </p:nvSpPr>
        <p:spPr>
          <a:xfrm>
            <a:off x="685800" y="1371600"/>
            <a:ext cx="2331720" cy="2880360"/>
          </a:xfrm>
          <a:prstGeom prst="roundRect">
            <a:avLst>
              <a:gd name="adj" fmla="val 7843"/>
            </a:avLst>
          </a:prstGeom>
          <a:solidFill>
            <a:srgbClr val="111111"/>
          </a:solidFill>
          <a:ln w="12700">
            <a:solidFill>
              <a:srgbClr val="111111"/>
            </a:solidFill>
            <a:prstDash val="solid"/>
          </a:ln>
          <a:effectLst>
            <a:outerShdw sx="100000" sy="100000" kx="0" ky="0" algn="bl" rotWithShape="0" blurRad="127000" dist="38100" dir="5400000">
              <a:srgbClr val="000000">
                <a:alpha val="16000"/>
              </a:srgbClr>
            </a:outerShdw>
          </a:effectLst>
        </p:spPr>
      </p:sp>
      <p:sp>
        <p:nvSpPr>
          <p:cNvPr id="11" name="Text 9"/>
          <p:cNvSpPr/>
          <p:nvPr/>
        </p:nvSpPr>
        <p:spPr>
          <a:xfrm>
            <a:off x="685800" y="1572768"/>
            <a:ext cx="2331720" cy="365760"/>
          </a:xfrm>
          <a:prstGeom prst="rect">
            <a:avLst/>
          </a:prstGeom>
          <a:noFill/>
          <a:ln/>
        </p:spPr>
        <p:txBody>
          <a:bodyPr wrap="square" lIns="0" tIns="0" rIns="0" bIns="0" rtlCol="0" anchor="t"/>
          <a:lstStyle/>
          <a:p>
            <a:pPr algn="ctr" indent="0" marL="0">
              <a:buNone/>
            </a:pPr>
            <a:r>
              <a:rPr lang="en-US" sz="1800" b="1" dirty="0">
                <a:solidFill>
                  <a:srgbClr val="FFFFFF"/>
                </a:solidFill>
                <a:latin typeface="Montserrat" pitchFamily="34" charset="0"/>
                <a:ea typeface="Montserrat" pitchFamily="34" charset="-122"/>
                <a:cs typeface="Montserrat" pitchFamily="34" charset="-120"/>
              </a:rPr>
              <a:t>Residents</a:t>
            </a:r>
            <a:endParaRPr lang="en-US" sz="1800" dirty="0"/>
          </a:p>
        </p:txBody>
      </p:sp>
      <p:sp>
        <p:nvSpPr>
          <p:cNvPr id="12" name="Text 10"/>
          <p:cNvSpPr/>
          <p:nvPr/>
        </p:nvSpPr>
        <p:spPr>
          <a:xfrm>
            <a:off x="914400" y="2148840"/>
            <a:ext cx="960120" cy="457200"/>
          </a:xfrm>
          <a:prstGeom prst="rect">
            <a:avLst/>
          </a:prstGeom>
          <a:noFill/>
          <a:ln/>
        </p:spPr>
        <p:txBody>
          <a:bodyPr wrap="square" lIns="0" tIns="0" rIns="0" bIns="0" rtlCol="0" anchor="ctr"/>
          <a:lstStyle/>
          <a:p>
            <a:pPr indent="0" marL="0">
              <a:buNone/>
            </a:pPr>
            <a:r>
              <a:rPr lang="en-US" sz="2200" b="1" dirty="0">
                <a:solidFill>
                  <a:srgbClr val="FF4D52"/>
                </a:solidFill>
                <a:latin typeface="Montserrat" pitchFamily="34" charset="0"/>
                <a:ea typeface="Montserrat" pitchFamily="34" charset="-122"/>
                <a:cs typeface="Montserrat" pitchFamily="34" charset="-120"/>
              </a:rPr>
              <a:t>7</a:t>
            </a:r>
            <a:endParaRPr lang="en-US" sz="2200" dirty="0"/>
          </a:p>
        </p:txBody>
      </p:sp>
      <p:sp>
        <p:nvSpPr>
          <p:cNvPr id="13" name="Text 11"/>
          <p:cNvSpPr/>
          <p:nvPr/>
        </p:nvSpPr>
        <p:spPr>
          <a:xfrm>
            <a:off x="1874520" y="2148840"/>
            <a:ext cx="1005840" cy="457200"/>
          </a:xfrm>
          <a:prstGeom prst="rect">
            <a:avLst/>
          </a:prstGeom>
          <a:noFill/>
          <a:ln/>
        </p:spPr>
        <p:txBody>
          <a:bodyPr wrap="square" lIns="0" tIns="0" rIns="0" bIns="0" rtlCol="0" anchor="ctr"/>
          <a:lstStyle/>
          <a:p>
            <a:pPr indent="0" marL="0">
              <a:buNone/>
            </a:pPr>
            <a:r>
              <a:rPr lang="en-US" sz="900" b="1" dirty="0">
                <a:solidFill>
                  <a:srgbClr val="FFFFFF"/>
                </a:solidFill>
                <a:latin typeface="Montserrat" pitchFamily="34" charset="0"/>
                <a:ea typeface="Montserrat" pitchFamily="34" charset="-122"/>
                <a:cs typeface="Montserrat" pitchFamily="34" charset="-120"/>
              </a:rPr>
              <a:t>services with checklists</a:t>
            </a:r>
            <a:endParaRPr lang="en-US" sz="900" dirty="0"/>
          </a:p>
        </p:txBody>
      </p:sp>
      <p:sp>
        <p:nvSpPr>
          <p:cNvPr id="14" name="Text 12"/>
          <p:cNvSpPr/>
          <p:nvPr/>
        </p:nvSpPr>
        <p:spPr>
          <a:xfrm>
            <a:off x="914400" y="2816352"/>
            <a:ext cx="960120" cy="457200"/>
          </a:xfrm>
          <a:prstGeom prst="rect">
            <a:avLst/>
          </a:prstGeom>
          <a:noFill/>
          <a:ln/>
        </p:spPr>
        <p:txBody>
          <a:bodyPr wrap="square" lIns="0" tIns="0" rIns="0" bIns="0" rtlCol="0" anchor="ctr"/>
          <a:lstStyle/>
          <a:p>
            <a:pPr indent="0" marL="0">
              <a:buNone/>
            </a:pPr>
            <a:r>
              <a:rPr lang="en-US" sz="2200" b="1" dirty="0">
                <a:solidFill>
                  <a:srgbClr val="FF4D52"/>
                </a:solidFill>
                <a:latin typeface="Montserrat" pitchFamily="34" charset="0"/>
                <a:ea typeface="Montserrat" pitchFamily="34" charset="-122"/>
                <a:cs typeface="Montserrat" pitchFamily="34" charset="-120"/>
              </a:rPr>
              <a:t>24/7</a:t>
            </a:r>
            <a:endParaRPr lang="en-US" sz="2200" dirty="0"/>
          </a:p>
        </p:txBody>
      </p:sp>
      <p:sp>
        <p:nvSpPr>
          <p:cNvPr id="15" name="Text 13"/>
          <p:cNvSpPr/>
          <p:nvPr/>
        </p:nvSpPr>
        <p:spPr>
          <a:xfrm>
            <a:off x="1874520" y="2816352"/>
            <a:ext cx="1005840" cy="457200"/>
          </a:xfrm>
          <a:prstGeom prst="rect">
            <a:avLst/>
          </a:prstGeom>
          <a:noFill/>
          <a:ln/>
        </p:spPr>
        <p:txBody>
          <a:bodyPr wrap="square" lIns="0" tIns="0" rIns="0" bIns="0" rtlCol="0" anchor="ctr"/>
          <a:lstStyle/>
          <a:p>
            <a:pPr indent="0" marL="0">
              <a:buNone/>
            </a:pPr>
            <a:r>
              <a:rPr lang="en-US" sz="900" b="1" dirty="0">
                <a:solidFill>
                  <a:srgbClr val="FFFFFF"/>
                </a:solidFill>
                <a:latin typeface="Montserrat" pitchFamily="34" charset="0"/>
                <a:ea typeface="Montserrat" pitchFamily="34" charset="-122"/>
                <a:cs typeface="Montserrat" pitchFamily="34" charset="-120"/>
              </a:rPr>
              <a:t>AI answers</a:t>
            </a:r>
            <a:endParaRPr lang="en-US" sz="900" dirty="0"/>
          </a:p>
        </p:txBody>
      </p:sp>
      <p:sp>
        <p:nvSpPr>
          <p:cNvPr id="16" name="Text 14"/>
          <p:cNvSpPr/>
          <p:nvPr/>
        </p:nvSpPr>
        <p:spPr>
          <a:xfrm>
            <a:off x="914400" y="3483864"/>
            <a:ext cx="960120" cy="457200"/>
          </a:xfrm>
          <a:prstGeom prst="rect">
            <a:avLst/>
          </a:prstGeom>
          <a:noFill/>
          <a:ln/>
        </p:spPr>
        <p:txBody>
          <a:bodyPr wrap="square" lIns="0" tIns="0" rIns="0" bIns="0" rtlCol="0" anchor="ctr"/>
          <a:lstStyle/>
          <a:p>
            <a:pPr indent="0" marL="0">
              <a:buNone/>
            </a:pPr>
            <a:r>
              <a:rPr lang="en-US" sz="2200" b="1" dirty="0">
                <a:solidFill>
                  <a:srgbClr val="FF4D52"/>
                </a:solidFill>
                <a:latin typeface="Montserrat" pitchFamily="34" charset="0"/>
                <a:ea typeface="Montserrat" pitchFamily="34" charset="-122"/>
                <a:cs typeface="Montserrat" pitchFamily="34" charset="-120"/>
              </a:rPr>
              <a:t>0</a:t>
            </a:r>
            <a:endParaRPr lang="en-US" sz="2200" dirty="0"/>
          </a:p>
        </p:txBody>
      </p:sp>
      <p:sp>
        <p:nvSpPr>
          <p:cNvPr id="17" name="Text 15"/>
          <p:cNvSpPr/>
          <p:nvPr/>
        </p:nvSpPr>
        <p:spPr>
          <a:xfrm>
            <a:off x="1874520" y="3483864"/>
            <a:ext cx="1005840" cy="457200"/>
          </a:xfrm>
          <a:prstGeom prst="rect">
            <a:avLst/>
          </a:prstGeom>
          <a:noFill/>
          <a:ln/>
        </p:spPr>
        <p:txBody>
          <a:bodyPr wrap="square" lIns="0" tIns="0" rIns="0" bIns="0" rtlCol="0" anchor="ctr"/>
          <a:lstStyle/>
          <a:p>
            <a:pPr indent="0" marL="0">
              <a:buNone/>
            </a:pPr>
            <a:r>
              <a:rPr lang="en-US" sz="900" b="1" dirty="0">
                <a:solidFill>
                  <a:srgbClr val="FFFFFF"/>
                </a:solidFill>
                <a:latin typeface="Montserrat" pitchFamily="34" charset="0"/>
                <a:ea typeface="Montserrat" pitchFamily="34" charset="-122"/>
                <a:cs typeface="Montserrat" pitchFamily="34" charset="-120"/>
              </a:rPr>
              <a:t>trips just to ask</a:t>
            </a:r>
            <a:endParaRPr lang="en-US" sz="900" dirty="0"/>
          </a:p>
        </p:txBody>
      </p:sp>
      <p:sp>
        <p:nvSpPr>
          <p:cNvPr id="18" name="Shape 16"/>
          <p:cNvSpPr/>
          <p:nvPr/>
        </p:nvSpPr>
        <p:spPr>
          <a:xfrm>
            <a:off x="3383280" y="1371600"/>
            <a:ext cx="2331720" cy="2880360"/>
          </a:xfrm>
          <a:prstGeom prst="roundRect">
            <a:avLst>
              <a:gd name="adj" fmla="val 7843"/>
            </a:avLst>
          </a:prstGeom>
          <a:solidFill>
            <a:srgbClr val="FFFFFF"/>
          </a:solidFill>
          <a:ln w="12700">
            <a:solidFill>
              <a:srgbClr val="FFFFFF"/>
            </a:solidFill>
            <a:prstDash val="solid"/>
          </a:ln>
          <a:effectLst>
            <a:outerShdw sx="100000" sy="100000" kx="0" ky="0" algn="bl" rotWithShape="0" blurRad="127000" dist="38100" dir="5400000">
              <a:srgbClr val="000000">
                <a:alpha val="16000"/>
              </a:srgbClr>
            </a:outerShdw>
          </a:effectLst>
        </p:spPr>
      </p:sp>
      <p:sp>
        <p:nvSpPr>
          <p:cNvPr id="19" name="Text 17"/>
          <p:cNvSpPr/>
          <p:nvPr/>
        </p:nvSpPr>
        <p:spPr>
          <a:xfrm>
            <a:off x="3383280" y="1572768"/>
            <a:ext cx="2331720" cy="365760"/>
          </a:xfrm>
          <a:prstGeom prst="rect">
            <a:avLst/>
          </a:prstGeom>
          <a:noFill/>
          <a:ln/>
        </p:spPr>
        <p:txBody>
          <a:bodyPr wrap="square" lIns="0" tIns="0" rIns="0" bIns="0" rtlCol="0" anchor="t"/>
          <a:lstStyle/>
          <a:p>
            <a:pPr algn="ctr" indent="0" marL="0">
              <a:buNone/>
            </a:pPr>
            <a:r>
              <a:rPr lang="en-US" sz="1800" b="1" dirty="0">
                <a:solidFill>
                  <a:srgbClr val="111111"/>
                </a:solidFill>
                <a:latin typeface="Montserrat" pitchFamily="34" charset="0"/>
                <a:ea typeface="Montserrat" pitchFamily="34" charset="-122"/>
                <a:cs typeface="Montserrat" pitchFamily="34" charset="-120"/>
              </a:rPr>
              <a:t>Village Office</a:t>
            </a:r>
            <a:endParaRPr lang="en-US" sz="1800" dirty="0"/>
          </a:p>
        </p:txBody>
      </p:sp>
      <p:sp>
        <p:nvSpPr>
          <p:cNvPr id="20" name="Text 18"/>
          <p:cNvSpPr/>
          <p:nvPr/>
        </p:nvSpPr>
        <p:spPr>
          <a:xfrm>
            <a:off x="3611880" y="2148840"/>
            <a:ext cx="960120" cy="457200"/>
          </a:xfrm>
          <a:prstGeom prst="rect">
            <a:avLst/>
          </a:prstGeom>
          <a:noFill/>
          <a:ln/>
        </p:spPr>
        <p:txBody>
          <a:bodyPr wrap="square" lIns="0" tIns="0" rIns="0" bIns="0" rtlCol="0" anchor="ctr"/>
          <a:lstStyle/>
          <a:p>
            <a:pPr indent="0" marL="0">
              <a:buNone/>
            </a:pPr>
            <a:r>
              <a:rPr lang="en-US" sz="2200" b="1" dirty="0">
                <a:solidFill>
                  <a:srgbClr val="D7141A"/>
                </a:solidFill>
                <a:latin typeface="Montserrat" pitchFamily="34" charset="0"/>
                <a:ea typeface="Montserrat" pitchFamily="34" charset="-122"/>
                <a:cs typeface="Montserrat" pitchFamily="34" charset="-120"/>
              </a:rPr>
              <a:t>Rp 0</a:t>
            </a:r>
            <a:endParaRPr lang="en-US" sz="2200" dirty="0"/>
          </a:p>
        </p:txBody>
      </p:sp>
      <p:sp>
        <p:nvSpPr>
          <p:cNvPr id="21" name="Text 19"/>
          <p:cNvSpPr/>
          <p:nvPr/>
        </p:nvSpPr>
        <p:spPr>
          <a:xfrm>
            <a:off x="4572000" y="2148840"/>
            <a:ext cx="1005840" cy="457200"/>
          </a:xfrm>
          <a:prstGeom prst="rect">
            <a:avLst/>
          </a:prstGeom>
          <a:noFill/>
          <a:ln/>
        </p:spPr>
        <p:txBody>
          <a:bodyPr wrap="square" lIns="0" tIns="0" rIns="0" bIns="0" rtlCol="0" anchor="ctr"/>
          <a:lstStyle/>
          <a:p>
            <a:pPr indent="0" marL="0">
              <a:buNone/>
            </a:pPr>
            <a:r>
              <a:rPr lang="en-US" sz="900" b="1" dirty="0">
                <a:solidFill>
                  <a:srgbClr val="111111"/>
                </a:solidFill>
                <a:latin typeface="Montserrat" pitchFamily="34" charset="0"/>
                <a:ea typeface="Montserrat" pitchFamily="34" charset="-122"/>
                <a:cs typeface="Montserrat" pitchFamily="34" charset="-120"/>
              </a:rPr>
              <a:t>monthly hosting</a:t>
            </a:r>
            <a:endParaRPr lang="en-US" sz="900" dirty="0"/>
          </a:p>
        </p:txBody>
      </p:sp>
      <p:sp>
        <p:nvSpPr>
          <p:cNvPr id="22" name="Text 20"/>
          <p:cNvSpPr/>
          <p:nvPr/>
        </p:nvSpPr>
        <p:spPr>
          <a:xfrm>
            <a:off x="3611880" y="2816352"/>
            <a:ext cx="960120" cy="457200"/>
          </a:xfrm>
          <a:prstGeom prst="rect">
            <a:avLst/>
          </a:prstGeom>
          <a:noFill/>
          <a:ln/>
        </p:spPr>
        <p:txBody>
          <a:bodyPr wrap="square" lIns="0" tIns="0" rIns="0" bIns="0" rtlCol="0" anchor="ctr"/>
          <a:lstStyle/>
          <a:p>
            <a:pPr indent="0" marL="0">
              <a:buNone/>
            </a:pPr>
            <a:r>
              <a:rPr lang="en-US" sz="2200" b="1" dirty="0">
                <a:solidFill>
                  <a:srgbClr val="D7141A"/>
                </a:solidFill>
                <a:latin typeface="Montserrat" pitchFamily="34" charset="0"/>
                <a:ea typeface="Montserrat" pitchFamily="34" charset="-122"/>
                <a:cs typeface="Montserrat" pitchFamily="34" charset="-120"/>
              </a:rPr>
              <a:t>11</a:t>
            </a:r>
            <a:endParaRPr lang="en-US" sz="2200" dirty="0"/>
          </a:p>
        </p:txBody>
      </p:sp>
      <p:sp>
        <p:nvSpPr>
          <p:cNvPr id="23" name="Text 21"/>
          <p:cNvSpPr/>
          <p:nvPr/>
        </p:nvSpPr>
        <p:spPr>
          <a:xfrm>
            <a:off x="4572000" y="2816352"/>
            <a:ext cx="1005840" cy="457200"/>
          </a:xfrm>
          <a:prstGeom prst="rect">
            <a:avLst/>
          </a:prstGeom>
          <a:noFill/>
          <a:ln/>
        </p:spPr>
        <p:txBody>
          <a:bodyPr wrap="square" lIns="0" tIns="0" rIns="0" bIns="0" rtlCol="0" anchor="ctr"/>
          <a:lstStyle/>
          <a:p>
            <a:pPr indent="0" marL="0">
              <a:buNone/>
            </a:pPr>
            <a:r>
              <a:rPr lang="en-US" sz="900" b="1" dirty="0">
                <a:solidFill>
                  <a:srgbClr val="111111"/>
                </a:solidFill>
                <a:latin typeface="Montserrat" pitchFamily="34" charset="0"/>
                <a:ea typeface="Montserrat" pitchFamily="34" charset="-122"/>
                <a:cs typeface="Montserrat" pitchFamily="34" charset="-120"/>
              </a:rPr>
              <a:t>CMS collections</a:t>
            </a:r>
            <a:endParaRPr lang="en-US" sz="900" dirty="0"/>
          </a:p>
        </p:txBody>
      </p:sp>
      <p:sp>
        <p:nvSpPr>
          <p:cNvPr id="24" name="Text 22"/>
          <p:cNvSpPr/>
          <p:nvPr/>
        </p:nvSpPr>
        <p:spPr>
          <a:xfrm>
            <a:off x="3611880" y="3483864"/>
            <a:ext cx="960120" cy="457200"/>
          </a:xfrm>
          <a:prstGeom prst="rect">
            <a:avLst/>
          </a:prstGeom>
          <a:noFill/>
          <a:ln/>
        </p:spPr>
        <p:txBody>
          <a:bodyPr wrap="square" lIns="0" tIns="0" rIns="0" bIns="0" rtlCol="0" anchor="ctr"/>
          <a:lstStyle/>
          <a:p>
            <a:pPr indent="0" marL="0">
              <a:buNone/>
            </a:pPr>
            <a:r>
              <a:rPr lang="en-US" sz="2200" b="1" dirty="0">
                <a:solidFill>
                  <a:srgbClr val="D7141A"/>
                </a:solidFill>
                <a:latin typeface="Montserrat" pitchFamily="34" charset="0"/>
                <a:ea typeface="Montserrat" pitchFamily="34" charset="-122"/>
                <a:cs typeface="Montserrat" pitchFamily="34" charset="-120"/>
              </a:rPr>
              <a:t>109</a:t>
            </a:r>
            <a:endParaRPr lang="en-US" sz="2200" dirty="0"/>
          </a:p>
        </p:txBody>
      </p:sp>
      <p:sp>
        <p:nvSpPr>
          <p:cNvPr id="25" name="Text 23"/>
          <p:cNvSpPr/>
          <p:nvPr/>
        </p:nvSpPr>
        <p:spPr>
          <a:xfrm>
            <a:off x="4572000" y="3483864"/>
            <a:ext cx="1005840" cy="457200"/>
          </a:xfrm>
          <a:prstGeom prst="rect">
            <a:avLst/>
          </a:prstGeom>
          <a:noFill/>
          <a:ln/>
        </p:spPr>
        <p:txBody>
          <a:bodyPr wrap="square" lIns="0" tIns="0" rIns="0" bIns="0" rtlCol="0" anchor="ctr"/>
          <a:lstStyle/>
          <a:p>
            <a:pPr indent="0" marL="0">
              <a:buNone/>
            </a:pPr>
            <a:r>
              <a:rPr lang="en-US" sz="900" b="1" dirty="0">
                <a:solidFill>
                  <a:srgbClr val="111111"/>
                </a:solidFill>
                <a:latin typeface="Montserrat" pitchFamily="34" charset="0"/>
                <a:ea typeface="Montserrat" pitchFamily="34" charset="-122"/>
                <a:cs typeface="Montserrat" pitchFamily="34" charset="-120"/>
              </a:rPr>
              <a:t>automated checks</a:t>
            </a:r>
            <a:endParaRPr lang="en-US" sz="900" dirty="0"/>
          </a:p>
        </p:txBody>
      </p:sp>
      <p:sp>
        <p:nvSpPr>
          <p:cNvPr id="26" name="Shape 24"/>
          <p:cNvSpPr/>
          <p:nvPr/>
        </p:nvSpPr>
        <p:spPr>
          <a:xfrm>
            <a:off x="6080760" y="1371600"/>
            <a:ext cx="2331720" cy="2880360"/>
          </a:xfrm>
          <a:prstGeom prst="roundRect">
            <a:avLst>
              <a:gd name="adj" fmla="val 7843"/>
            </a:avLst>
          </a:prstGeom>
          <a:solidFill>
            <a:srgbClr val="111111"/>
          </a:solidFill>
          <a:ln w="12700">
            <a:solidFill>
              <a:srgbClr val="111111"/>
            </a:solidFill>
            <a:prstDash val="solid"/>
          </a:ln>
          <a:effectLst>
            <a:outerShdw sx="100000" sy="100000" kx="0" ky="0" algn="bl" rotWithShape="0" blurRad="127000" dist="38100" dir="5400000">
              <a:srgbClr val="000000">
                <a:alpha val="16000"/>
              </a:srgbClr>
            </a:outerShdw>
          </a:effectLst>
        </p:spPr>
      </p:sp>
      <p:sp>
        <p:nvSpPr>
          <p:cNvPr id="27" name="Text 25"/>
          <p:cNvSpPr/>
          <p:nvPr/>
        </p:nvSpPr>
        <p:spPr>
          <a:xfrm>
            <a:off x="6080760" y="1572768"/>
            <a:ext cx="2331720" cy="365760"/>
          </a:xfrm>
          <a:prstGeom prst="rect">
            <a:avLst/>
          </a:prstGeom>
          <a:noFill/>
          <a:ln/>
        </p:spPr>
        <p:txBody>
          <a:bodyPr wrap="square" lIns="0" tIns="0" rIns="0" bIns="0" rtlCol="0" anchor="t"/>
          <a:lstStyle/>
          <a:p>
            <a:pPr algn="ctr" indent="0" marL="0">
              <a:buNone/>
            </a:pPr>
            <a:r>
              <a:rPr lang="en-US" sz="1800" b="1" dirty="0">
                <a:solidFill>
                  <a:srgbClr val="FFFFFF"/>
                </a:solidFill>
                <a:latin typeface="Montserrat" pitchFamily="34" charset="0"/>
                <a:ea typeface="Montserrat" pitchFamily="34" charset="-122"/>
                <a:cs typeface="Montserrat" pitchFamily="34" charset="-120"/>
              </a:rPr>
              <a:t>Sellers</a:t>
            </a:r>
            <a:endParaRPr lang="en-US" sz="1800" dirty="0"/>
          </a:p>
        </p:txBody>
      </p:sp>
      <p:sp>
        <p:nvSpPr>
          <p:cNvPr id="28" name="Text 26"/>
          <p:cNvSpPr/>
          <p:nvPr/>
        </p:nvSpPr>
        <p:spPr>
          <a:xfrm>
            <a:off x="6309360" y="2148840"/>
            <a:ext cx="960120" cy="457200"/>
          </a:xfrm>
          <a:prstGeom prst="rect">
            <a:avLst/>
          </a:prstGeom>
          <a:noFill/>
          <a:ln/>
        </p:spPr>
        <p:txBody>
          <a:bodyPr wrap="square" lIns="0" tIns="0" rIns="0" bIns="0" rtlCol="0" anchor="ctr"/>
          <a:lstStyle/>
          <a:p>
            <a:pPr indent="0" marL="0">
              <a:buNone/>
            </a:pPr>
            <a:r>
              <a:rPr lang="en-US" sz="2200" b="1" dirty="0">
                <a:solidFill>
                  <a:srgbClr val="FF4D52"/>
                </a:solidFill>
                <a:latin typeface="Montserrat" pitchFamily="34" charset="0"/>
                <a:ea typeface="Montserrat" pitchFamily="34" charset="-122"/>
                <a:cs typeface="Montserrat" pitchFamily="34" charset="-120"/>
              </a:rPr>
              <a:t>0%</a:t>
            </a:r>
            <a:endParaRPr lang="en-US" sz="2200" dirty="0"/>
          </a:p>
        </p:txBody>
      </p:sp>
      <p:sp>
        <p:nvSpPr>
          <p:cNvPr id="29" name="Text 27"/>
          <p:cNvSpPr/>
          <p:nvPr/>
        </p:nvSpPr>
        <p:spPr>
          <a:xfrm>
            <a:off x="7269480" y="2148840"/>
            <a:ext cx="1005840" cy="457200"/>
          </a:xfrm>
          <a:prstGeom prst="rect">
            <a:avLst/>
          </a:prstGeom>
          <a:noFill/>
          <a:ln/>
        </p:spPr>
        <p:txBody>
          <a:bodyPr wrap="square" lIns="0" tIns="0" rIns="0" bIns="0" rtlCol="0" anchor="ctr"/>
          <a:lstStyle/>
          <a:p>
            <a:pPr indent="0" marL="0">
              <a:buNone/>
            </a:pPr>
            <a:r>
              <a:rPr lang="en-US" sz="900" b="1" dirty="0">
                <a:solidFill>
                  <a:srgbClr val="FFFFFF"/>
                </a:solidFill>
                <a:latin typeface="Montserrat" pitchFamily="34" charset="0"/>
                <a:ea typeface="Montserrat" pitchFamily="34" charset="-122"/>
                <a:cs typeface="Montserrat" pitchFamily="34" charset="-120"/>
              </a:rPr>
              <a:t>commission</a:t>
            </a:r>
            <a:endParaRPr lang="en-US" sz="900" dirty="0"/>
          </a:p>
        </p:txBody>
      </p:sp>
      <p:sp>
        <p:nvSpPr>
          <p:cNvPr id="30" name="Text 28"/>
          <p:cNvSpPr/>
          <p:nvPr/>
        </p:nvSpPr>
        <p:spPr>
          <a:xfrm>
            <a:off x="6309360" y="2816352"/>
            <a:ext cx="960120" cy="457200"/>
          </a:xfrm>
          <a:prstGeom prst="rect">
            <a:avLst/>
          </a:prstGeom>
          <a:noFill/>
          <a:ln/>
        </p:spPr>
        <p:txBody>
          <a:bodyPr wrap="square" lIns="0" tIns="0" rIns="0" bIns="0" rtlCol="0" anchor="ctr"/>
          <a:lstStyle/>
          <a:p>
            <a:pPr indent="0" marL="0">
              <a:buNone/>
            </a:pPr>
            <a:r>
              <a:rPr lang="en-US" sz="2200" b="1" dirty="0">
                <a:solidFill>
                  <a:srgbClr val="FF4D52"/>
                </a:solidFill>
                <a:latin typeface="Montserrat" pitchFamily="34" charset="0"/>
                <a:ea typeface="Montserrat" pitchFamily="34" charset="-122"/>
                <a:cs typeface="Montserrat" pitchFamily="34" charset="-120"/>
              </a:rPr>
              <a:t>3</a:t>
            </a:r>
            <a:endParaRPr lang="en-US" sz="2200" dirty="0"/>
          </a:p>
        </p:txBody>
      </p:sp>
      <p:sp>
        <p:nvSpPr>
          <p:cNvPr id="31" name="Text 29"/>
          <p:cNvSpPr/>
          <p:nvPr/>
        </p:nvSpPr>
        <p:spPr>
          <a:xfrm>
            <a:off x="7269480" y="2816352"/>
            <a:ext cx="1005840" cy="457200"/>
          </a:xfrm>
          <a:prstGeom prst="rect">
            <a:avLst/>
          </a:prstGeom>
          <a:noFill/>
          <a:ln/>
        </p:spPr>
        <p:txBody>
          <a:bodyPr wrap="square" lIns="0" tIns="0" rIns="0" bIns="0" rtlCol="0" anchor="ctr"/>
          <a:lstStyle/>
          <a:p>
            <a:pPr indent="0" marL="0">
              <a:buNone/>
            </a:pPr>
            <a:r>
              <a:rPr lang="en-US" sz="900" b="1" dirty="0">
                <a:solidFill>
                  <a:srgbClr val="FFFFFF"/>
                </a:solidFill>
                <a:latin typeface="Montserrat" pitchFamily="34" charset="0"/>
                <a:ea typeface="Montserrat" pitchFamily="34" charset="-122"/>
                <a:cs typeface="Montserrat" pitchFamily="34" charset="-120"/>
              </a:rPr>
              <a:t>steps to WhatsApp order</a:t>
            </a:r>
            <a:endParaRPr lang="en-US" sz="900" dirty="0"/>
          </a:p>
        </p:txBody>
      </p:sp>
      <p:sp>
        <p:nvSpPr>
          <p:cNvPr id="32" name="Text 30"/>
          <p:cNvSpPr/>
          <p:nvPr/>
        </p:nvSpPr>
        <p:spPr>
          <a:xfrm>
            <a:off x="6309360" y="3483864"/>
            <a:ext cx="960120" cy="457200"/>
          </a:xfrm>
          <a:prstGeom prst="rect">
            <a:avLst/>
          </a:prstGeom>
          <a:noFill/>
          <a:ln/>
        </p:spPr>
        <p:txBody>
          <a:bodyPr wrap="square" lIns="0" tIns="0" rIns="0" bIns="0" rtlCol="0" anchor="ctr"/>
          <a:lstStyle/>
          <a:p>
            <a:pPr indent="0" marL="0">
              <a:buNone/>
            </a:pPr>
            <a:r>
              <a:rPr lang="en-US" sz="2200" b="1" dirty="0">
                <a:solidFill>
                  <a:srgbClr val="FF4D52"/>
                </a:solidFill>
                <a:latin typeface="Montserrat" pitchFamily="34" charset="0"/>
                <a:ea typeface="Montserrat" pitchFamily="34" charset="-122"/>
                <a:cs typeface="Montserrat" pitchFamily="34" charset="-120"/>
              </a:rPr>
              <a:t>16</a:t>
            </a:r>
            <a:endParaRPr lang="en-US" sz="2200" dirty="0"/>
          </a:p>
        </p:txBody>
      </p:sp>
      <p:sp>
        <p:nvSpPr>
          <p:cNvPr id="33" name="Text 31"/>
          <p:cNvSpPr/>
          <p:nvPr/>
        </p:nvSpPr>
        <p:spPr>
          <a:xfrm>
            <a:off x="7269480" y="3483864"/>
            <a:ext cx="1005840" cy="457200"/>
          </a:xfrm>
          <a:prstGeom prst="rect">
            <a:avLst/>
          </a:prstGeom>
          <a:noFill/>
          <a:ln/>
        </p:spPr>
        <p:txBody>
          <a:bodyPr wrap="square" lIns="0" tIns="0" rIns="0" bIns="0" rtlCol="0" anchor="ctr"/>
          <a:lstStyle/>
          <a:p>
            <a:pPr indent="0" marL="0">
              <a:buNone/>
            </a:pPr>
            <a:r>
              <a:rPr lang="en-US" sz="900" b="1" dirty="0">
                <a:solidFill>
                  <a:srgbClr val="FFFFFF"/>
                </a:solidFill>
                <a:latin typeface="Montserrat" pitchFamily="34" charset="0"/>
                <a:ea typeface="Montserrat" pitchFamily="34" charset="-122"/>
                <a:cs typeface="Montserrat" pitchFamily="34" charset="-120"/>
              </a:rPr>
              <a:t>products online</a:t>
            </a:r>
            <a:endParaRPr lang="en-US" sz="900" dirty="0"/>
          </a:p>
        </p:txBody>
      </p:sp>
      <p:sp>
        <p:nvSpPr>
          <p:cNvPr id="34" name="Shape 32"/>
          <p:cNvSpPr/>
          <p:nvPr/>
        </p:nvSpPr>
        <p:spPr>
          <a:xfrm>
            <a:off x="868680" y="4462272"/>
            <a:ext cx="1783080" cy="365760"/>
          </a:xfrm>
          <a:prstGeom prst="roundRect">
            <a:avLst>
              <a:gd name="adj" fmla="val 50000"/>
            </a:avLst>
          </a:prstGeom>
          <a:solidFill>
            <a:srgbClr val="FFFFFF"/>
          </a:solidFill>
          <a:ln w="9525">
            <a:solidFill>
              <a:srgbClr val="111111"/>
            </a:solidFill>
            <a:prstDash val="solid"/>
          </a:ln>
        </p:spPr>
      </p:sp>
      <p:sp>
        <p:nvSpPr>
          <p:cNvPr id="35" name="Text 33"/>
          <p:cNvSpPr/>
          <p:nvPr/>
        </p:nvSpPr>
        <p:spPr>
          <a:xfrm>
            <a:off x="868680" y="4462272"/>
            <a:ext cx="1783080" cy="365760"/>
          </a:xfrm>
          <a:prstGeom prst="rect">
            <a:avLst/>
          </a:prstGeom>
          <a:noFill/>
          <a:ln/>
        </p:spPr>
        <p:txBody>
          <a:bodyPr wrap="square" lIns="0" tIns="0" rIns="0" bIns="0" rtlCol="0" anchor="ctr"/>
          <a:lstStyle/>
          <a:p>
            <a:pPr algn="ctr" indent="0" marL="0">
              <a:buNone/>
            </a:pPr>
            <a:r>
              <a:rPr lang="en-US" sz="900" b="1" dirty="0">
                <a:solidFill>
                  <a:srgbClr val="111111"/>
                </a:solidFill>
                <a:latin typeface="Montserrat" pitchFamily="34" charset="0"/>
                <a:ea typeface="Montserrat" pitchFamily="34" charset="-122"/>
                <a:cs typeface="Montserrat" pitchFamily="34" charset="-120"/>
              </a:rPr>
              <a:t>SDG 8  Decent work</a:t>
            </a:r>
            <a:endParaRPr lang="en-US" sz="900" dirty="0"/>
          </a:p>
        </p:txBody>
      </p:sp>
      <p:sp>
        <p:nvSpPr>
          <p:cNvPr id="36" name="Shape 34"/>
          <p:cNvSpPr/>
          <p:nvPr/>
        </p:nvSpPr>
        <p:spPr>
          <a:xfrm>
            <a:off x="2788920" y="4462272"/>
            <a:ext cx="1783080" cy="365760"/>
          </a:xfrm>
          <a:prstGeom prst="roundRect">
            <a:avLst>
              <a:gd name="adj" fmla="val 50000"/>
            </a:avLst>
          </a:prstGeom>
          <a:solidFill>
            <a:srgbClr val="FFFFFF"/>
          </a:solidFill>
          <a:ln w="9525">
            <a:solidFill>
              <a:srgbClr val="111111"/>
            </a:solidFill>
            <a:prstDash val="solid"/>
          </a:ln>
        </p:spPr>
      </p:sp>
      <p:sp>
        <p:nvSpPr>
          <p:cNvPr id="37" name="Text 35"/>
          <p:cNvSpPr/>
          <p:nvPr/>
        </p:nvSpPr>
        <p:spPr>
          <a:xfrm>
            <a:off x="2788920" y="4462272"/>
            <a:ext cx="1783080" cy="365760"/>
          </a:xfrm>
          <a:prstGeom prst="rect">
            <a:avLst/>
          </a:prstGeom>
          <a:noFill/>
          <a:ln/>
        </p:spPr>
        <p:txBody>
          <a:bodyPr wrap="square" lIns="0" tIns="0" rIns="0" bIns="0" rtlCol="0" anchor="ctr"/>
          <a:lstStyle/>
          <a:p>
            <a:pPr algn="ctr" indent="0" marL="0">
              <a:buNone/>
            </a:pPr>
            <a:r>
              <a:rPr lang="en-US" sz="900" b="1" dirty="0">
                <a:solidFill>
                  <a:srgbClr val="111111"/>
                </a:solidFill>
                <a:latin typeface="Montserrat" pitchFamily="34" charset="0"/>
                <a:ea typeface="Montserrat" pitchFamily="34" charset="-122"/>
                <a:cs typeface="Montserrat" pitchFamily="34" charset="-120"/>
              </a:rPr>
              <a:t>SDG 9  Innovation</a:t>
            </a:r>
            <a:endParaRPr lang="en-US" sz="900" dirty="0"/>
          </a:p>
        </p:txBody>
      </p:sp>
      <p:sp>
        <p:nvSpPr>
          <p:cNvPr id="38" name="Shape 36"/>
          <p:cNvSpPr/>
          <p:nvPr/>
        </p:nvSpPr>
        <p:spPr>
          <a:xfrm>
            <a:off x="4709160" y="4462272"/>
            <a:ext cx="1783080" cy="365760"/>
          </a:xfrm>
          <a:prstGeom prst="roundRect">
            <a:avLst>
              <a:gd name="adj" fmla="val 50000"/>
            </a:avLst>
          </a:prstGeom>
          <a:solidFill>
            <a:srgbClr val="FFFFFF"/>
          </a:solidFill>
          <a:ln w="9525">
            <a:solidFill>
              <a:srgbClr val="111111"/>
            </a:solidFill>
            <a:prstDash val="solid"/>
          </a:ln>
        </p:spPr>
      </p:sp>
      <p:sp>
        <p:nvSpPr>
          <p:cNvPr id="39" name="Text 37"/>
          <p:cNvSpPr/>
          <p:nvPr/>
        </p:nvSpPr>
        <p:spPr>
          <a:xfrm>
            <a:off x="4709160" y="4462272"/>
            <a:ext cx="1783080" cy="365760"/>
          </a:xfrm>
          <a:prstGeom prst="rect">
            <a:avLst/>
          </a:prstGeom>
          <a:noFill/>
          <a:ln/>
        </p:spPr>
        <p:txBody>
          <a:bodyPr wrap="square" lIns="0" tIns="0" rIns="0" bIns="0" rtlCol="0" anchor="ctr"/>
          <a:lstStyle/>
          <a:p>
            <a:pPr algn="ctr" indent="0" marL="0">
              <a:buNone/>
            </a:pPr>
            <a:r>
              <a:rPr lang="en-US" sz="900" b="1" dirty="0">
                <a:solidFill>
                  <a:srgbClr val="111111"/>
                </a:solidFill>
                <a:latin typeface="Montserrat" pitchFamily="34" charset="0"/>
                <a:ea typeface="Montserrat" pitchFamily="34" charset="-122"/>
                <a:cs typeface="Montserrat" pitchFamily="34" charset="-120"/>
              </a:rPr>
              <a:t>SDG 11  Communities</a:t>
            </a:r>
            <a:endParaRPr lang="en-US" sz="900" dirty="0"/>
          </a:p>
        </p:txBody>
      </p:sp>
      <p:sp>
        <p:nvSpPr>
          <p:cNvPr id="40" name="Shape 38"/>
          <p:cNvSpPr/>
          <p:nvPr/>
        </p:nvSpPr>
        <p:spPr>
          <a:xfrm>
            <a:off x="6629400" y="4462272"/>
            <a:ext cx="1783080" cy="365760"/>
          </a:xfrm>
          <a:prstGeom prst="roundRect">
            <a:avLst>
              <a:gd name="adj" fmla="val 50000"/>
            </a:avLst>
          </a:prstGeom>
          <a:solidFill>
            <a:srgbClr val="FFFFFF"/>
          </a:solidFill>
          <a:ln w="9525">
            <a:solidFill>
              <a:srgbClr val="111111"/>
            </a:solidFill>
            <a:prstDash val="solid"/>
          </a:ln>
        </p:spPr>
      </p:sp>
      <p:sp>
        <p:nvSpPr>
          <p:cNvPr id="41" name="Text 39"/>
          <p:cNvSpPr/>
          <p:nvPr/>
        </p:nvSpPr>
        <p:spPr>
          <a:xfrm>
            <a:off x="6629400" y="4462272"/>
            <a:ext cx="1783080" cy="365760"/>
          </a:xfrm>
          <a:prstGeom prst="rect">
            <a:avLst/>
          </a:prstGeom>
          <a:noFill/>
          <a:ln/>
        </p:spPr>
        <p:txBody>
          <a:bodyPr wrap="square" lIns="0" tIns="0" rIns="0" bIns="0" rtlCol="0" anchor="ctr"/>
          <a:lstStyle/>
          <a:p>
            <a:pPr algn="ctr" indent="0" marL="0">
              <a:buNone/>
            </a:pPr>
            <a:r>
              <a:rPr lang="en-US" sz="900" b="1" dirty="0">
                <a:solidFill>
                  <a:srgbClr val="111111"/>
                </a:solidFill>
                <a:latin typeface="Montserrat" pitchFamily="34" charset="0"/>
                <a:ea typeface="Montserrat" pitchFamily="34" charset="-122"/>
                <a:cs typeface="Montserrat" pitchFamily="34" charset="-120"/>
              </a:rPr>
              <a:t>SDG 16  Institutions</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18872" y="91440"/>
            <a:ext cx="1097280" cy="384048"/>
          </a:xfrm>
          <a:prstGeom prst="rect">
            <a:avLst/>
          </a:prstGeom>
          <a:solidFill>
            <a:srgbClr val="000000"/>
          </a:solidFill>
          <a:ln w="9525">
            <a:solidFill>
              <a:srgbClr val="FFFFFF"/>
            </a:solidFill>
            <a:prstDash val="dash"/>
          </a:ln>
        </p:spPr>
      </p:sp>
      <p:sp>
        <p:nvSpPr>
          <p:cNvPr id="3" name="Text 1"/>
          <p:cNvSpPr/>
          <p:nvPr/>
        </p:nvSpPr>
        <p:spPr>
          <a:xfrm>
            <a:off x="118872" y="91440"/>
            <a:ext cx="1097280" cy="384048"/>
          </a:xfrm>
          <a:prstGeom prst="rect">
            <a:avLst/>
          </a:prstGeom>
          <a:noFill/>
          <a:ln/>
        </p:spPr>
        <p:txBody>
          <a:bodyPr wrap="square" lIns="0" tIns="0" rIns="0" bIns="0" rtlCol="0" anchor="ctr"/>
          <a:lstStyle/>
          <a:p>
            <a:pPr algn="ctr" indent="0" marL="0">
              <a:buNone/>
            </a:pPr>
            <a:r>
              <a:rPr lang="en-US" sz="800" dirty="0">
                <a:solidFill>
                  <a:srgbClr val="FFFFFF"/>
                </a:solidFill>
                <a:latin typeface="Montserrat" pitchFamily="34" charset="0"/>
                <a:ea typeface="Montserrat" pitchFamily="34" charset="-122"/>
                <a:cs typeface="Montserrat" pitchFamily="34" charset="-120"/>
              </a:rPr>
              <a:t>IIT Challenge logo</a:t>
            </a:r>
            <a:endParaRPr lang="en-US" sz="800" dirty="0"/>
          </a:p>
        </p:txBody>
      </p:sp>
      <p:sp>
        <p:nvSpPr>
          <p:cNvPr id="4" name="Text 2"/>
          <p:cNvSpPr/>
          <p:nvPr/>
        </p:nvSpPr>
        <p:spPr>
          <a:xfrm>
            <a:off x="640080" y="1188720"/>
            <a:ext cx="4937760" cy="731520"/>
          </a:xfrm>
          <a:prstGeom prst="rect">
            <a:avLst/>
          </a:prstGeom>
          <a:noFill/>
          <a:ln/>
        </p:spPr>
        <p:txBody>
          <a:bodyPr wrap="square" lIns="0" tIns="0" rIns="0" bIns="0" rtlCol="0" anchor="t"/>
          <a:lstStyle/>
          <a:p>
            <a:pPr indent="0" marL="0">
              <a:buNone/>
            </a:pPr>
            <a:r>
              <a:rPr lang="en-US" sz="4400" b="1" dirty="0">
                <a:solidFill>
                  <a:srgbClr val="111111"/>
                </a:solidFill>
                <a:latin typeface="Montserrat" pitchFamily="34" charset="0"/>
                <a:ea typeface="Montserrat" pitchFamily="34" charset="-122"/>
                <a:cs typeface="Montserrat" pitchFamily="34" charset="-120"/>
              </a:rPr>
              <a:t>THANK YOU</a:t>
            </a:r>
            <a:endParaRPr lang="en-US" sz="4400" dirty="0"/>
          </a:p>
        </p:txBody>
      </p:sp>
      <p:sp>
        <p:nvSpPr>
          <p:cNvPr id="5" name="Text 3"/>
          <p:cNvSpPr/>
          <p:nvPr/>
        </p:nvSpPr>
        <p:spPr>
          <a:xfrm>
            <a:off x="640080" y="1920240"/>
            <a:ext cx="4937760" cy="365760"/>
          </a:xfrm>
          <a:prstGeom prst="rect">
            <a:avLst/>
          </a:prstGeom>
          <a:noFill/>
          <a:ln/>
        </p:spPr>
        <p:txBody>
          <a:bodyPr wrap="square" lIns="0" tIns="0" rIns="0" bIns="0" rtlCol="0" anchor="t"/>
          <a:lstStyle/>
          <a:p>
            <a:pPr indent="0" marL="0">
              <a:buNone/>
            </a:pPr>
            <a:r>
              <a:rPr lang="en-US" sz="1600" b="1" dirty="0">
                <a:solidFill>
                  <a:srgbClr val="555555"/>
                </a:solidFill>
                <a:latin typeface="Montserrat" pitchFamily="34" charset="0"/>
                <a:ea typeface="Montserrat" pitchFamily="34" charset="-122"/>
                <a:cs typeface="Montserrat" pitchFamily="34" charset="-120"/>
              </a:rPr>
              <a:t>Village information, one tap away.</a:t>
            </a:r>
            <a:endParaRPr lang="en-US" sz="1600" dirty="0"/>
          </a:p>
        </p:txBody>
      </p:sp>
      <p:sp>
        <p:nvSpPr>
          <p:cNvPr id="6" name="Text 4"/>
          <p:cNvSpPr/>
          <p:nvPr/>
        </p:nvSpPr>
        <p:spPr>
          <a:xfrm>
            <a:off x="640080" y="2743200"/>
            <a:ext cx="1463040" cy="548640"/>
          </a:xfrm>
          <a:prstGeom prst="rect">
            <a:avLst/>
          </a:prstGeom>
          <a:noFill/>
          <a:ln/>
        </p:spPr>
        <p:txBody>
          <a:bodyPr wrap="square" lIns="0" tIns="0" rIns="0" bIns="0" rtlCol="0" anchor="t"/>
          <a:lstStyle/>
          <a:p>
            <a:pPr indent="0" marL="0">
              <a:buNone/>
            </a:pPr>
            <a:r>
              <a:rPr lang="en-US" sz="3200" b="1" dirty="0">
                <a:solidFill>
                  <a:srgbClr val="111111"/>
                </a:solidFill>
                <a:latin typeface="Montserrat" pitchFamily="34" charset="0"/>
                <a:ea typeface="Montserrat" pitchFamily="34" charset="-122"/>
                <a:cs typeface="Montserrat" pitchFamily="34" charset="-120"/>
              </a:rPr>
              <a:t>10</a:t>
            </a:r>
            <a:endParaRPr lang="en-US" sz="3200" dirty="0"/>
          </a:p>
        </p:txBody>
      </p:sp>
      <p:sp>
        <p:nvSpPr>
          <p:cNvPr id="7" name="Text 5"/>
          <p:cNvSpPr/>
          <p:nvPr/>
        </p:nvSpPr>
        <p:spPr>
          <a:xfrm>
            <a:off x="640080" y="3291840"/>
            <a:ext cx="1463040" cy="228600"/>
          </a:xfrm>
          <a:prstGeom prst="rect">
            <a:avLst/>
          </a:prstGeom>
          <a:noFill/>
          <a:ln/>
        </p:spPr>
        <p:txBody>
          <a:bodyPr wrap="square" lIns="0" tIns="0" rIns="0" bIns="0" rtlCol="0" anchor="t"/>
          <a:lstStyle/>
          <a:p>
            <a:pPr indent="0" marL="0">
              <a:buNone/>
            </a:pPr>
            <a:r>
              <a:rPr lang="en-US" sz="1000" b="1" dirty="0">
                <a:solidFill>
                  <a:srgbClr val="555555"/>
                </a:solidFill>
                <a:latin typeface="Montserrat" pitchFamily="34" charset="0"/>
                <a:ea typeface="Montserrat" pitchFamily="34" charset="-122"/>
                <a:cs typeface="Montserrat" pitchFamily="34" charset="-120"/>
              </a:rPr>
              <a:t>public pages</a:t>
            </a:r>
            <a:endParaRPr lang="en-US" sz="1000" dirty="0"/>
          </a:p>
        </p:txBody>
      </p:sp>
      <p:sp>
        <p:nvSpPr>
          <p:cNvPr id="8" name="Text 6"/>
          <p:cNvSpPr/>
          <p:nvPr/>
        </p:nvSpPr>
        <p:spPr>
          <a:xfrm>
            <a:off x="2286000" y="2743200"/>
            <a:ext cx="1463040" cy="548640"/>
          </a:xfrm>
          <a:prstGeom prst="rect">
            <a:avLst/>
          </a:prstGeom>
          <a:noFill/>
          <a:ln/>
        </p:spPr>
        <p:txBody>
          <a:bodyPr wrap="square" lIns="0" tIns="0" rIns="0" bIns="0" rtlCol="0" anchor="t"/>
          <a:lstStyle/>
          <a:p>
            <a:pPr indent="0" marL="0">
              <a:buNone/>
            </a:pPr>
            <a:r>
              <a:rPr lang="en-US" sz="3200" b="1" dirty="0">
                <a:solidFill>
                  <a:srgbClr val="111111"/>
                </a:solidFill>
                <a:latin typeface="Montserrat" pitchFamily="34" charset="0"/>
                <a:ea typeface="Montserrat" pitchFamily="34" charset="-122"/>
                <a:cs typeface="Montserrat" pitchFamily="34" charset="-120"/>
              </a:rPr>
              <a:t>42</a:t>
            </a:r>
            <a:endParaRPr lang="en-US" sz="3200" dirty="0"/>
          </a:p>
        </p:txBody>
      </p:sp>
      <p:sp>
        <p:nvSpPr>
          <p:cNvPr id="9" name="Text 7"/>
          <p:cNvSpPr/>
          <p:nvPr/>
        </p:nvSpPr>
        <p:spPr>
          <a:xfrm>
            <a:off x="2286000" y="3291840"/>
            <a:ext cx="1463040" cy="228600"/>
          </a:xfrm>
          <a:prstGeom prst="rect">
            <a:avLst/>
          </a:prstGeom>
          <a:noFill/>
          <a:ln/>
        </p:spPr>
        <p:txBody>
          <a:bodyPr wrap="square" lIns="0" tIns="0" rIns="0" bIns="0" rtlCol="0" anchor="t"/>
          <a:lstStyle/>
          <a:p>
            <a:pPr indent="0" marL="0">
              <a:buNone/>
            </a:pPr>
            <a:r>
              <a:rPr lang="en-US" sz="1000" b="1" dirty="0">
                <a:solidFill>
                  <a:srgbClr val="555555"/>
                </a:solidFill>
                <a:latin typeface="Montserrat" pitchFamily="34" charset="0"/>
                <a:ea typeface="Montserrat" pitchFamily="34" charset="-122"/>
                <a:cs typeface="Montserrat" pitchFamily="34" charset="-120"/>
              </a:rPr>
              <a:t>data tables</a:t>
            </a:r>
            <a:endParaRPr lang="en-US" sz="1000" dirty="0"/>
          </a:p>
        </p:txBody>
      </p:sp>
      <p:sp>
        <p:nvSpPr>
          <p:cNvPr id="10" name="Text 8"/>
          <p:cNvSpPr/>
          <p:nvPr/>
        </p:nvSpPr>
        <p:spPr>
          <a:xfrm>
            <a:off x="3931920" y="2743200"/>
            <a:ext cx="1463040" cy="548640"/>
          </a:xfrm>
          <a:prstGeom prst="rect">
            <a:avLst/>
          </a:prstGeom>
          <a:noFill/>
          <a:ln/>
        </p:spPr>
        <p:txBody>
          <a:bodyPr wrap="square" lIns="0" tIns="0" rIns="0" bIns="0" rtlCol="0" anchor="t"/>
          <a:lstStyle/>
          <a:p>
            <a:pPr indent="0" marL="0">
              <a:buNone/>
            </a:pPr>
            <a:r>
              <a:rPr lang="en-US" sz="3200" b="1" dirty="0">
                <a:solidFill>
                  <a:srgbClr val="111111"/>
                </a:solidFill>
                <a:latin typeface="Montserrat" pitchFamily="34" charset="0"/>
                <a:ea typeface="Montserrat" pitchFamily="34" charset="-122"/>
                <a:cs typeface="Montserrat" pitchFamily="34" charset="-120"/>
              </a:rPr>
              <a:t>16</a:t>
            </a:r>
            <a:endParaRPr lang="en-US" sz="3200" dirty="0"/>
          </a:p>
        </p:txBody>
      </p:sp>
      <p:sp>
        <p:nvSpPr>
          <p:cNvPr id="11" name="Text 9"/>
          <p:cNvSpPr/>
          <p:nvPr/>
        </p:nvSpPr>
        <p:spPr>
          <a:xfrm>
            <a:off x="3931920" y="3291840"/>
            <a:ext cx="1463040" cy="228600"/>
          </a:xfrm>
          <a:prstGeom prst="rect">
            <a:avLst/>
          </a:prstGeom>
          <a:noFill/>
          <a:ln/>
        </p:spPr>
        <p:txBody>
          <a:bodyPr wrap="square" lIns="0" tIns="0" rIns="0" bIns="0" rtlCol="0" anchor="t"/>
          <a:lstStyle/>
          <a:p>
            <a:pPr indent="0" marL="0">
              <a:buNone/>
            </a:pPr>
            <a:r>
              <a:rPr lang="en-US" sz="1000" b="1" dirty="0">
                <a:solidFill>
                  <a:srgbClr val="555555"/>
                </a:solidFill>
                <a:latin typeface="Montserrat" pitchFamily="34" charset="0"/>
                <a:ea typeface="Montserrat" pitchFamily="34" charset="-122"/>
                <a:cs typeface="Montserrat" pitchFamily="34" charset="-120"/>
              </a:rPr>
              <a:t>local products</a:t>
            </a:r>
            <a:endParaRPr lang="en-US" sz="1000" dirty="0"/>
          </a:p>
        </p:txBody>
      </p:sp>
      <p:sp>
        <p:nvSpPr>
          <p:cNvPr id="12" name="Shape 10"/>
          <p:cNvSpPr/>
          <p:nvPr/>
        </p:nvSpPr>
        <p:spPr>
          <a:xfrm>
            <a:off x="6172200" y="1097280"/>
            <a:ext cx="2377440" cy="3017520"/>
          </a:xfrm>
          <a:prstGeom prst="roundRect">
            <a:avLst>
              <a:gd name="adj" fmla="val 7692"/>
            </a:avLst>
          </a:prstGeom>
          <a:solidFill>
            <a:srgbClr val="FFFFFF"/>
          </a:solidFill>
          <a:ln w="12700">
            <a:solidFill>
              <a:srgbClr val="FFFFFF"/>
            </a:solidFill>
            <a:prstDash val="solid"/>
          </a:ln>
          <a:effectLst>
            <a:outerShdw sx="100000" sy="100000" kx="0" ky="0" algn="bl" rotWithShape="0" blurRad="127000" dist="38100" dir="5400000">
              <a:srgbClr val="000000">
                <a:alpha val="16000"/>
              </a:srgbClr>
            </a:outerShdw>
          </a:effectLst>
        </p:spPr>
      </p:sp>
      <p:pic>
        <p:nvPicPr>
          <p:cNvPr id="13" name="Image 0" descr="/home/runner/work/Desa-Marga-Mulya/Desa-Marga-Mulya/deck/assets/build/qr.png">    </p:cNvPr>
          <p:cNvPicPr>
            <a:picLocks noChangeAspect="1"/>
          </p:cNvPicPr>
          <p:nvPr/>
        </p:nvPicPr>
        <p:blipFill>
          <a:blip r:embed="rId2"/>
          <a:stretch>
            <a:fillRect/>
          </a:stretch>
        </p:blipFill>
        <p:spPr>
          <a:xfrm>
            <a:off x="6446520" y="1325880"/>
            <a:ext cx="1828800" cy="1828800"/>
          </a:xfrm>
          <a:prstGeom prst="rect">
            <a:avLst/>
          </a:prstGeom>
        </p:spPr>
      </p:pic>
      <p:sp>
        <p:nvSpPr>
          <p:cNvPr id="14" name="Text 11"/>
          <p:cNvSpPr/>
          <p:nvPr/>
        </p:nvSpPr>
        <p:spPr>
          <a:xfrm>
            <a:off x="6172200" y="3291840"/>
            <a:ext cx="2377440" cy="274320"/>
          </a:xfrm>
          <a:prstGeom prst="rect">
            <a:avLst/>
          </a:prstGeom>
          <a:noFill/>
          <a:ln/>
        </p:spPr>
        <p:txBody>
          <a:bodyPr wrap="square" lIns="0" tIns="0" rIns="0" bIns="0" rtlCol="0" anchor="t"/>
          <a:lstStyle/>
          <a:p>
            <a:pPr algn="ctr" indent="0" marL="0">
              <a:buNone/>
            </a:pPr>
            <a:r>
              <a:rPr lang="en-US" sz="1100" b="1" dirty="0">
                <a:solidFill>
                  <a:srgbClr val="111111"/>
                </a:solidFill>
                <a:latin typeface="Montserrat" pitchFamily="34" charset="0"/>
                <a:ea typeface="Montserrat" pitchFamily="34" charset="-122"/>
                <a:cs typeface="Montserrat" pitchFamily="34" charset="-120"/>
              </a:rPr>
              <a:t>Scan to try the live demo</a:t>
            </a:r>
            <a:endParaRPr lang="en-US" sz="1100" dirty="0"/>
          </a:p>
        </p:txBody>
      </p:sp>
      <p:sp>
        <p:nvSpPr>
          <p:cNvPr id="15" name="Text 12"/>
          <p:cNvSpPr/>
          <p:nvPr/>
        </p:nvSpPr>
        <p:spPr>
          <a:xfrm>
            <a:off x="6172200" y="3566160"/>
            <a:ext cx="2377440" cy="274320"/>
          </a:xfrm>
          <a:prstGeom prst="rect">
            <a:avLst/>
          </a:prstGeom>
          <a:noFill/>
          <a:ln/>
        </p:spPr>
        <p:txBody>
          <a:bodyPr wrap="square" lIns="0" tIns="0" rIns="0" bIns="0" rtlCol="0" anchor="t"/>
          <a:lstStyle/>
          <a:p>
            <a:pPr algn="ctr" indent="0" marL="0">
              <a:buNone/>
            </a:pPr>
            <a:r>
              <a:rPr lang="en-US" sz="800" dirty="0">
                <a:solidFill>
                  <a:srgbClr val="555555"/>
                </a:solidFill>
                <a:latin typeface="Montserrat" pitchFamily="34" charset="0"/>
                <a:ea typeface="Montserrat" pitchFamily="34" charset="-122"/>
                <a:cs typeface="Montserrat" pitchFamily="34" charset="-120"/>
              </a:rPr>
              <a:t>desa-marga-mulya.vercel.app</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Desa Marga Mulya — EcoQuest IIT Challenge 2026</dc:title>
  <dc:subject>PptxGenJS Presentation</dc:subject>
  <dc:creator>PptxGenJS</dc:creator>
  <cp:lastModifiedBy>PptxGenJS</cp:lastModifiedBy>
  <cp:revision>1</cp:revision>
  <dcterms:created xsi:type="dcterms:W3CDTF">2026-09-30T07:58:41Z</dcterms:created>
  <dcterms:modified xsi:type="dcterms:W3CDTF">2026-09-30T07:58:41Z</dcterms:modified>
</cp:coreProperties>
</file>